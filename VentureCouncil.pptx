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FFFFFF"/>
                </a:solidFill>
                <a:latin typeface="Calibri"/>
              </a:defRPr>
            </a:pPr>
            <a:r>
              <a:rPr sz="1400" b="0" i="0" u="none" strike="noStrike">
                <a:solidFill>
                  <a:srgbClr val="FFFFFF"/>
                </a:solidFill>
                <a:latin typeface="Calibri"/>
              </a:rPr>
              <a:t>Threshold calibration</a:t>
            </a:r>
          </a:p>
        </c:rich>
      </c:tx>
      <c:overlay val="0"/>
    </c:title>
    <c:autoTitleDeleted val="0"/>
    <c:plotArea>
      <c:layout/>
      <c:barChart>
        <c:barDir val="col"/>
        <c:grouping val="clustered"/>
        <c:varyColors val="0"/>
        <c:ser>
          <c:idx val="0"/>
          <c:order val="0"/>
          <c:tx>
            <c:strRef>
              <c:f>Sheet1!$B$1</c:f>
              <c:strCache>
                <c:ptCount val="1"/>
                <c:pt idx="0">
                  <c:v>Old 70 / 45</c:v>
                </c:pt>
              </c:strCache>
            </c:strRef>
          </c:tx>
          <c:spPr>
            <a:solidFill>
              <a:srgbClr val="4B5A53"/>
            </a:solidFill>
            <a:effectLst/>
          </c:spPr>
          <c:invertIfNegative val="0"/>
          <c:dLbls>
            <c:numFmt formatCode="#,##0" sourceLinked="0"/>
            <c:spPr>
              <a:noFill/>
              <a:ln>
                <a:noFill/>
              </a:ln>
              <a:effectLst/>
            </c:spPr>
            <c:txPr>
              <a:bodyPr/>
              <a:lstStyle/>
              <a:p>
                <a:pPr>
                  <a:defRPr sz="1400" b="1" i="0" u="none" strike="noStrike">
                    <a:solidFill>
                      <a:srgbClr val="FFFFF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Correct verdicts (of 11)</c:v>
                </c:pt>
              </c:strCache>
            </c:strRef>
          </c:cat>
          <c:val>
            <c:numRef>
              <c:f>Sheet1!$B$2:$B$2</c:f>
              <c:numCache>
                <c:formatCode>General</c:formatCode>
                <c:ptCount val="1"/>
                <c:pt idx="0">
                  <c:v>9</c:v>
                </c:pt>
              </c:numCache>
            </c:numRef>
          </c:val>
          <c:extLst>
            <c:ext xmlns:c16="http://schemas.microsoft.com/office/drawing/2014/chart" uri="{C3380CC4-5D6E-409C-BE32-E72D297353CC}">
              <c16:uniqueId val="{00000000-D53C-4FEC-93B2-7EC8C3E93931}"/>
            </c:ext>
          </c:extLst>
        </c:ser>
        <c:ser>
          <c:idx val="1"/>
          <c:order val="1"/>
          <c:tx>
            <c:strRef>
              <c:f>Sheet1!$C$1</c:f>
              <c:strCache>
                <c:ptCount val="1"/>
                <c:pt idx="0">
                  <c:v>New 50 / 45</c:v>
                </c:pt>
              </c:strCache>
            </c:strRef>
          </c:tx>
          <c:spPr>
            <a:solidFill>
              <a:srgbClr val="34D399"/>
            </a:solidFill>
            <a:effectLst/>
          </c:spPr>
          <c:invertIfNegative val="0"/>
          <c:dLbls>
            <c:numFmt formatCode="#,##0" sourceLinked="0"/>
            <c:spPr>
              <a:noFill/>
              <a:ln>
                <a:noFill/>
              </a:ln>
              <a:effectLst/>
            </c:spPr>
            <c:txPr>
              <a:bodyPr/>
              <a:lstStyle/>
              <a:p>
                <a:pPr>
                  <a:defRPr sz="1400" b="1" i="0" u="none" strike="noStrike">
                    <a:solidFill>
                      <a:srgbClr val="FFFFF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Correct verdicts (of 11)</c:v>
                </c:pt>
              </c:strCache>
            </c:strRef>
          </c:cat>
          <c:val>
            <c:numRef>
              <c:f>Sheet1!$C$2:$C$2</c:f>
              <c:numCache>
                <c:formatCode>General</c:formatCode>
                <c:ptCount val="1"/>
                <c:pt idx="0">
                  <c:v>11</c:v>
                </c:pt>
              </c:numCache>
            </c:numRef>
          </c:val>
          <c:extLst>
            <c:ext xmlns:c16="http://schemas.microsoft.com/office/drawing/2014/chart" uri="{C3380CC4-5D6E-409C-BE32-E72D297353CC}">
              <c16:uniqueId val="{00000001-D53C-4FEC-93B2-7EC8C3E93931}"/>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A3ADA8"/>
                </a:solidFill>
                <a:latin typeface="Calibri"/>
              </a:defRPr>
            </a:pPr>
            <a:endParaRPr lang="en-US"/>
          </a:p>
        </c:txPr>
        <c:crossAx val="2094734552"/>
        <c:crosses val="autoZero"/>
        <c:auto val="1"/>
        <c:lblAlgn val="ctr"/>
        <c:lblOffset val="100"/>
        <c:noMultiLvlLbl val="1"/>
      </c:catAx>
      <c:valAx>
        <c:axId val="2094734552"/>
        <c:scaling>
          <c:orientation val="minMax"/>
          <c:max val="12"/>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200">
              <a:solidFill>
                <a:srgbClr val="A3ADA8"/>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3350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VentureCouncil evaluates creator-brand sponsorship deals for Nitrix Talent Media. Five specialised AI agents each judge one side of the deal, and a supervisor combines them into Accept, Negotiate or Reject. The key idea: the final decision is made by fixed rules, not by the AI.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brands pick creators by gut feel, creator prices are opaque, and risky contract clauses slip through unnoticed. VentureCouncil replaces that with a council of agents that gives a verdict, a score and a plain-English reason, and can also find creators that fit a budget.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deal comes in. Four agents run in parallel: audience fit, engagement ranked against same-platform peers, pricing against similar past deals found by vector search, and risk including contract clauses. A gate waits for all four, then Negotiation runs, then the Supervisor takes a weighted score. 50 or above is Accept, 45 to 50 Negotiate, below 45 Reject, and a high-risk label blocks Accept.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is Supabase Postgres with pgvector: 649 creators, 18 brands and 52 past deals, each embedded locally with sentence-transformers. The screenshot is a real run: Bulky at Rs.35,000 for Volt Energy Drinks scored 72.8 and was accepted. The stack runs from a React frontend through FastAPI and LangGraph to the agents; the LLM layer is provider-agnostic.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decisions. First, the LLM called a terrible contract only medium risk, so a fixed-pattern scanner now forces high risk and Accept becomes Negotiate. Second, the explanation is written by the AI but the headline verdict is built in code, with a template fallback. Third, rewriting the brand query into the same template used to embed creators lifted similarity from 0.274 to 0.654.</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calibrated the thresholds on eleven labelled deals: the old 70 and 45 got 9 right, the new 50 and 45 get all 11 with no severe errors. The sample is small and we say so. Groq scores harsher than Gemini and was often more correct, so all reported numbers are from Groq. There are 179 automated tests that need no database or network. Thank you.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0D"/>
        </a:solidFill>
        <a:effectLst/>
      </p:bgPr>
    </p:bg>
    <p:spTree>
      <p:nvGrpSpPr>
        <p:cNvPr id="1" name=""/>
        <p:cNvGrpSpPr/>
        <p:nvPr/>
      </p:nvGrpSpPr>
      <p:grpSpPr>
        <a:xfrm>
          <a:off x="0" y="0"/>
          <a:ext cx="0" cy="0"/>
          <a:chOff x="0" y="0"/>
          <a:chExt cx="0" cy="0"/>
        </a:xfrm>
      </p:grpSpPr>
      <p:sp>
        <p:nvSpPr>
          <p:cNvPr id="2" name="Glow"/>
          <p:cNvSpPr/>
          <p:nvPr/>
        </p:nvSpPr>
        <p:spPr>
          <a:xfrm>
            <a:off x="4572000" y="91440"/>
            <a:ext cx="4389120" cy="4389120"/>
          </a:xfrm>
          <a:prstGeom prst="ellipse">
            <a:avLst/>
          </a:prstGeom>
          <a:solidFill>
            <a:srgbClr val="34D399">
              <a:alpha val="10000"/>
            </a:srgbClr>
          </a:solidFill>
          <a:ln w="12700">
            <a:solidFill>
              <a:srgbClr val="34D399">
                <a:alpha val="0"/>
              </a:srgbClr>
            </a:solidFill>
            <a:prstDash val="solid"/>
          </a:ln>
        </p:spPr>
      </p:sp>
      <p:sp>
        <p:nvSpPr>
          <p:cNvPr id="3" name="a01_fade_kicker"/>
          <p:cNvSpPr txBox="1"/>
          <p:nvPr/>
        </p:nvSpPr>
        <p:spPr>
          <a:xfrm>
            <a:off x="457200" y="502920"/>
            <a:ext cx="4572000" cy="228600"/>
          </a:xfrm>
          <a:prstGeom prst="rect">
            <a:avLst/>
          </a:prstGeom>
          <a:noFill/>
          <a:ln/>
        </p:spPr>
        <p:txBody>
          <a:bodyPr wrap="square" lIns="0" tIns="0" rIns="0" bIns="0" rtlCol="0" anchor="ctr"/>
          <a:lstStyle/>
          <a:p>
            <a:pPr marL="0" indent="0">
              <a:buNone/>
            </a:pPr>
            <a:r>
              <a:rPr lang="en-US" sz="1100" b="1" kern="0" spc="300" dirty="0">
                <a:solidFill>
                  <a:srgbClr val="34D399"/>
                </a:solidFill>
                <a:latin typeface="Calibri" pitchFamily="34" charset="0"/>
                <a:ea typeface="Calibri" pitchFamily="34" charset="-122"/>
                <a:cs typeface="Calibri" pitchFamily="34" charset="-120"/>
              </a:rPr>
              <a:t>AI &amp; DATA SCIENCE MINI-PROJECT</a:t>
            </a:r>
            <a:endParaRPr lang="en-US" sz="1100" dirty="0"/>
          </a:p>
        </p:txBody>
      </p:sp>
      <p:sp>
        <p:nvSpPr>
          <p:cNvPr id="4" name="a01_fade_title"/>
          <p:cNvSpPr txBox="1"/>
          <p:nvPr/>
        </p:nvSpPr>
        <p:spPr>
          <a:xfrm>
            <a:off x="457200" y="822960"/>
            <a:ext cx="4114800" cy="1463040"/>
          </a:xfrm>
          <a:prstGeom prst="rect">
            <a:avLst/>
          </a:prstGeom>
          <a:noFill/>
          <a:ln/>
        </p:spPr>
        <p:txBody>
          <a:bodyPr wrap="square" lIns="0" tIns="0" rIns="0" bIns="0" rtlCol="0" anchor="ctr"/>
          <a:lstStyle/>
          <a:p>
            <a:pPr marL="0" indent="0">
              <a:buNone/>
            </a:pPr>
            <a:r>
              <a:rPr lang="en-US" sz="4800" b="1" dirty="0">
                <a:solidFill>
                  <a:srgbClr val="FFFFFF"/>
                </a:solidFill>
                <a:latin typeface="Arial" pitchFamily="34" charset="0"/>
                <a:ea typeface="Arial" pitchFamily="34" charset="-122"/>
                <a:cs typeface="Arial" pitchFamily="34" charset="-120"/>
              </a:rPr>
              <a:t>VENTURE</a:t>
            </a:r>
            <a:endParaRPr lang="en-US" sz="4800" dirty="0"/>
          </a:p>
          <a:p>
            <a:pPr marL="0" indent="0">
              <a:buNone/>
            </a:pPr>
            <a:r>
              <a:rPr lang="en-US" sz="4800" b="1" dirty="0">
                <a:solidFill>
                  <a:srgbClr val="FFFFFF"/>
                </a:solidFill>
                <a:latin typeface="Arial" pitchFamily="34" charset="0"/>
                <a:ea typeface="Arial" pitchFamily="34" charset="-122"/>
                <a:cs typeface="Arial" pitchFamily="34" charset="-120"/>
              </a:rPr>
              <a:t>COUNCIL</a:t>
            </a:r>
            <a:endParaRPr lang="en-US" sz="4800" dirty="0"/>
          </a:p>
        </p:txBody>
      </p:sp>
      <p:sp>
        <p:nvSpPr>
          <p:cNvPr id="5" name="a02_fade_tagline"/>
          <p:cNvSpPr txBox="1"/>
          <p:nvPr/>
        </p:nvSpPr>
        <p:spPr>
          <a:xfrm>
            <a:off x="457200" y="2377440"/>
            <a:ext cx="3931920" cy="640080"/>
          </a:xfrm>
          <a:prstGeom prst="rect">
            <a:avLst/>
          </a:prstGeom>
          <a:noFill/>
          <a:ln/>
        </p:spPr>
        <p:txBody>
          <a:bodyPr wrap="square" lIns="0" tIns="0" rIns="0" bIns="0" rtlCol="0" anchor="ctr"/>
          <a:lstStyle/>
          <a:p>
            <a:pPr marL="0" indent="0">
              <a:buNone/>
            </a:pPr>
            <a:r>
              <a:rPr lang="en-US" sz="1500" dirty="0">
                <a:solidFill>
                  <a:srgbClr val="A3ADA8"/>
                </a:solidFill>
                <a:latin typeface="Calibri" pitchFamily="34" charset="0"/>
                <a:ea typeface="Calibri" pitchFamily="34" charset="-122"/>
                <a:cs typeface="Calibri" pitchFamily="34" charset="-120"/>
              </a:rPr>
              <a:t>Five AI agents debate every creator-brand deal. Fixed rules make the final call.</a:t>
            </a:r>
            <a:endParaRPr lang="en-US" sz="1500" dirty="0"/>
          </a:p>
        </p:txBody>
      </p:sp>
      <p:sp>
        <p:nvSpPr>
          <p:cNvPr id="6" name="a03_up_stat0"/>
          <p:cNvSpPr/>
          <p:nvPr/>
        </p:nvSpPr>
        <p:spPr>
          <a:xfrm>
            <a:off x="457200" y="3200400"/>
            <a:ext cx="1207008" cy="822960"/>
          </a:xfrm>
          <a:prstGeom prst="roundRect">
            <a:avLst>
              <a:gd name="adj" fmla="val 8889"/>
            </a:avLst>
          </a:prstGeom>
          <a:solidFill>
            <a:srgbClr val="151B18"/>
          </a:solidFill>
          <a:ln w="12700">
            <a:solidFill>
              <a:srgbClr val="26332D"/>
            </a:solidFill>
            <a:prstDash val="solid"/>
          </a:ln>
        </p:spPr>
      </p:sp>
      <p:sp>
        <p:nvSpPr>
          <p:cNvPr id="7" name="a03_up_stat0"/>
          <p:cNvSpPr txBox="1"/>
          <p:nvPr/>
        </p:nvSpPr>
        <p:spPr>
          <a:xfrm>
            <a:off x="457200" y="3246120"/>
            <a:ext cx="1207008" cy="438912"/>
          </a:xfrm>
          <a:prstGeom prst="rect">
            <a:avLst/>
          </a:prstGeom>
          <a:noFill/>
          <a:ln/>
        </p:spPr>
        <p:txBody>
          <a:bodyPr wrap="square" lIns="0" tIns="0" rIns="0" bIns="0" rtlCol="0" anchor="ctr"/>
          <a:lstStyle/>
          <a:p>
            <a:pPr marL="0" indent="0" algn="ctr">
              <a:buNone/>
            </a:pPr>
            <a:r>
              <a:rPr lang="en-US" sz="2200" b="1" dirty="0">
                <a:solidFill>
                  <a:srgbClr val="34D399"/>
                </a:solidFill>
                <a:latin typeface="Arial" pitchFamily="34" charset="0"/>
                <a:ea typeface="Arial" pitchFamily="34" charset="-122"/>
                <a:cs typeface="Arial" pitchFamily="34" charset="-120"/>
              </a:rPr>
              <a:t>5</a:t>
            </a:r>
            <a:endParaRPr lang="en-US" sz="2200" dirty="0"/>
          </a:p>
        </p:txBody>
      </p:sp>
      <p:sp>
        <p:nvSpPr>
          <p:cNvPr id="8" name="a03_up_stat0"/>
          <p:cNvSpPr txBox="1"/>
          <p:nvPr/>
        </p:nvSpPr>
        <p:spPr>
          <a:xfrm>
            <a:off x="457200" y="3675888"/>
            <a:ext cx="1207008" cy="256032"/>
          </a:xfrm>
          <a:prstGeom prst="rect">
            <a:avLst/>
          </a:prstGeom>
          <a:noFill/>
          <a:ln/>
        </p:spPr>
        <p:txBody>
          <a:bodyPr wrap="square" lIns="0" tIns="0" rIns="0" bIns="0" rtlCol="0" anchor="ctr"/>
          <a:lstStyle/>
          <a:p>
            <a:pPr marL="0" indent="0" algn="ctr">
              <a:buNone/>
            </a:pPr>
            <a:r>
              <a:rPr lang="en-US" sz="1100" dirty="0">
                <a:solidFill>
                  <a:srgbClr val="A3ADA8"/>
                </a:solidFill>
                <a:latin typeface="Calibri" pitchFamily="34" charset="0"/>
                <a:ea typeface="Calibri" pitchFamily="34" charset="-122"/>
                <a:cs typeface="Calibri" pitchFamily="34" charset="-120"/>
              </a:rPr>
              <a:t>AI agents</a:t>
            </a:r>
            <a:endParaRPr lang="en-US" sz="1100" dirty="0"/>
          </a:p>
        </p:txBody>
      </p:sp>
      <p:sp>
        <p:nvSpPr>
          <p:cNvPr id="9" name="a04_up_stat1"/>
          <p:cNvSpPr/>
          <p:nvPr/>
        </p:nvSpPr>
        <p:spPr>
          <a:xfrm>
            <a:off x="1783080" y="3200400"/>
            <a:ext cx="1207008" cy="822960"/>
          </a:xfrm>
          <a:prstGeom prst="roundRect">
            <a:avLst>
              <a:gd name="adj" fmla="val 8889"/>
            </a:avLst>
          </a:prstGeom>
          <a:solidFill>
            <a:srgbClr val="151B18"/>
          </a:solidFill>
          <a:ln w="12700">
            <a:solidFill>
              <a:srgbClr val="26332D"/>
            </a:solidFill>
            <a:prstDash val="solid"/>
          </a:ln>
        </p:spPr>
      </p:sp>
      <p:sp>
        <p:nvSpPr>
          <p:cNvPr id="10" name="a04_up_stat1"/>
          <p:cNvSpPr txBox="1"/>
          <p:nvPr/>
        </p:nvSpPr>
        <p:spPr>
          <a:xfrm>
            <a:off x="1783080" y="3246120"/>
            <a:ext cx="1207008" cy="438912"/>
          </a:xfrm>
          <a:prstGeom prst="rect">
            <a:avLst/>
          </a:prstGeom>
          <a:noFill/>
          <a:ln/>
        </p:spPr>
        <p:txBody>
          <a:bodyPr wrap="square" lIns="0" tIns="0" rIns="0" bIns="0" rtlCol="0" anchor="ctr"/>
          <a:lstStyle/>
          <a:p>
            <a:pPr marL="0" indent="0" algn="ctr">
              <a:buNone/>
            </a:pPr>
            <a:r>
              <a:rPr lang="en-US" sz="2200" b="1" dirty="0">
                <a:solidFill>
                  <a:srgbClr val="34D399"/>
                </a:solidFill>
                <a:latin typeface="Arial" pitchFamily="34" charset="0"/>
                <a:ea typeface="Arial" pitchFamily="34" charset="-122"/>
                <a:cs typeface="Arial" pitchFamily="34" charset="-120"/>
              </a:rPr>
              <a:t>649</a:t>
            </a:r>
            <a:endParaRPr lang="en-US" sz="2200" dirty="0"/>
          </a:p>
        </p:txBody>
      </p:sp>
      <p:sp>
        <p:nvSpPr>
          <p:cNvPr id="11" name="a04_up_stat1"/>
          <p:cNvSpPr txBox="1"/>
          <p:nvPr/>
        </p:nvSpPr>
        <p:spPr>
          <a:xfrm>
            <a:off x="1783080" y="3675888"/>
            <a:ext cx="1207008" cy="256032"/>
          </a:xfrm>
          <a:prstGeom prst="rect">
            <a:avLst/>
          </a:prstGeom>
          <a:noFill/>
          <a:ln/>
        </p:spPr>
        <p:txBody>
          <a:bodyPr wrap="square" lIns="0" tIns="0" rIns="0" bIns="0" rtlCol="0" anchor="ctr"/>
          <a:lstStyle/>
          <a:p>
            <a:pPr marL="0" indent="0" algn="ctr">
              <a:buNone/>
            </a:pPr>
            <a:r>
              <a:rPr lang="en-US" sz="1100" dirty="0">
                <a:solidFill>
                  <a:srgbClr val="A3ADA8"/>
                </a:solidFill>
                <a:latin typeface="Calibri" pitchFamily="34" charset="0"/>
                <a:ea typeface="Calibri" pitchFamily="34" charset="-122"/>
                <a:cs typeface="Calibri" pitchFamily="34" charset="-120"/>
              </a:rPr>
              <a:t>creators</a:t>
            </a:r>
            <a:endParaRPr lang="en-US" sz="1100" dirty="0"/>
          </a:p>
        </p:txBody>
      </p:sp>
      <p:sp>
        <p:nvSpPr>
          <p:cNvPr id="12" name="a05_up_stat2"/>
          <p:cNvSpPr/>
          <p:nvPr/>
        </p:nvSpPr>
        <p:spPr>
          <a:xfrm>
            <a:off x="3108960" y="3200400"/>
            <a:ext cx="1207008" cy="822960"/>
          </a:xfrm>
          <a:prstGeom prst="roundRect">
            <a:avLst>
              <a:gd name="adj" fmla="val 8889"/>
            </a:avLst>
          </a:prstGeom>
          <a:solidFill>
            <a:srgbClr val="151B18"/>
          </a:solidFill>
          <a:ln w="12700">
            <a:solidFill>
              <a:srgbClr val="26332D"/>
            </a:solidFill>
            <a:prstDash val="solid"/>
          </a:ln>
        </p:spPr>
      </p:sp>
      <p:sp>
        <p:nvSpPr>
          <p:cNvPr id="13" name="a05_up_stat2"/>
          <p:cNvSpPr txBox="1"/>
          <p:nvPr/>
        </p:nvSpPr>
        <p:spPr>
          <a:xfrm>
            <a:off x="3108960" y="3246120"/>
            <a:ext cx="1207008" cy="438912"/>
          </a:xfrm>
          <a:prstGeom prst="rect">
            <a:avLst/>
          </a:prstGeom>
          <a:noFill/>
          <a:ln/>
        </p:spPr>
        <p:txBody>
          <a:bodyPr wrap="square" lIns="0" tIns="0" rIns="0" bIns="0" rtlCol="0" anchor="ctr"/>
          <a:lstStyle/>
          <a:p>
            <a:pPr marL="0" indent="0" algn="ctr">
              <a:buNone/>
            </a:pPr>
            <a:r>
              <a:rPr lang="en-US" sz="2200" b="1" dirty="0">
                <a:solidFill>
                  <a:srgbClr val="34D399"/>
                </a:solidFill>
                <a:latin typeface="Arial" pitchFamily="34" charset="0"/>
                <a:ea typeface="Arial" pitchFamily="34" charset="-122"/>
                <a:cs typeface="Arial" pitchFamily="34" charset="-120"/>
              </a:rPr>
              <a:t>179</a:t>
            </a:r>
            <a:endParaRPr lang="en-US" sz="2200" dirty="0"/>
          </a:p>
        </p:txBody>
      </p:sp>
      <p:sp>
        <p:nvSpPr>
          <p:cNvPr id="14" name="a05_up_stat2"/>
          <p:cNvSpPr txBox="1"/>
          <p:nvPr/>
        </p:nvSpPr>
        <p:spPr>
          <a:xfrm>
            <a:off x="3108960" y="3675888"/>
            <a:ext cx="1207008" cy="256032"/>
          </a:xfrm>
          <a:prstGeom prst="rect">
            <a:avLst/>
          </a:prstGeom>
          <a:noFill/>
          <a:ln/>
        </p:spPr>
        <p:txBody>
          <a:bodyPr wrap="square" lIns="0" tIns="0" rIns="0" bIns="0" rtlCol="0" anchor="ctr"/>
          <a:lstStyle/>
          <a:p>
            <a:pPr marL="0" indent="0" algn="ctr">
              <a:buNone/>
            </a:pPr>
            <a:r>
              <a:rPr lang="en-US" sz="1100" dirty="0">
                <a:solidFill>
                  <a:srgbClr val="A3ADA8"/>
                </a:solidFill>
                <a:latin typeface="Calibri" pitchFamily="34" charset="0"/>
                <a:ea typeface="Calibri" pitchFamily="34" charset="-122"/>
                <a:cs typeface="Calibri" pitchFamily="34" charset="-120"/>
              </a:rPr>
              <a:t>tests</a:t>
            </a:r>
            <a:endParaRPr lang="en-US" sz="1100" dirty="0"/>
          </a:p>
        </p:txBody>
      </p:sp>
      <p:sp>
        <p:nvSpPr>
          <p:cNvPr id="15" name="a12_fade_team"/>
          <p:cNvSpPr txBox="1"/>
          <p:nvPr/>
        </p:nvSpPr>
        <p:spPr>
          <a:xfrm>
            <a:off x="457200" y="4434840"/>
            <a:ext cx="8229600" cy="274320"/>
          </a:xfrm>
          <a:prstGeom prst="rect">
            <a:avLst/>
          </a:prstGeom>
          <a:noFill/>
          <a:ln/>
        </p:spPr>
        <p:txBody>
          <a:bodyPr wrap="square" lIns="0" tIns="0" rIns="0" bIns="0" rtlCol="0" anchor="ctr"/>
          <a:lstStyle/>
          <a:p>
            <a:pPr marL="0" indent="0">
              <a:buNone/>
            </a:pPr>
            <a:r>
              <a:rPr lang="en-US" sz="1100" dirty="0">
                <a:solidFill>
                  <a:srgbClr val="A3ADA8"/>
                </a:solidFill>
                <a:latin typeface="Calibri" pitchFamily="34" charset="0"/>
                <a:ea typeface="Calibri" pitchFamily="34" charset="-122"/>
                <a:cs typeface="Calibri" pitchFamily="34" charset="-120"/>
              </a:rPr>
              <a:t>Niharika Singh · Shubham Singh · Rohit Swami · Akash Warde   |   Guide: Prof. Megha Jain</a:t>
            </a:r>
            <a:endParaRPr lang="en-US" sz="1100" dirty="0"/>
          </a:p>
        </p:txBody>
      </p:sp>
      <p:sp>
        <p:nvSpPr>
          <p:cNvPr id="16" name="a06_fade_spoke0"/>
          <p:cNvSpPr/>
          <p:nvPr/>
        </p:nvSpPr>
        <p:spPr>
          <a:xfrm flipV="1">
            <a:off x="6766560" y="868680"/>
            <a:ext cx="0" cy="1463040"/>
          </a:xfrm>
          <a:prstGeom prst="line">
            <a:avLst/>
          </a:prstGeom>
          <a:noFill/>
          <a:ln w="19050">
            <a:solidFill>
              <a:srgbClr val="2F5D4B"/>
            </a:solidFill>
            <a:prstDash val="solid"/>
          </a:ln>
        </p:spPr>
      </p:sp>
      <p:sp>
        <p:nvSpPr>
          <p:cNvPr id="17" name="a07_fade_spoke1"/>
          <p:cNvSpPr/>
          <p:nvPr/>
        </p:nvSpPr>
        <p:spPr>
          <a:xfrm flipV="1">
            <a:off x="6766560" y="1879616"/>
            <a:ext cx="1391434" cy="452104"/>
          </a:xfrm>
          <a:prstGeom prst="line">
            <a:avLst/>
          </a:prstGeom>
          <a:noFill/>
          <a:ln w="19050">
            <a:solidFill>
              <a:srgbClr val="2F5D4B"/>
            </a:solidFill>
            <a:prstDash val="solid"/>
          </a:ln>
        </p:spPr>
      </p:sp>
      <p:sp>
        <p:nvSpPr>
          <p:cNvPr id="18" name="a08_fade_spoke2"/>
          <p:cNvSpPr/>
          <p:nvPr/>
        </p:nvSpPr>
        <p:spPr>
          <a:xfrm>
            <a:off x="6766560" y="2331720"/>
            <a:ext cx="859953" cy="1183624"/>
          </a:xfrm>
          <a:prstGeom prst="line">
            <a:avLst/>
          </a:prstGeom>
          <a:noFill/>
          <a:ln w="19050">
            <a:solidFill>
              <a:srgbClr val="2F5D4B"/>
            </a:solidFill>
            <a:prstDash val="solid"/>
          </a:ln>
        </p:spPr>
      </p:sp>
      <p:sp>
        <p:nvSpPr>
          <p:cNvPr id="19" name="a09_fade_spoke3"/>
          <p:cNvSpPr/>
          <p:nvPr/>
        </p:nvSpPr>
        <p:spPr>
          <a:xfrm flipV="1">
            <a:off x="5906607" y="2331720"/>
            <a:ext cx="859953" cy="1183624"/>
          </a:xfrm>
          <a:prstGeom prst="line">
            <a:avLst/>
          </a:prstGeom>
          <a:noFill/>
          <a:ln w="19050">
            <a:solidFill>
              <a:srgbClr val="2F5D4B"/>
            </a:solidFill>
            <a:prstDash val="solid"/>
          </a:ln>
        </p:spPr>
      </p:sp>
      <p:sp>
        <p:nvSpPr>
          <p:cNvPr id="20" name="a10_fade_spoke4"/>
          <p:cNvSpPr/>
          <p:nvPr/>
        </p:nvSpPr>
        <p:spPr>
          <a:xfrm>
            <a:off x="5375126" y="1879616"/>
            <a:ext cx="1391434" cy="452104"/>
          </a:xfrm>
          <a:prstGeom prst="line">
            <a:avLst/>
          </a:prstGeom>
          <a:noFill/>
          <a:ln w="19050">
            <a:solidFill>
              <a:srgbClr val="2F5D4B"/>
            </a:solidFill>
            <a:prstDash val="solid"/>
          </a:ln>
        </p:spPr>
      </p:sp>
      <p:sp>
        <p:nvSpPr>
          <p:cNvPr id="21" name="a06_zoom_agent0"/>
          <p:cNvSpPr/>
          <p:nvPr/>
        </p:nvSpPr>
        <p:spPr>
          <a:xfrm>
            <a:off x="6309360" y="411480"/>
            <a:ext cx="914400" cy="914400"/>
          </a:xfrm>
          <a:prstGeom prst="ellipse">
            <a:avLst/>
          </a:prstGeom>
          <a:solidFill>
            <a:srgbClr val="151B18"/>
          </a:solidFill>
          <a:ln w="19050">
            <a:solidFill>
              <a:srgbClr val="34D399"/>
            </a:solidFill>
            <a:prstDash val="solid"/>
          </a:ln>
        </p:spPr>
      </p:sp>
      <p:sp>
        <p:nvSpPr>
          <p:cNvPr id="22" name="a06_zoom_agent0"/>
          <p:cNvSpPr txBox="1"/>
          <p:nvPr/>
        </p:nvSpPr>
        <p:spPr>
          <a:xfrm>
            <a:off x="6309360" y="411480"/>
            <a:ext cx="914400" cy="9144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Audience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Fit</a:t>
            </a:r>
            <a:endParaRPr lang="en-US" sz="1000" dirty="0"/>
          </a:p>
        </p:txBody>
      </p:sp>
      <p:sp>
        <p:nvSpPr>
          <p:cNvPr id="23" name="a07_zoom_agent1"/>
          <p:cNvSpPr/>
          <p:nvPr/>
        </p:nvSpPr>
        <p:spPr>
          <a:xfrm>
            <a:off x="7700794" y="1422416"/>
            <a:ext cx="914400" cy="914400"/>
          </a:xfrm>
          <a:prstGeom prst="ellipse">
            <a:avLst/>
          </a:prstGeom>
          <a:solidFill>
            <a:srgbClr val="151B18"/>
          </a:solidFill>
          <a:ln w="19050">
            <a:solidFill>
              <a:srgbClr val="34D399"/>
            </a:solidFill>
            <a:prstDash val="solid"/>
          </a:ln>
        </p:spPr>
      </p:sp>
      <p:sp>
        <p:nvSpPr>
          <p:cNvPr id="24" name="a07_zoom_agent1"/>
          <p:cNvSpPr txBox="1"/>
          <p:nvPr/>
        </p:nvSpPr>
        <p:spPr>
          <a:xfrm>
            <a:off x="7700794" y="1422416"/>
            <a:ext cx="914400" cy="9144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Engage-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ment</a:t>
            </a:r>
            <a:endParaRPr lang="en-US" sz="1000" dirty="0"/>
          </a:p>
        </p:txBody>
      </p:sp>
      <p:sp>
        <p:nvSpPr>
          <p:cNvPr id="25" name="a08_zoom_agent2"/>
          <p:cNvSpPr/>
          <p:nvPr/>
        </p:nvSpPr>
        <p:spPr>
          <a:xfrm>
            <a:off x="7169313" y="3058144"/>
            <a:ext cx="914400" cy="914400"/>
          </a:xfrm>
          <a:prstGeom prst="ellipse">
            <a:avLst/>
          </a:prstGeom>
          <a:solidFill>
            <a:srgbClr val="151B18"/>
          </a:solidFill>
          <a:ln w="19050">
            <a:solidFill>
              <a:srgbClr val="34D399"/>
            </a:solidFill>
            <a:prstDash val="solid"/>
          </a:ln>
        </p:spPr>
      </p:sp>
      <p:sp>
        <p:nvSpPr>
          <p:cNvPr id="26" name="a08_zoom_agent2"/>
          <p:cNvSpPr txBox="1"/>
          <p:nvPr/>
        </p:nvSpPr>
        <p:spPr>
          <a:xfrm>
            <a:off x="7169313" y="3058144"/>
            <a:ext cx="914400" cy="9144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Pricing</a:t>
            </a:r>
            <a:endParaRPr lang="en-US" sz="1000" dirty="0"/>
          </a:p>
        </p:txBody>
      </p:sp>
      <p:sp>
        <p:nvSpPr>
          <p:cNvPr id="27" name="a09_zoom_agent3"/>
          <p:cNvSpPr/>
          <p:nvPr/>
        </p:nvSpPr>
        <p:spPr>
          <a:xfrm>
            <a:off x="5449407" y="3058144"/>
            <a:ext cx="914400" cy="914400"/>
          </a:xfrm>
          <a:prstGeom prst="ellipse">
            <a:avLst/>
          </a:prstGeom>
          <a:solidFill>
            <a:srgbClr val="151B18"/>
          </a:solidFill>
          <a:ln w="19050">
            <a:solidFill>
              <a:srgbClr val="34D399"/>
            </a:solidFill>
            <a:prstDash val="solid"/>
          </a:ln>
        </p:spPr>
      </p:sp>
      <p:sp>
        <p:nvSpPr>
          <p:cNvPr id="28" name="a09_zoom_agent3"/>
          <p:cNvSpPr txBox="1"/>
          <p:nvPr/>
        </p:nvSpPr>
        <p:spPr>
          <a:xfrm>
            <a:off x="5449407" y="3058144"/>
            <a:ext cx="914400" cy="9144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Risk</a:t>
            </a:r>
            <a:endParaRPr lang="en-US" sz="1000" dirty="0"/>
          </a:p>
        </p:txBody>
      </p:sp>
      <p:sp>
        <p:nvSpPr>
          <p:cNvPr id="29" name="a10_zoom_agent4"/>
          <p:cNvSpPr/>
          <p:nvPr/>
        </p:nvSpPr>
        <p:spPr>
          <a:xfrm>
            <a:off x="4917926" y="1422416"/>
            <a:ext cx="914400" cy="914400"/>
          </a:xfrm>
          <a:prstGeom prst="ellipse">
            <a:avLst/>
          </a:prstGeom>
          <a:solidFill>
            <a:srgbClr val="151B18"/>
          </a:solidFill>
          <a:ln w="19050">
            <a:solidFill>
              <a:srgbClr val="34D399"/>
            </a:solidFill>
            <a:prstDash val="solid"/>
          </a:ln>
        </p:spPr>
      </p:sp>
      <p:sp>
        <p:nvSpPr>
          <p:cNvPr id="30" name="a10_zoom_agent4"/>
          <p:cNvSpPr txBox="1"/>
          <p:nvPr/>
        </p:nvSpPr>
        <p:spPr>
          <a:xfrm>
            <a:off x="4917926" y="1422416"/>
            <a:ext cx="914400" cy="9144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Negoti-</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ation</a:t>
            </a:r>
            <a:endParaRPr lang="en-US" sz="1000" dirty="0"/>
          </a:p>
        </p:txBody>
      </p:sp>
      <p:sp>
        <p:nvSpPr>
          <p:cNvPr id="31" name="a11_zoom_core"/>
          <p:cNvSpPr/>
          <p:nvPr/>
        </p:nvSpPr>
        <p:spPr>
          <a:xfrm>
            <a:off x="6199632" y="1764792"/>
            <a:ext cx="1133856" cy="1133856"/>
          </a:xfrm>
          <a:prstGeom prst="ellipse">
            <a:avLst/>
          </a:prstGeom>
          <a:solidFill>
            <a:srgbClr val="34D399"/>
          </a:solidFill>
          <a:ln w="12700">
            <a:solidFill>
              <a:srgbClr val="34D399"/>
            </a:solidFill>
            <a:prstDash val="solid"/>
          </a:ln>
        </p:spPr>
      </p:sp>
      <p:sp>
        <p:nvSpPr>
          <p:cNvPr id="32" name="a11_zoom_core"/>
          <p:cNvSpPr txBox="1"/>
          <p:nvPr/>
        </p:nvSpPr>
        <p:spPr>
          <a:xfrm>
            <a:off x="6199632" y="1764792"/>
            <a:ext cx="1133856" cy="1133856"/>
          </a:xfrm>
          <a:prstGeom prst="rect">
            <a:avLst/>
          </a:prstGeom>
          <a:noFill/>
          <a:ln/>
        </p:spPr>
        <p:txBody>
          <a:bodyPr wrap="square" lIns="0" tIns="0" rIns="0" bIns="0" rtlCol="0" anchor="ctr"/>
          <a:lstStyle/>
          <a:p>
            <a:pPr marL="0" indent="0" algn="ctr">
              <a:buNone/>
            </a:pPr>
            <a:r>
              <a:rPr lang="en-US" sz="1200" b="1" dirty="0">
                <a:solidFill>
                  <a:srgbClr val="0B0F0D"/>
                </a:solidFill>
                <a:latin typeface="Arial" pitchFamily="34" charset="0"/>
                <a:ea typeface="Arial" pitchFamily="34" charset="-122"/>
                <a:cs typeface="Arial" pitchFamily="34" charset="-120"/>
              </a:rPr>
              <a:t>VERDICT</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par>
                          <p:cTn id="15" fill="hold">
                            <p:stCondLst>
                              <p:cond delay="1000"/>
                            </p:stCondLst>
                            <p:childTnLst>
                              <p:par>
                                <p:cTn id="16" presetID="2" presetClass="entr" presetSubtype="4"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1+#ppt_h/2"/>
                                          </p:val>
                                        </p:tav>
                                        <p:tav tm="100000">
                                          <p:val>
                                            <p:strVal val="#ppt_y"/>
                                          </p:val>
                                        </p:tav>
                                      </p:tavLst>
                                    </p:anim>
                                  </p:childTnLst>
                                </p:cTn>
                              </p:par>
                            </p:childTnLst>
                          </p:cTn>
                        </p:par>
                        <p:par>
                          <p:cTn id="28" fill="hold">
                            <p:stCondLst>
                              <p:cond delay="1500"/>
                            </p:stCondLst>
                            <p:childTnLst>
                              <p:par>
                                <p:cTn id="29" presetID="2" presetClass="entr" presetSubtype="4" fill="hold" nodeType="after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childTnLst>
                          </p:cTn>
                        </p:par>
                        <p:par>
                          <p:cTn id="41" fill="hold">
                            <p:stCondLst>
                              <p:cond delay="2000"/>
                            </p:stCondLst>
                            <p:childTnLst>
                              <p:par>
                                <p:cTn id="42" presetID="2" presetClass="entr" presetSubtype="4" fill="hold" nodeType="after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500" fill="hold"/>
                                        <p:tgtEl>
                                          <p:spTgt spid="12"/>
                                        </p:tgtEl>
                                        <p:attrNameLst>
                                          <p:attrName>ppt_x</p:attrName>
                                        </p:attrNameLst>
                                      </p:cBhvr>
                                      <p:tavLst>
                                        <p:tav tm="0">
                                          <p:val>
                                            <p:strVal val="#ppt_x"/>
                                          </p:val>
                                        </p:tav>
                                        <p:tav tm="100000">
                                          <p:val>
                                            <p:strVal val="#ppt_x"/>
                                          </p:val>
                                        </p:tav>
                                      </p:tavLst>
                                    </p:anim>
                                    <p:anim calcmode="lin" valueType="num">
                                      <p:cBhvr additive="base">
                                        <p:cTn id="45" dur="500" fill="hold"/>
                                        <p:tgtEl>
                                          <p:spTgt spid="12"/>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 calcmode="lin" valueType="num">
                                      <p:cBhvr additive="base">
                                        <p:cTn id="48" dur="500" fill="hold"/>
                                        <p:tgtEl>
                                          <p:spTgt spid="13"/>
                                        </p:tgtEl>
                                        <p:attrNameLst>
                                          <p:attrName>ppt_x</p:attrName>
                                        </p:attrNameLst>
                                      </p:cBhvr>
                                      <p:tavLst>
                                        <p:tav tm="0">
                                          <p:val>
                                            <p:strVal val="#ppt_x"/>
                                          </p:val>
                                        </p:tav>
                                        <p:tav tm="100000">
                                          <p:val>
                                            <p:strVal val="#ppt_x"/>
                                          </p:val>
                                        </p:tav>
                                      </p:tavLst>
                                    </p:anim>
                                    <p:anim calcmode="lin" valueType="num">
                                      <p:cBhvr additive="base">
                                        <p:cTn id="49" dur="500" fill="hold"/>
                                        <p:tgtEl>
                                          <p:spTgt spid="13"/>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500" fill="hold"/>
                                        <p:tgtEl>
                                          <p:spTgt spid="14"/>
                                        </p:tgtEl>
                                        <p:attrNameLst>
                                          <p:attrName>ppt_x</p:attrName>
                                        </p:attrNameLst>
                                      </p:cBhvr>
                                      <p:tavLst>
                                        <p:tav tm="0">
                                          <p:val>
                                            <p:strVal val="#ppt_x"/>
                                          </p:val>
                                        </p:tav>
                                        <p:tav tm="100000">
                                          <p:val>
                                            <p:strVal val="#ppt_x"/>
                                          </p:val>
                                        </p:tav>
                                      </p:tavLst>
                                    </p:anim>
                                    <p:anim calcmode="lin" valueType="num">
                                      <p:cBhvr additive="base">
                                        <p:cTn id="53" dur="500" fill="hold"/>
                                        <p:tgtEl>
                                          <p:spTgt spid="14"/>
                                        </p:tgtEl>
                                        <p:attrNameLst>
                                          <p:attrName>ppt_y</p:attrName>
                                        </p:attrNameLst>
                                      </p:cBhvr>
                                      <p:tavLst>
                                        <p:tav tm="0">
                                          <p:val>
                                            <p:strVal val="1+#ppt_h/2"/>
                                          </p:val>
                                        </p:tav>
                                        <p:tav tm="100000">
                                          <p:val>
                                            <p:strVal val="#ppt_y"/>
                                          </p:val>
                                        </p:tav>
                                      </p:tavLst>
                                    </p:anim>
                                  </p:childTnLst>
                                </p:cTn>
                              </p:par>
                            </p:childTnLst>
                          </p:cTn>
                        </p:par>
                        <p:par>
                          <p:cTn id="54" fill="hold">
                            <p:stCondLst>
                              <p:cond delay="2500"/>
                            </p:stCondLst>
                            <p:childTnLst>
                              <p:par>
                                <p:cTn id="55" presetID="10" presetClass="entr" presetSubtype="0" fill="hold" nodeType="after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childTnLst>
                                </p:cTn>
                              </p:par>
                              <p:par>
                                <p:cTn id="58" presetID="23" presetClass="entr" presetSubtype="16" fill="hold" nodeType="withEffect">
                                  <p:stCondLst>
                                    <p:cond delay="0"/>
                                  </p:stCondLst>
                                  <p:childTnLst>
                                    <p:set>
                                      <p:cBhvr>
                                        <p:cTn id="59" dur="1" fill="hold">
                                          <p:stCondLst>
                                            <p:cond delay="0"/>
                                          </p:stCondLst>
                                        </p:cTn>
                                        <p:tgtEl>
                                          <p:spTgt spid="21"/>
                                        </p:tgtEl>
                                        <p:attrNameLst>
                                          <p:attrName>style.visibility</p:attrName>
                                        </p:attrNameLst>
                                      </p:cBhvr>
                                      <p:to>
                                        <p:strVal val="visible"/>
                                      </p:to>
                                    </p:set>
                                    <p:anim calcmode="lin" valueType="num">
                                      <p:cBhvr>
                                        <p:cTn id="60" dur="400" fill="hold"/>
                                        <p:tgtEl>
                                          <p:spTgt spid="21"/>
                                        </p:tgtEl>
                                        <p:attrNameLst>
                                          <p:attrName>ppt_w</p:attrName>
                                        </p:attrNameLst>
                                      </p:cBhvr>
                                      <p:tavLst>
                                        <p:tav tm="0">
                                          <p:val>
                                            <p:fltVal val="0"/>
                                          </p:val>
                                        </p:tav>
                                        <p:tav tm="100000">
                                          <p:val>
                                            <p:strVal val="#ppt_w"/>
                                          </p:val>
                                        </p:tav>
                                      </p:tavLst>
                                    </p:anim>
                                    <p:anim calcmode="lin" valueType="num">
                                      <p:cBhvr>
                                        <p:cTn id="61" dur="400" fill="hold"/>
                                        <p:tgtEl>
                                          <p:spTgt spid="21"/>
                                        </p:tgtEl>
                                        <p:attrNameLst>
                                          <p:attrName>ppt_h</p:attrName>
                                        </p:attrNameLst>
                                      </p:cBhvr>
                                      <p:tavLst>
                                        <p:tav tm="0">
                                          <p:val>
                                            <p:fltVal val="0"/>
                                          </p:val>
                                        </p:tav>
                                        <p:tav tm="100000">
                                          <p:val>
                                            <p:strVal val="#ppt_h"/>
                                          </p:val>
                                        </p:tav>
                                      </p:tavLst>
                                    </p:anim>
                                  </p:childTnLst>
                                </p:cTn>
                              </p:par>
                              <p:par>
                                <p:cTn id="62" presetID="23" presetClass="entr" presetSubtype="16"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 calcmode="lin" valueType="num">
                                      <p:cBhvr>
                                        <p:cTn id="64" dur="400" fill="hold"/>
                                        <p:tgtEl>
                                          <p:spTgt spid="22"/>
                                        </p:tgtEl>
                                        <p:attrNameLst>
                                          <p:attrName>ppt_w</p:attrName>
                                        </p:attrNameLst>
                                      </p:cBhvr>
                                      <p:tavLst>
                                        <p:tav tm="0">
                                          <p:val>
                                            <p:fltVal val="0"/>
                                          </p:val>
                                        </p:tav>
                                        <p:tav tm="100000">
                                          <p:val>
                                            <p:strVal val="#ppt_w"/>
                                          </p:val>
                                        </p:tav>
                                      </p:tavLst>
                                    </p:anim>
                                    <p:anim calcmode="lin" valueType="num">
                                      <p:cBhvr>
                                        <p:cTn id="65" dur="400" fill="hold"/>
                                        <p:tgtEl>
                                          <p:spTgt spid="22"/>
                                        </p:tgtEl>
                                        <p:attrNameLst>
                                          <p:attrName>ppt_h</p:attrName>
                                        </p:attrNameLst>
                                      </p:cBhvr>
                                      <p:tavLst>
                                        <p:tav tm="0">
                                          <p:val>
                                            <p:fltVal val="0"/>
                                          </p:val>
                                        </p:tav>
                                        <p:tav tm="100000">
                                          <p:val>
                                            <p:strVal val="#ppt_h"/>
                                          </p:val>
                                        </p:tav>
                                      </p:tavLst>
                                    </p:anim>
                                  </p:childTnLst>
                                </p:cTn>
                              </p:par>
                            </p:childTnLst>
                          </p:cTn>
                        </p:par>
                        <p:par>
                          <p:cTn id="66" fill="hold">
                            <p:stCondLst>
                              <p:cond delay="3000"/>
                            </p:stCondLst>
                            <p:childTnLst>
                              <p:par>
                                <p:cTn id="67" presetID="10" presetClass="entr" presetSubtype="0" fill="hold" nodeType="after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fade">
                                      <p:cBhvr>
                                        <p:cTn id="69" dur="500"/>
                                        <p:tgtEl>
                                          <p:spTgt spid="17"/>
                                        </p:tgtEl>
                                      </p:cBhvr>
                                    </p:animEffect>
                                  </p:childTnLst>
                                </p:cTn>
                              </p:par>
                              <p:par>
                                <p:cTn id="70" presetID="23" presetClass="entr" presetSubtype="16" fill="hold" nodeType="withEffect">
                                  <p:stCondLst>
                                    <p:cond delay="0"/>
                                  </p:stCondLst>
                                  <p:childTnLst>
                                    <p:set>
                                      <p:cBhvr>
                                        <p:cTn id="71" dur="1" fill="hold">
                                          <p:stCondLst>
                                            <p:cond delay="0"/>
                                          </p:stCondLst>
                                        </p:cTn>
                                        <p:tgtEl>
                                          <p:spTgt spid="23"/>
                                        </p:tgtEl>
                                        <p:attrNameLst>
                                          <p:attrName>style.visibility</p:attrName>
                                        </p:attrNameLst>
                                      </p:cBhvr>
                                      <p:to>
                                        <p:strVal val="visible"/>
                                      </p:to>
                                    </p:set>
                                    <p:anim calcmode="lin" valueType="num">
                                      <p:cBhvr>
                                        <p:cTn id="72" dur="400" fill="hold"/>
                                        <p:tgtEl>
                                          <p:spTgt spid="23"/>
                                        </p:tgtEl>
                                        <p:attrNameLst>
                                          <p:attrName>ppt_w</p:attrName>
                                        </p:attrNameLst>
                                      </p:cBhvr>
                                      <p:tavLst>
                                        <p:tav tm="0">
                                          <p:val>
                                            <p:fltVal val="0"/>
                                          </p:val>
                                        </p:tav>
                                        <p:tav tm="100000">
                                          <p:val>
                                            <p:strVal val="#ppt_w"/>
                                          </p:val>
                                        </p:tav>
                                      </p:tavLst>
                                    </p:anim>
                                    <p:anim calcmode="lin" valueType="num">
                                      <p:cBhvr>
                                        <p:cTn id="73" dur="400" fill="hold"/>
                                        <p:tgtEl>
                                          <p:spTgt spid="23"/>
                                        </p:tgtEl>
                                        <p:attrNameLst>
                                          <p:attrName>ppt_h</p:attrName>
                                        </p:attrNameLst>
                                      </p:cBhvr>
                                      <p:tavLst>
                                        <p:tav tm="0">
                                          <p:val>
                                            <p:fltVal val="0"/>
                                          </p:val>
                                        </p:tav>
                                        <p:tav tm="100000">
                                          <p:val>
                                            <p:strVal val="#ppt_h"/>
                                          </p:val>
                                        </p:tav>
                                      </p:tavLst>
                                    </p:anim>
                                  </p:childTnLst>
                                </p:cTn>
                              </p:par>
                              <p:par>
                                <p:cTn id="74" presetID="23" presetClass="entr" presetSubtype="16" fill="hold" grpId="0" nodeType="withEffect">
                                  <p:stCondLst>
                                    <p:cond delay="0"/>
                                  </p:stCondLst>
                                  <p:childTnLst>
                                    <p:set>
                                      <p:cBhvr>
                                        <p:cTn id="75" dur="1" fill="hold">
                                          <p:stCondLst>
                                            <p:cond delay="0"/>
                                          </p:stCondLst>
                                        </p:cTn>
                                        <p:tgtEl>
                                          <p:spTgt spid="24"/>
                                        </p:tgtEl>
                                        <p:attrNameLst>
                                          <p:attrName>style.visibility</p:attrName>
                                        </p:attrNameLst>
                                      </p:cBhvr>
                                      <p:to>
                                        <p:strVal val="visible"/>
                                      </p:to>
                                    </p:set>
                                    <p:anim calcmode="lin" valueType="num">
                                      <p:cBhvr>
                                        <p:cTn id="76" dur="400" fill="hold"/>
                                        <p:tgtEl>
                                          <p:spTgt spid="24"/>
                                        </p:tgtEl>
                                        <p:attrNameLst>
                                          <p:attrName>ppt_w</p:attrName>
                                        </p:attrNameLst>
                                      </p:cBhvr>
                                      <p:tavLst>
                                        <p:tav tm="0">
                                          <p:val>
                                            <p:fltVal val="0"/>
                                          </p:val>
                                        </p:tav>
                                        <p:tav tm="100000">
                                          <p:val>
                                            <p:strVal val="#ppt_w"/>
                                          </p:val>
                                        </p:tav>
                                      </p:tavLst>
                                    </p:anim>
                                    <p:anim calcmode="lin" valueType="num">
                                      <p:cBhvr>
                                        <p:cTn id="77" dur="400" fill="hold"/>
                                        <p:tgtEl>
                                          <p:spTgt spid="24"/>
                                        </p:tgtEl>
                                        <p:attrNameLst>
                                          <p:attrName>ppt_h</p:attrName>
                                        </p:attrNameLst>
                                      </p:cBhvr>
                                      <p:tavLst>
                                        <p:tav tm="0">
                                          <p:val>
                                            <p:fltVal val="0"/>
                                          </p:val>
                                        </p:tav>
                                        <p:tav tm="100000">
                                          <p:val>
                                            <p:strVal val="#ppt_h"/>
                                          </p:val>
                                        </p:tav>
                                      </p:tavLst>
                                    </p:anim>
                                  </p:childTnLst>
                                </p:cTn>
                              </p:par>
                            </p:childTnLst>
                          </p:cTn>
                        </p:par>
                        <p:par>
                          <p:cTn id="78" fill="hold">
                            <p:stCondLst>
                              <p:cond delay="3500"/>
                            </p:stCondLst>
                            <p:childTnLst>
                              <p:par>
                                <p:cTn id="79" presetID="10" presetClass="entr" presetSubtype="0" fill="hold" nodeType="afterEffect">
                                  <p:stCondLst>
                                    <p:cond delay="0"/>
                                  </p:stCondLst>
                                  <p:childTnLst>
                                    <p:set>
                                      <p:cBhvr>
                                        <p:cTn id="80" dur="1" fill="hold">
                                          <p:stCondLst>
                                            <p:cond delay="0"/>
                                          </p:stCondLst>
                                        </p:cTn>
                                        <p:tgtEl>
                                          <p:spTgt spid="18"/>
                                        </p:tgtEl>
                                        <p:attrNameLst>
                                          <p:attrName>style.visibility</p:attrName>
                                        </p:attrNameLst>
                                      </p:cBhvr>
                                      <p:to>
                                        <p:strVal val="visible"/>
                                      </p:to>
                                    </p:set>
                                    <p:animEffect transition="in" filter="fade">
                                      <p:cBhvr>
                                        <p:cTn id="81" dur="500"/>
                                        <p:tgtEl>
                                          <p:spTgt spid="18"/>
                                        </p:tgtEl>
                                      </p:cBhvr>
                                    </p:animEffect>
                                  </p:childTnLst>
                                </p:cTn>
                              </p:par>
                              <p:par>
                                <p:cTn id="82" presetID="23" presetClass="entr" presetSubtype="16" fill="hold" nodeType="withEffect">
                                  <p:stCondLst>
                                    <p:cond delay="0"/>
                                  </p:stCondLst>
                                  <p:childTnLst>
                                    <p:set>
                                      <p:cBhvr>
                                        <p:cTn id="83" dur="1" fill="hold">
                                          <p:stCondLst>
                                            <p:cond delay="0"/>
                                          </p:stCondLst>
                                        </p:cTn>
                                        <p:tgtEl>
                                          <p:spTgt spid="25"/>
                                        </p:tgtEl>
                                        <p:attrNameLst>
                                          <p:attrName>style.visibility</p:attrName>
                                        </p:attrNameLst>
                                      </p:cBhvr>
                                      <p:to>
                                        <p:strVal val="visible"/>
                                      </p:to>
                                    </p:set>
                                    <p:anim calcmode="lin" valueType="num">
                                      <p:cBhvr>
                                        <p:cTn id="84" dur="400" fill="hold"/>
                                        <p:tgtEl>
                                          <p:spTgt spid="25"/>
                                        </p:tgtEl>
                                        <p:attrNameLst>
                                          <p:attrName>ppt_w</p:attrName>
                                        </p:attrNameLst>
                                      </p:cBhvr>
                                      <p:tavLst>
                                        <p:tav tm="0">
                                          <p:val>
                                            <p:fltVal val="0"/>
                                          </p:val>
                                        </p:tav>
                                        <p:tav tm="100000">
                                          <p:val>
                                            <p:strVal val="#ppt_w"/>
                                          </p:val>
                                        </p:tav>
                                      </p:tavLst>
                                    </p:anim>
                                    <p:anim calcmode="lin" valueType="num">
                                      <p:cBhvr>
                                        <p:cTn id="85" dur="400" fill="hold"/>
                                        <p:tgtEl>
                                          <p:spTgt spid="25"/>
                                        </p:tgtEl>
                                        <p:attrNameLst>
                                          <p:attrName>ppt_h</p:attrName>
                                        </p:attrNameLst>
                                      </p:cBhvr>
                                      <p:tavLst>
                                        <p:tav tm="0">
                                          <p:val>
                                            <p:fltVal val="0"/>
                                          </p:val>
                                        </p:tav>
                                        <p:tav tm="100000">
                                          <p:val>
                                            <p:strVal val="#ppt_h"/>
                                          </p:val>
                                        </p:tav>
                                      </p:tavLst>
                                    </p:anim>
                                  </p:childTnLst>
                                </p:cTn>
                              </p:par>
                              <p:par>
                                <p:cTn id="86" presetID="23" presetClass="entr" presetSubtype="16" fill="hold" grpId="0" nodeType="withEffect">
                                  <p:stCondLst>
                                    <p:cond delay="0"/>
                                  </p:stCondLst>
                                  <p:childTnLst>
                                    <p:set>
                                      <p:cBhvr>
                                        <p:cTn id="87" dur="1" fill="hold">
                                          <p:stCondLst>
                                            <p:cond delay="0"/>
                                          </p:stCondLst>
                                        </p:cTn>
                                        <p:tgtEl>
                                          <p:spTgt spid="26"/>
                                        </p:tgtEl>
                                        <p:attrNameLst>
                                          <p:attrName>style.visibility</p:attrName>
                                        </p:attrNameLst>
                                      </p:cBhvr>
                                      <p:to>
                                        <p:strVal val="visible"/>
                                      </p:to>
                                    </p:set>
                                    <p:anim calcmode="lin" valueType="num">
                                      <p:cBhvr>
                                        <p:cTn id="88" dur="400" fill="hold"/>
                                        <p:tgtEl>
                                          <p:spTgt spid="26"/>
                                        </p:tgtEl>
                                        <p:attrNameLst>
                                          <p:attrName>ppt_w</p:attrName>
                                        </p:attrNameLst>
                                      </p:cBhvr>
                                      <p:tavLst>
                                        <p:tav tm="0">
                                          <p:val>
                                            <p:fltVal val="0"/>
                                          </p:val>
                                        </p:tav>
                                        <p:tav tm="100000">
                                          <p:val>
                                            <p:strVal val="#ppt_w"/>
                                          </p:val>
                                        </p:tav>
                                      </p:tavLst>
                                    </p:anim>
                                    <p:anim calcmode="lin" valueType="num">
                                      <p:cBhvr>
                                        <p:cTn id="89" dur="400" fill="hold"/>
                                        <p:tgtEl>
                                          <p:spTgt spid="26"/>
                                        </p:tgtEl>
                                        <p:attrNameLst>
                                          <p:attrName>ppt_h</p:attrName>
                                        </p:attrNameLst>
                                      </p:cBhvr>
                                      <p:tavLst>
                                        <p:tav tm="0">
                                          <p:val>
                                            <p:fltVal val="0"/>
                                          </p:val>
                                        </p:tav>
                                        <p:tav tm="100000">
                                          <p:val>
                                            <p:strVal val="#ppt_h"/>
                                          </p:val>
                                        </p:tav>
                                      </p:tavLst>
                                    </p:anim>
                                  </p:childTnLst>
                                </p:cTn>
                              </p:par>
                            </p:childTnLst>
                          </p:cTn>
                        </p:par>
                        <p:par>
                          <p:cTn id="90" fill="hold">
                            <p:stCondLst>
                              <p:cond delay="4000"/>
                            </p:stCondLst>
                            <p:childTnLst>
                              <p:par>
                                <p:cTn id="91" presetID="10" presetClass="entr" presetSubtype="0" fill="hold" nodeType="afterEffect">
                                  <p:stCondLst>
                                    <p:cond delay="0"/>
                                  </p:stCondLst>
                                  <p:childTnLst>
                                    <p:set>
                                      <p:cBhvr>
                                        <p:cTn id="92" dur="1" fill="hold">
                                          <p:stCondLst>
                                            <p:cond delay="0"/>
                                          </p:stCondLst>
                                        </p:cTn>
                                        <p:tgtEl>
                                          <p:spTgt spid="19"/>
                                        </p:tgtEl>
                                        <p:attrNameLst>
                                          <p:attrName>style.visibility</p:attrName>
                                        </p:attrNameLst>
                                      </p:cBhvr>
                                      <p:to>
                                        <p:strVal val="visible"/>
                                      </p:to>
                                    </p:set>
                                    <p:animEffect transition="in" filter="fade">
                                      <p:cBhvr>
                                        <p:cTn id="93" dur="500"/>
                                        <p:tgtEl>
                                          <p:spTgt spid="19"/>
                                        </p:tgtEl>
                                      </p:cBhvr>
                                    </p:animEffect>
                                  </p:childTnLst>
                                </p:cTn>
                              </p:par>
                              <p:par>
                                <p:cTn id="94" presetID="23" presetClass="entr" presetSubtype="16" fill="hold" nodeType="withEffect">
                                  <p:stCondLst>
                                    <p:cond delay="0"/>
                                  </p:stCondLst>
                                  <p:childTnLst>
                                    <p:set>
                                      <p:cBhvr>
                                        <p:cTn id="95" dur="1" fill="hold">
                                          <p:stCondLst>
                                            <p:cond delay="0"/>
                                          </p:stCondLst>
                                        </p:cTn>
                                        <p:tgtEl>
                                          <p:spTgt spid="27"/>
                                        </p:tgtEl>
                                        <p:attrNameLst>
                                          <p:attrName>style.visibility</p:attrName>
                                        </p:attrNameLst>
                                      </p:cBhvr>
                                      <p:to>
                                        <p:strVal val="visible"/>
                                      </p:to>
                                    </p:set>
                                    <p:anim calcmode="lin" valueType="num">
                                      <p:cBhvr>
                                        <p:cTn id="96" dur="400" fill="hold"/>
                                        <p:tgtEl>
                                          <p:spTgt spid="27"/>
                                        </p:tgtEl>
                                        <p:attrNameLst>
                                          <p:attrName>ppt_w</p:attrName>
                                        </p:attrNameLst>
                                      </p:cBhvr>
                                      <p:tavLst>
                                        <p:tav tm="0">
                                          <p:val>
                                            <p:fltVal val="0"/>
                                          </p:val>
                                        </p:tav>
                                        <p:tav tm="100000">
                                          <p:val>
                                            <p:strVal val="#ppt_w"/>
                                          </p:val>
                                        </p:tav>
                                      </p:tavLst>
                                    </p:anim>
                                    <p:anim calcmode="lin" valueType="num">
                                      <p:cBhvr>
                                        <p:cTn id="97" dur="400" fill="hold"/>
                                        <p:tgtEl>
                                          <p:spTgt spid="27"/>
                                        </p:tgtEl>
                                        <p:attrNameLst>
                                          <p:attrName>ppt_h</p:attrName>
                                        </p:attrNameLst>
                                      </p:cBhvr>
                                      <p:tavLst>
                                        <p:tav tm="0">
                                          <p:val>
                                            <p:fltVal val="0"/>
                                          </p:val>
                                        </p:tav>
                                        <p:tav tm="100000">
                                          <p:val>
                                            <p:strVal val="#ppt_h"/>
                                          </p:val>
                                        </p:tav>
                                      </p:tavLst>
                                    </p:anim>
                                  </p:childTnLst>
                                </p:cTn>
                              </p:par>
                              <p:par>
                                <p:cTn id="98" presetID="23" presetClass="entr" presetSubtype="16" fill="hold" grpId="0" nodeType="withEffect">
                                  <p:stCondLst>
                                    <p:cond delay="0"/>
                                  </p:stCondLst>
                                  <p:childTnLst>
                                    <p:set>
                                      <p:cBhvr>
                                        <p:cTn id="99" dur="1" fill="hold">
                                          <p:stCondLst>
                                            <p:cond delay="0"/>
                                          </p:stCondLst>
                                        </p:cTn>
                                        <p:tgtEl>
                                          <p:spTgt spid="28"/>
                                        </p:tgtEl>
                                        <p:attrNameLst>
                                          <p:attrName>style.visibility</p:attrName>
                                        </p:attrNameLst>
                                      </p:cBhvr>
                                      <p:to>
                                        <p:strVal val="visible"/>
                                      </p:to>
                                    </p:set>
                                    <p:anim calcmode="lin" valueType="num">
                                      <p:cBhvr>
                                        <p:cTn id="100" dur="400" fill="hold"/>
                                        <p:tgtEl>
                                          <p:spTgt spid="28"/>
                                        </p:tgtEl>
                                        <p:attrNameLst>
                                          <p:attrName>ppt_w</p:attrName>
                                        </p:attrNameLst>
                                      </p:cBhvr>
                                      <p:tavLst>
                                        <p:tav tm="0">
                                          <p:val>
                                            <p:fltVal val="0"/>
                                          </p:val>
                                        </p:tav>
                                        <p:tav tm="100000">
                                          <p:val>
                                            <p:strVal val="#ppt_w"/>
                                          </p:val>
                                        </p:tav>
                                      </p:tavLst>
                                    </p:anim>
                                    <p:anim calcmode="lin" valueType="num">
                                      <p:cBhvr>
                                        <p:cTn id="101" dur="400" fill="hold"/>
                                        <p:tgtEl>
                                          <p:spTgt spid="28"/>
                                        </p:tgtEl>
                                        <p:attrNameLst>
                                          <p:attrName>ppt_h</p:attrName>
                                        </p:attrNameLst>
                                      </p:cBhvr>
                                      <p:tavLst>
                                        <p:tav tm="0">
                                          <p:val>
                                            <p:fltVal val="0"/>
                                          </p:val>
                                        </p:tav>
                                        <p:tav tm="100000">
                                          <p:val>
                                            <p:strVal val="#ppt_h"/>
                                          </p:val>
                                        </p:tav>
                                      </p:tavLst>
                                    </p:anim>
                                  </p:childTnLst>
                                </p:cTn>
                              </p:par>
                            </p:childTnLst>
                          </p:cTn>
                        </p:par>
                        <p:par>
                          <p:cTn id="102" fill="hold">
                            <p:stCondLst>
                              <p:cond delay="4500"/>
                            </p:stCondLst>
                            <p:childTnLst>
                              <p:par>
                                <p:cTn id="103" presetID="10" presetClass="entr" presetSubtype="0" fill="hold" nodeType="afterEffect">
                                  <p:stCondLst>
                                    <p:cond delay="0"/>
                                  </p:stCondLst>
                                  <p:childTnLst>
                                    <p:set>
                                      <p:cBhvr>
                                        <p:cTn id="104" dur="1" fill="hold">
                                          <p:stCondLst>
                                            <p:cond delay="0"/>
                                          </p:stCondLst>
                                        </p:cTn>
                                        <p:tgtEl>
                                          <p:spTgt spid="20"/>
                                        </p:tgtEl>
                                        <p:attrNameLst>
                                          <p:attrName>style.visibility</p:attrName>
                                        </p:attrNameLst>
                                      </p:cBhvr>
                                      <p:to>
                                        <p:strVal val="visible"/>
                                      </p:to>
                                    </p:set>
                                    <p:animEffect transition="in" filter="fade">
                                      <p:cBhvr>
                                        <p:cTn id="105" dur="500"/>
                                        <p:tgtEl>
                                          <p:spTgt spid="20"/>
                                        </p:tgtEl>
                                      </p:cBhvr>
                                    </p:animEffect>
                                  </p:childTnLst>
                                </p:cTn>
                              </p:par>
                              <p:par>
                                <p:cTn id="106" presetID="23" presetClass="entr" presetSubtype="16" fill="hold" nodeType="withEffect">
                                  <p:stCondLst>
                                    <p:cond delay="0"/>
                                  </p:stCondLst>
                                  <p:childTnLst>
                                    <p:set>
                                      <p:cBhvr>
                                        <p:cTn id="107" dur="1" fill="hold">
                                          <p:stCondLst>
                                            <p:cond delay="0"/>
                                          </p:stCondLst>
                                        </p:cTn>
                                        <p:tgtEl>
                                          <p:spTgt spid="29"/>
                                        </p:tgtEl>
                                        <p:attrNameLst>
                                          <p:attrName>style.visibility</p:attrName>
                                        </p:attrNameLst>
                                      </p:cBhvr>
                                      <p:to>
                                        <p:strVal val="visible"/>
                                      </p:to>
                                    </p:set>
                                    <p:anim calcmode="lin" valueType="num">
                                      <p:cBhvr>
                                        <p:cTn id="108" dur="400" fill="hold"/>
                                        <p:tgtEl>
                                          <p:spTgt spid="29"/>
                                        </p:tgtEl>
                                        <p:attrNameLst>
                                          <p:attrName>ppt_w</p:attrName>
                                        </p:attrNameLst>
                                      </p:cBhvr>
                                      <p:tavLst>
                                        <p:tav tm="0">
                                          <p:val>
                                            <p:fltVal val="0"/>
                                          </p:val>
                                        </p:tav>
                                        <p:tav tm="100000">
                                          <p:val>
                                            <p:strVal val="#ppt_w"/>
                                          </p:val>
                                        </p:tav>
                                      </p:tavLst>
                                    </p:anim>
                                    <p:anim calcmode="lin" valueType="num">
                                      <p:cBhvr>
                                        <p:cTn id="109" dur="400" fill="hold"/>
                                        <p:tgtEl>
                                          <p:spTgt spid="29"/>
                                        </p:tgtEl>
                                        <p:attrNameLst>
                                          <p:attrName>ppt_h</p:attrName>
                                        </p:attrNameLst>
                                      </p:cBhvr>
                                      <p:tavLst>
                                        <p:tav tm="0">
                                          <p:val>
                                            <p:fltVal val="0"/>
                                          </p:val>
                                        </p:tav>
                                        <p:tav tm="100000">
                                          <p:val>
                                            <p:strVal val="#ppt_h"/>
                                          </p:val>
                                        </p:tav>
                                      </p:tavLst>
                                    </p:anim>
                                  </p:childTnLst>
                                </p:cTn>
                              </p:par>
                              <p:par>
                                <p:cTn id="110" presetID="23" presetClass="entr" presetSubtype="16" fill="hold" grpId="0" nodeType="withEffect">
                                  <p:stCondLst>
                                    <p:cond delay="0"/>
                                  </p:stCondLst>
                                  <p:childTnLst>
                                    <p:set>
                                      <p:cBhvr>
                                        <p:cTn id="111" dur="1" fill="hold">
                                          <p:stCondLst>
                                            <p:cond delay="0"/>
                                          </p:stCondLst>
                                        </p:cTn>
                                        <p:tgtEl>
                                          <p:spTgt spid="30"/>
                                        </p:tgtEl>
                                        <p:attrNameLst>
                                          <p:attrName>style.visibility</p:attrName>
                                        </p:attrNameLst>
                                      </p:cBhvr>
                                      <p:to>
                                        <p:strVal val="visible"/>
                                      </p:to>
                                    </p:set>
                                    <p:anim calcmode="lin" valueType="num">
                                      <p:cBhvr>
                                        <p:cTn id="112" dur="400" fill="hold"/>
                                        <p:tgtEl>
                                          <p:spTgt spid="30"/>
                                        </p:tgtEl>
                                        <p:attrNameLst>
                                          <p:attrName>ppt_w</p:attrName>
                                        </p:attrNameLst>
                                      </p:cBhvr>
                                      <p:tavLst>
                                        <p:tav tm="0">
                                          <p:val>
                                            <p:fltVal val="0"/>
                                          </p:val>
                                        </p:tav>
                                        <p:tav tm="100000">
                                          <p:val>
                                            <p:strVal val="#ppt_w"/>
                                          </p:val>
                                        </p:tav>
                                      </p:tavLst>
                                    </p:anim>
                                    <p:anim calcmode="lin" valueType="num">
                                      <p:cBhvr>
                                        <p:cTn id="113" dur="400" fill="hold"/>
                                        <p:tgtEl>
                                          <p:spTgt spid="30"/>
                                        </p:tgtEl>
                                        <p:attrNameLst>
                                          <p:attrName>ppt_h</p:attrName>
                                        </p:attrNameLst>
                                      </p:cBhvr>
                                      <p:tavLst>
                                        <p:tav tm="0">
                                          <p:val>
                                            <p:fltVal val="0"/>
                                          </p:val>
                                        </p:tav>
                                        <p:tav tm="100000">
                                          <p:val>
                                            <p:strVal val="#ppt_h"/>
                                          </p:val>
                                        </p:tav>
                                      </p:tavLst>
                                    </p:anim>
                                  </p:childTnLst>
                                </p:cTn>
                              </p:par>
                            </p:childTnLst>
                          </p:cTn>
                        </p:par>
                        <p:par>
                          <p:cTn id="114" fill="hold">
                            <p:stCondLst>
                              <p:cond delay="5000"/>
                            </p:stCondLst>
                            <p:childTnLst>
                              <p:par>
                                <p:cTn id="115" presetID="23" presetClass="entr" presetSubtype="16" fill="hold" nodeType="afterEffect">
                                  <p:stCondLst>
                                    <p:cond delay="0"/>
                                  </p:stCondLst>
                                  <p:childTnLst>
                                    <p:set>
                                      <p:cBhvr>
                                        <p:cTn id="116" dur="1" fill="hold">
                                          <p:stCondLst>
                                            <p:cond delay="0"/>
                                          </p:stCondLst>
                                        </p:cTn>
                                        <p:tgtEl>
                                          <p:spTgt spid="31"/>
                                        </p:tgtEl>
                                        <p:attrNameLst>
                                          <p:attrName>style.visibility</p:attrName>
                                        </p:attrNameLst>
                                      </p:cBhvr>
                                      <p:to>
                                        <p:strVal val="visible"/>
                                      </p:to>
                                    </p:set>
                                    <p:anim calcmode="lin" valueType="num">
                                      <p:cBhvr>
                                        <p:cTn id="117" dur="400" fill="hold"/>
                                        <p:tgtEl>
                                          <p:spTgt spid="31"/>
                                        </p:tgtEl>
                                        <p:attrNameLst>
                                          <p:attrName>ppt_w</p:attrName>
                                        </p:attrNameLst>
                                      </p:cBhvr>
                                      <p:tavLst>
                                        <p:tav tm="0">
                                          <p:val>
                                            <p:fltVal val="0"/>
                                          </p:val>
                                        </p:tav>
                                        <p:tav tm="100000">
                                          <p:val>
                                            <p:strVal val="#ppt_w"/>
                                          </p:val>
                                        </p:tav>
                                      </p:tavLst>
                                    </p:anim>
                                    <p:anim calcmode="lin" valueType="num">
                                      <p:cBhvr>
                                        <p:cTn id="118" dur="400" fill="hold"/>
                                        <p:tgtEl>
                                          <p:spTgt spid="31"/>
                                        </p:tgtEl>
                                        <p:attrNameLst>
                                          <p:attrName>ppt_h</p:attrName>
                                        </p:attrNameLst>
                                      </p:cBhvr>
                                      <p:tavLst>
                                        <p:tav tm="0">
                                          <p:val>
                                            <p:fltVal val="0"/>
                                          </p:val>
                                        </p:tav>
                                        <p:tav tm="100000">
                                          <p:val>
                                            <p:strVal val="#ppt_h"/>
                                          </p:val>
                                        </p:tav>
                                      </p:tavLst>
                                    </p:anim>
                                  </p:childTnLst>
                                </p:cTn>
                              </p:par>
                              <p:par>
                                <p:cTn id="119" presetID="23" presetClass="entr" presetSubtype="16" fill="hold" grpId="0" nodeType="withEffect">
                                  <p:stCondLst>
                                    <p:cond delay="0"/>
                                  </p:stCondLst>
                                  <p:childTnLst>
                                    <p:set>
                                      <p:cBhvr>
                                        <p:cTn id="120" dur="1" fill="hold">
                                          <p:stCondLst>
                                            <p:cond delay="0"/>
                                          </p:stCondLst>
                                        </p:cTn>
                                        <p:tgtEl>
                                          <p:spTgt spid="32"/>
                                        </p:tgtEl>
                                        <p:attrNameLst>
                                          <p:attrName>style.visibility</p:attrName>
                                        </p:attrNameLst>
                                      </p:cBhvr>
                                      <p:to>
                                        <p:strVal val="visible"/>
                                      </p:to>
                                    </p:set>
                                    <p:anim calcmode="lin" valueType="num">
                                      <p:cBhvr>
                                        <p:cTn id="121" dur="400" fill="hold"/>
                                        <p:tgtEl>
                                          <p:spTgt spid="32"/>
                                        </p:tgtEl>
                                        <p:attrNameLst>
                                          <p:attrName>ppt_w</p:attrName>
                                        </p:attrNameLst>
                                      </p:cBhvr>
                                      <p:tavLst>
                                        <p:tav tm="0">
                                          <p:val>
                                            <p:fltVal val="0"/>
                                          </p:val>
                                        </p:tav>
                                        <p:tav tm="100000">
                                          <p:val>
                                            <p:strVal val="#ppt_w"/>
                                          </p:val>
                                        </p:tav>
                                      </p:tavLst>
                                    </p:anim>
                                    <p:anim calcmode="lin" valueType="num">
                                      <p:cBhvr>
                                        <p:cTn id="122" dur="400" fill="hold"/>
                                        <p:tgtEl>
                                          <p:spTgt spid="32"/>
                                        </p:tgtEl>
                                        <p:attrNameLst>
                                          <p:attrName>ppt_h</p:attrName>
                                        </p:attrNameLst>
                                      </p:cBhvr>
                                      <p:tavLst>
                                        <p:tav tm="0">
                                          <p:val>
                                            <p:fltVal val="0"/>
                                          </p:val>
                                        </p:tav>
                                        <p:tav tm="100000">
                                          <p:val>
                                            <p:strVal val="#ppt_h"/>
                                          </p:val>
                                        </p:tav>
                                      </p:tavLst>
                                    </p:anim>
                                  </p:childTnLst>
                                </p:cTn>
                              </p:par>
                            </p:childTnLst>
                          </p:cTn>
                        </p:par>
                        <p:par>
                          <p:cTn id="123" fill="hold">
                            <p:stCondLst>
                              <p:cond delay="5400"/>
                            </p:stCondLst>
                            <p:childTnLst>
                              <p:par>
                                <p:cTn id="124" presetID="10" presetClass="entr" presetSubtype="0" fill="hold" grpId="0" nodeType="afterEffect">
                                  <p:stCondLst>
                                    <p:cond delay="0"/>
                                  </p:stCondLst>
                                  <p:childTnLst>
                                    <p:set>
                                      <p:cBhvr>
                                        <p:cTn id="125" dur="1" fill="hold">
                                          <p:stCondLst>
                                            <p:cond delay="0"/>
                                          </p:stCondLst>
                                        </p:cTn>
                                        <p:tgtEl>
                                          <p:spTgt spid="15"/>
                                        </p:tgtEl>
                                        <p:attrNameLst>
                                          <p:attrName>style.visibility</p:attrName>
                                        </p:attrNameLst>
                                      </p:cBhvr>
                                      <p:to>
                                        <p:strVal val="visible"/>
                                      </p:to>
                                    </p:set>
                                    <p:animEffect transition="in" filter="fade">
                                      <p:cBhvr>
                                        <p:cTn id="12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10" grpId="0" animBg="1"/>
      <p:bldP spid="11" grpId="0" animBg="1"/>
      <p:bldP spid="13" grpId="0" animBg="1"/>
      <p:bldP spid="14" grpId="0" animBg="1"/>
      <p:bldP spid="15" grpId="0" animBg="1"/>
      <p:bldP spid="22" grpId="0" animBg="1"/>
      <p:bldP spid="24" grpId="0" animBg="1"/>
      <p:bldP spid="26" grpId="0" animBg="1"/>
      <p:bldP spid="28" grpId="0" animBg="1"/>
      <p:bldP spid="30" grpId="0" animBg="1"/>
      <p:bldP spid="3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0D"/>
        </a:solidFill>
        <a:effectLst/>
      </p:bgPr>
    </p:bg>
    <p:spTree>
      <p:nvGrpSpPr>
        <p:cNvPr id="1" name=""/>
        <p:cNvGrpSpPr/>
        <p:nvPr/>
      </p:nvGrpSpPr>
      <p:grpSpPr>
        <a:xfrm>
          <a:off x="0" y="0"/>
          <a:ext cx="0" cy="0"/>
          <a:chOff x="0" y="0"/>
          <a:chExt cx="0" cy="0"/>
        </a:xfrm>
      </p:grpSpPr>
      <p:sp>
        <p:nvSpPr>
          <p:cNvPr id="2" name="Glow"/>
          <p:cNvSpPr/>
          <p:nvPr/>
        </p:nvSpPr>
        <p:spPr>
          <a:xfrm>
            <a:off x="6583680" y="-1463040"/>
            <a:ext cx="3840480" cy="3840480"/>
          </a:xfrm>
          <a:prstGeom prst="ellipse">
            <a:avLst/>
          </a:prstGeom>
          <a:solidFill>
            <a:srgbClr val="34D399">
              <a:alpha val="6000"/>
            </a:srgbClr>
          </a:solidFill>
          <a:ln w="12700">
            <a:solidFill>
              <a:srgbClr val="34D399">
                <a:alpha val="0"/>
              </a:srgbClr>
            </a:solidFill>
            <a:prstDash val="solid"/>
          </a:ln>
        </p:spPr>
      </p:sp>
      <p:sp>
        <p:nvSpPr>
          <p:cNvPr id="3" name="a00_fade_kicker"/>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300" dirty="0">
                <a:solidFill>
                  <a:srgbClr val="34D399"/>
                </a:solidFill>
                <a:latin typeface="Calibri" pitchFamily="34" charset="0"/>
                <a:ea typeface="Calibri" pitchFamily="34" charset="-122"/>
                <a:cs typeface="Calibri" pitchFamily="34" charset="-120"/>
              </a:rPr>
              <a:t>THE PROBLEM</a:t>
            </a:r>
            <a:endParaRPr lang="en-US" sz="1100" dirty="0"/>
          </a:p>
        </p:txBody>
      </p:sp>
      <p:sp>
        <p:nvSpPr>
          <p:cNvPr id="4" name="a00_fade_title"/>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FROM GUT FEEL TO A COUNCIL</a:t>
            </a:r>
            <a:endParaRPr lang="en-US" sz="2800" dirty="0"/>
          </a:p>
        </p:txBody>
      </p:sp>
      <p:sp>
        <p:nvSpPr>
          <p:cNvPr id="6" name="a01_flyL_prob0"/>
          <p:cNvSpPr/>
          <p:nvPr/>
        </p:nvSpPr>
        <p:spPr>
          <a:xfrm>
            <a:off x="457200" y="1234440"/>
            <a:ext cx="3566160" cy="822960"/>
          </a:xfrm>
          <a:prstGeom prst="roundRect">
            <a:avLst>
              <a:gd name="adj" fmla="val 8889"/>
            </a:avLst>
          </a:prstGeom>
          <a:solidFill>
            <a:srgbClr val="151B18"/>
          </a:solidFill>
          <a:ln w="12700">
            <a:solidFill>
              <a:srgbClr val="26332D"/>
            </a:solidFill>
            <a:prstDash val="solid"/>
          </a:ln>
        </p:spPr>
      </p:sp>
      <p:sp>
        <p:nvSpPr>
          <p:cNvPr id="7" name="a01_flyL_prob0"/>
          <p:cNvSpPr/>
          <p:nvPr/>
        </p:nvSpPr>
        <p:spPr>
          <a:xfrm>
            <a:off x="640080" y="1463040"/>
            <a:ext cx="365760" cy="365760"/>
          </a:xfrm>
          <a:prstGeom prst="ellipse">
            <a:avLst/>
          </a:prstGeom>
          <a:solidFill>
            <a:srgbClr val="F87171"/>
          </a:solidFill>
          <a:ln w="6350">
            <a:solidFill>
              <a:srgbClr val="F87171"/>
            </a:solidFill>
            <a:prstDash val="solid"/>
          </a:ln>
        </p:spPr>
      </p:sp>
      <p:sp>
        <p:nvSpPr>
          <p:cNvPr id="8" name="a01_flyL_prob0"/>
          <p:cNvSpPr txBox="1"/>
          <p:nvPr/>
        </p:nvSpPr>
        <p:spPr>
          <a:xfrm>
            <a:off x="640080" y="1463040"/>
            <a:ext cx="365760" cy="365760"/>
          </a:xfrm>
          <a:prstGeom prst="rect">
            <a:avLst/>
          </a:prstGeom>
          <a:noFill/>
          <a:ln/>
        </p:spPr>
        <p:txBody>
          <a:bodyPr wrap="square" lIns="0" tIns="0" rIns="0" bIns="0" rtlCol="0" anchor="ctr"/>
          <a:lstStyle/>
          <a:p>
            <a:pPr marL="0" indent="0" algn="ctr">
              <a:buNone/>
            </a:pPr>
            <a:r>
              <a:rPr lang="en-US" sz="1300" b="1" dirty="0">
                <a:solidFill>
                  <a:srgbClr val="0B0F0D"/>
                </a:solidFill>
                <a:latin typeface="Calibri" pitchFamily="34" charset="0"/>
                <a:ea typeface="Calibri" pitchFamily="34" charset="-122"/>
                <a:cs typeface="Calibri" pitchFamily="34" charset="-120"/>
              </a:rPr>
              <a:t>✕</a:t>
            </a:r>
            <a:endParaRPr lang="en-US" sz="1300" dirty="0"/>
          </a:p>
        </p:txBody>
      </p:sp>
      <p:sp>
        <p:nvSpPr>
          <p:cNvPr id="9" name="a01_flyL_prob0"/>
          <p:cNvSpPr txBox="1"/>
          <p:nvPr/>
        </p:nvSpPr>
        <p:spPr>
          <a:xfrm>
            <a:off x="1188720" y="1344168"/>
            <a:ext cx="274320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Gut-feel picks</a:t>
            </a:r>
            <a:endParaRPr lang="en-US" sz="1500" dirty="0"/>
          </a:p>
        </p:txBody>
      </p:sp>
      <p:sp>
        <p:nvSpPr>
          <p:cNvPr id="10" name="a01_flyL_prob0"/>
          <p:cNvSpPr txBox="1"/>
          <p:nvPr/>
        </p:nvSpPr>
        <p:spPr>
          <a:xfrm>
            <a:off x="1188720" y="1664208"/>
            <a:ext cx="2743200" cy="274320"/>
          </a:xfrm>
          <a:prstGeom prst="rect">
            <a:avLst/>
          </a:prstGeom>
          <a:noFill/>
          <a:ln/>
        </p:spPr>
        <p:txBody>
          <a:bodyPr wrap="square" lIns="0" tIns="0" rIns="0" bIns="0" rtlCol="0" anchor="ctr"/>
          <a:lstStyle/>
          <a:p>
            <a:pPr marL="0" indent="0">
              <a:buNone/>
            </a:pPr>
            <a:r>
              <a:rPr lang="en-US" sz="1200" dirty="0">
                <a:solidFill>
                  <a:srgbClr val="A3ADA8"/>
                </a:solidFill>
                <a:latin typeface="Calibri" pitchFamily="34" charset="0"/>
                <a:ea typeface="Calibri" pitchFamily="34" charset="-122"/>
                <a:cs typeface="Calibri" pitchFamily="34" charset="-120"/>
              </a:rPr>
              <a:t>No consistent way to judge audience fit</a:t>
            </a:r>
            <a:endParaRPr lang="en-US" sz="1200" dirty="0"/>
          </a:p>
        </p:txBody>
      </p:sp>
      <p:sp>
        <p:nvSpPr>
          <p:cNvPr id="11" name="a02_flyL_prob1"/>
          <p:cNvSpPr/>
          <p:nvPr/>
        </p:nvSpPr>
        <p:spPr>
          <a:xfrm>
            <a:off x="457200" y="2221992"/>
            <a:ext cx="3566160" cy="822960"/>
          </a:xfrm>
          <a:prstGeom prst="roundRect">
            <a:avLst>
              <a:gd name="adj" fmla="val 8889"/>
            </a:avLst>
          </a:prstGeom>
          <a:solidFill>
            <a:srgbClr val="151B18"/>
          </a:solidFill>
          <a:ln w="12700">
            <a:solidFill>
              <a:srgbClr val="26332D"/>
            </a:solidFill>
            <a:prstDash val="solid"/>
          </a:ln>
        </p:spPr>
      </p:sp>
      <p:sp>
        <p:nvSpPr>
          <p:cNvPr id="12" name="a02_flyL_prob1"/>
          <p:cNvSpPr/>
          <p:nvPr/>
        </p:nvSpPr>
        <p:spPr>
          <a:xfrm>
            <a:off x="640080" y="2450592"/>
            <a:ext cx="365760" cy="365760"/>
          </a:xfrm>
          <a:prstGeom prst="ellipse">
            <a:avLst/>
          </a:prstGeom>
          <a:solidFill>
            <a:srgbClr val="F87171"/>
          </a:solidFill>
          <a:ln w="6350">
            <a:solidFill>
              <a:srgbClr val="F87171"/>
            </a:solidFill>
            <a:prstDash val="solid"/>
          </a:ln>
        </p:spPr>
      </p:sp>
      <p:sp>
        <p:nvSpPr>
          <p:cNvPr id="13" name="a02_flyL_prob1"/>
          <p:cNvSpPr txBox="1"/>
          <p:nvPr/>
        </p:nvSpPr>
        <p:spPr>
          <a:xfrm>
            <a:off x="640080" y="2450592"/>
            <a:ext cx="365760" cy="365760"/>
          </a:xfrm>
          <a:prstGeom prst="rect">
            <a:avLst/>
          </a:prstGeom>
          <a:noFill/>
          <a:ln/>
        </p:spPr>
        <p:txBody>
          <a:bodyPr wrap="square" lIns="0" tIns="0" rIns="0" bIns="0" rtlCol="0" anchor="ctr"/>
          <a:lstStyle/>
          <a:p>
            <a:pPr marL="0" indent="0" algn="ctr">
              <a:buNone/>
            </a:pPr>
            <a:r>
              <a:rPr lang="en-US" sz="1300" b="1" dirty="0">
                <a:solidFill>
                  <a:srgbClr val="0B0F0D"/>
                </a:solidFill>
                <a:latin typeface="Calibri" pitchFamily="34" charset="0"/>
                <a:ea typeface="Calibri" pitchFamily="34" charset="-122"/>
                <a:cs typeface="Calibri" pitchFamily="34" charset="-120"/>
              </a:rPr>
              <a:t>✕</a:t>
            </a:r>
            <a:endParaRPr lang="en-US" sz="1300" dirty="0"/>
          </a:p>
        </p:txBody>
      </p:sp>
      <p:sp>
        <p:nvSpPr>
          <p:cNvPr id="14" name="a02_flyL_prob1"/>
          <p:cNvSpPr txBox="1"/>
          <p:nvPr/>
        </p:nvSpPr>
        <p:spPr>
          <a:xfrm>
            <a:off x="1188720" y="2331720"/>
            <a:ext cx="274320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Opaque prices</a:t>
            </a:r>
            <a:endParaRPr lang="en-US" sz="1500" dirty="0"/>
          </a:p>
        </p:txBody>
      </p:sp>
      <p:sp>
        <p:nvSpPr>
          <p:cNvPr id="15" name="a02_flyL_prob1"/>
          <p:cNvSpPr txBox="1"/>
          <p:nvPr/>
        </p:nvSpPr>
        <p:spPr>
          <a:xfrm>
            <a:off x="1188720" y="2651760"/>
            <a:ext cx="2743200" cy="274320"/>
          </a:xfrm>
          <a:prstGeom prst="rect">
            <a:avLst/>
          </a:prstGeom>
          <a:noFill/>
          <a:ln/>
        </p:spPr>
        <p:txBody>
          <a:bodyPr wrap="square" lIns="0" tIns="0" rIns="0" bIns="0" rtlCol="0" anchor="ctr"/>
          <a:lstStyle/>
          <a:p>
            <a:pPr marL="0" indent="0">
              <a:buNone/>
            </a:pPr>
            <a:r>
              <a:rPr lang="en-US" sz="1200" dirty="0">
                <a:solidFill>
                  <a:srgbClr val="A3ADA8"/>
                </a:solidFill>
                <a:latin typeface="Calibri" pitchFamily="34" charset="0"/>
                <a:ea typeface="Calibri" pitchFamily="34" charset="-122"/>
                <a:cs typeface="Calibri" pitchFamily="34" charset="-120"/>
              </a:rPr>
              <a:t>Is ₹35,000 fair for this creator?</a:t>
            </a:r>
            <a:endParaRPr lang="en-US" sz="1200" dirty="0"/>
          </a:p>
        </p:txBody>
      </p:sp>
      <p:sp>
        <p:nvSpPr>
          <p:cNvPr id="16" name="a03_flyL_prob2"/>
          <p:cNvSpPr/>
          <p:nvPr/>
        </p:nvSpPr>
        <p:spPr>
          <a:xfrm>
            <a:off x="457200" y="3209544"/>
            <a:ext cx="3566160" cy="822960"/>
          </a:xfrm>
          <a:prstGeom prst="roundRect">
            <a:avLst>
              <a:gd name="adj" fmla="val 8889"/>
            </a:avLst>
          </a:prstGeom>
          <a:solidFill>
            <a:srgbClr val="151B18"/>
          </a:solidFill>
          <a:ln w="12700">
            <a:solidFill>
              <a:srgbClr val="26332D"/>
            </a:solidFill>
            <a:prstDash val="solid"/>
          </a:ln>
        </p:spPr>
      </p:sp>
      <p:sp>
        <p:nvSpPr>
          <p:cNvPr id="17" name="a03_flyL_prob2"/>
          <p:cNvSpPr/>
          <p:nvPr/>
        </p:nvSpPr>
        <p:spPr>
          <a:xfrm>
            <a:off x="640080" y="3438144"/>
            <a:ext cx="365760" cy="365760"/>
          </a:xfrm>
          <a:prstGeom prst="ellipse">
            <a:avLst/>
          </a:prstGeom>
          <a:solidFill>
            <a:srgbClr val="F87171"/>
          </a:solidFill>
          <a:ln w="6350">
            <a:solidFill>
              <a:srgbClr val="F87171"/>
            </a:solidFill>
            <a:prstDash val="solid"/>
          </a:ln>
        </p:spPr>
      </p:sp>
      <p:sp>
        <p:nvSpPr>
          <p:cNvPr id="18" name="a03_flyL_prob2"/>
          <p:cNvSpPr txBox="1"/>
          <p:nvPr/>
        </p:nvSpPr>
        <p:spPr>
          <a:xfrm>
            <a:off x="640080" y="3438144"/>
            <a:ext cx="365760" cy="365760"/>
          </a:xfrm>
          <a:prstGeom prst="rect">
            <a:avLst/>
          </a:prstGeom>
          <a:noFill/>
          <a:ln/>
        </p:spPr>
        <p:txBody>
          <a:bodyPr wrap="square" lIns="0" tIns="0" rIns="0" bIns="0" rtlCol="0" anchor="ctr"/>
          <a:lstStyle/>
          <a:p>
            <a:pPr marL="0" indent="0" algn="ctr">
              <a:buNone/>
            </a:pPr>
            <a:r>
              <a:rPr lang="en-US" sz="1300" b="1" dirty="0">
                <a:solidFill>
                  <a:srgbClr val="0B0F0D"/>
                </a:solidFill>
                <a:latin typeface="Calibri" pitchFamily="34" charset="0"/>
                <a:ea typeface="Calibri" pitchFamily="34" charset="-122"/>
                <a:cs typeface="Calibri" pitchFamily="34" charset="-120"/>
              </a:rPr>
              <a:t>✕</a:t>
            </a:r>
            <a:endParaRPr lang="en-US" sz="1300" dirty="0"/>
          </a:p>
        </p:txBody>
      </p:sp>
      <p:sp>
        <p:nvSpPr>
          <p:cNvPr id="19" name="a03_flyL_prob2"/>
          <p:cNvSpPr txBox="1"/>
          <p:nvPr/>
        </p:nvSpPr>
        <p:spPr>
          <a:xfrm>
            <a:off x="1188720" y="3319272"/>
            <a:ext cx="274320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Risky contracts</a:t>
            </a:r>
            <a:endParaRPr lang="en-US" sz="1500" dirty="0"/>
          </a:p>
        </p:txBody>
      </p:sp>
      <p:sp>
        <p:nvSpPr>
          <p:cNvPr id="20" name="a03_flyL_prob2"/>
          <p:cNvSpPr txBox="1"/>
          <p:nvPr/>
        </p:nvSpPr>
        <p:spPr>
          <a:xfrm>
            <a:off x="1188720" y="3639312"/>
            <a:ext cx="2743200" cy="274320"/>
          </a:xfrm>
          <a:prstGeom prst="rect">
            <a:avLst/>
          </a:prstGeom>
          <a:noFill/>
          <a:ln/>
        </p:spPr>
        <p:txBody>
          <a:bodyPr wrap="square" lIns="0" tIns="0" rIns="0" bIns="0" rtlCol="0" anchor="ctr"/>
          <a:lstStyle/>
          <a:p>
            <a:pPr marL="0" indent="0">
              <a:buNone/>
            </a:pPr>
            <a:r>
              <a:rPr lang="en-US" sz="1200" dirty="0">
                <a:solidFill>
                  <a:srgbClr val="A3ADA8"/>
                </a:solidFill>
                <a:latin typeface="Calibri" pitchFamily="34" charset="0"/>
                <a:ea typeface="Calibri" pitchFamily="34" charset="-122"/>
                <a:cs typeface="Calibri" pitchFamily="34" charset="-120"/>
              </a:rPr>
              <a:t>Perpetual rights and exclusivity slip through</a:t>
            </a:r>
            <a:endParaRPr lang="en-US" sz="1200" dirty="0"/>
          </a:p>
        </p:txBody>
      </p:sp>
      <p:sp>
        <p:nvSpPr>
          <p:cNvPr id="21" name="a04_wipeL_arrow"/>
          <p:cNvSpPr/>
          <p:nvPr/>
        </p:nvSpPr>
        <p:spPr>
          <a:xfrm>
            <a:off x="4224528" y="2240280"/>
            <a:ext cx="731520" cy="548640"/>
          </a:xfrm>
          <a:prstGeom prst="rightArrow">
            <a:avLst/>
          </a:prstGeom>
          <a:solidFill>
            <a:srgbClr val="34D399"/>
          </a:solidFill>
          <a:ln w="6350">
            <a:solidFill>
              <a:srgbClr val="34D399"/>
            </a:solidFill>
            <a:prstDash val="solid"/>
          </a:ln>
        </p:spPr>
      </p:sp>
      <p:sp>
        <p:nvSpPr>
          <p:cNvPr id="22" name="a05_zoom_solution"/>
          <p:cNvSpPr/>
          <p:nvPr/>
        </p:nvSpPr>
        <p:spPr>
          <a:xfrm>
            <a:off x="5166360" y="1234440"/>
            <a:ext cx="3520440" cy="2798064"/>
          </a:xfrm>
          <a:prstGeom prst="roundRect">
            <a:avLst>
              <a:gd name="adj" fmla="val 2614"/>
            </a:avLst>
          </a:prstGeom>
          <a:solidFill>
            <a:srgbClr val="151B18"/>
          </a:solidFill>
          <a:ln w="12700">
            <a:solidFill>
              <a:srgbClr val="34D399"/>
            </a:solidFill>
            <a:prstDash val="solid"/>
          </a:ln>
        </p:spPr>
      </p:sp>
      <p:sp>
        <p:nvSpPr>
          <p:cNvPr id="23" name="a05_zoom_solution"/>
          <p:cNvSpPr txBox="1"/>
          <p:nvPr/>
        </p:nvSpPr>
        <p:spPr>
          <a:xfrm>
            <a:off x="5394960" y="1417320"/>
            <a:ext cx="3108960" cy="365760"/>
          </a:xfrm>
          <a:prstGeom prst="rect">
            <a:avLst/>
          </a:prstGeom>
          <a:noFill/>
          <a:ln/>
        </p:spPr>
        <p:txBody>
          <a:bodyPr wrap="square" lIns="0" tIns="0" rIns="0" bIns="0" rtlCol="0" anchor="ctr"/>
          <a:lstStyle/>
          <a:p>
            <a:pPr marL="0" indent="0">
              <a:buNone/>
            </a:pPr>
            <a:r>
              <a:rPr lang="en-US" sz="1800" b="1" dirty="0">
                <a:solidFill>
                  <a:srgbClr val="34D399"/>
                </a:solidFill>
                <a:latin typeface="Arial" pitchFamily="34" charset="0"/>
                <a:ea typeface="Arial" pitchFamily="34" charset="-122"/>
                <a:cs typeface="Arial" pitchFamily="34" charset="-120"/>
              </a:rPr>
              <a:t>THE COUNCIL</a:t>
            </a:r>
            <a:endParaRPr lang="en-US" sz="1800" dirty="0"/>
          </a:p>
        </p:txBody>
      </p:sp>
      <p:sp>
        <p:nvSpPr>
          <p:cNvPr id="24" name="a05_zoom_solution"/>
          <p:cNvSpPr txBox="1"/>
          <p:nvPr/>
        </p:nvSpPr>
        <p:spPr>
          <a:xfrm>
            <a:off x="5394960" y="1810512"/>
            <a:ext cx="3108960" cy="5943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5 specialised AI agents judge every deal. Fixed rules, not the AI, make the final call.</a:t>
            </a:r>
            <a:endParaRPr lang="en-US" sz="1300" dirty="0"/>
          </a:p>
        </p:txBody>
      </p:sp>
      <p:sp>
        <p:nvSpPr>
          <p:cNvPr id="25" name="a06_fade_check0"/>
          <p:cNvSpPr/>
          <p:nvPr/>
        </p:nvSpPr>
        <p:spPr>
          <a:xfrm>
            <a:off x="5394960" y="2615184"/>
            <a:ext cx="256032" cy="256032"/>
          </a:xfrm>
          <a:prstGeom prst="ellipse">
            <a:avLst/>
          </a:prstGeom>
          <a:solidFill>
            <a:srgbClr val="34D399"/>
          </a:solidFill>
          <a:ln w="6350">
            <a:solidFill>
              <a:srgbClr val="34D399"/>
            </a:solidFill>
            <a:prstDash val="solid"/>
          </a:ln>
        </p:spPr>
      </p:sp>
      <p:sp>
        <p:nvSpPr>
          <p:cNvPr id="26" name="a06_fade_check0"/>
          <p:cNvSpPr txBox="1"/>
          <p:nvPr/>
        </p:nvSpPr>
        <p:spPr>
          <a:xfrm>
            <a:off x="5394960" y="2615184"/>
            <a:ext cx="256032" cy="256032"/>
          </a:xfrm>
          <a:prstGeom prst="rect">
            <a:avLst/>
          </a:prstGeom>
          <a:noFill/>
          <a:ln/>
        </p:spPr>
        <p:txBody>
          <a:bodyPr wrap="square" lIns="0" tIns="0" rIns="0" bIns="0" rtlCol="0" anchor="ctr"/>
          <a:lstStyle/>
          <a:p>
            <a:pPr marL="0" indent="0" algn="ctr">
              <a:buNone/>
            </a:pPr>
            <a:r>
              <a:rPr lang="en-US" sz="1100" b="1" dirty="0">
                <a:solidFill>
                  <a:srgbClr val="0B0F0D"/>
                </a:solidFill>
                <a:latin typeface="Calibri" pitchFamily="34" charset="0"/>
                <a:ea typeface="Calibri" pitchFamily="34" charset="-122"/>
                <a:cs typeface="Calibri" pitchFamily="34" charset="-120"/>
              </a:rPr>
              <a:t>✓</a:t>
            </a:r>
            <a:endParaRPr lang="en-US" sz="1100" dirty="0"/>
          </a:p>
        </p:txBody>
      </p:sp>
      <p:sp>
        <p:nvSpPr>
          <p:cNvPr id="27" name="a06_fade_check0"/>
          <p:cNvSpPr txBox="1"/>
          <p:nvPr/>
        </p:nvSpPr>
        <p:spPr>
          <a:xfrm>
            <a:off x="5760720" y="2560320"/>
            <a:ext cx="283464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Accept / Negotiate / Reject + score</a:t>
            </a:r>
            <a:endParaRPr lang="en-US" sz="1300" dirty="0"/>
          </a:p>
        </p:txBody>
      </p:sp>
      <p:sp>
        <p:nvSpPr>
          <p:cNvPr id="28" name="a07_fade_check1"/>
          <p:cNvSpPr/>
          <p:nvPr/>
        </p:nvSpPr>
        <p:spPr>
          <a:xfrm>
            <a:off x="5394960" y="3026664"/>
            <a:ext cx="256032" cy="256032"/>
          </a:xfrm>
          <a:prstGeom prst="ellipse">
            <a:avLst/>
          </a:prstGeom>
          <a:solidFill>
            <a:srgbClr val="34D399"/>
          </a:solidFill>
          <a:ln w="6350">
            <a:solidFill>
              <a:srgbClr val="34D399"/>
            </a:solidFill>
            <a:prstDash val="solid"/>
          </a:ln>
        </p:spPr>
      </p:sp>
      <p:sp>
        <p:nvSpPr>
          <p:cNvPr id="29" name="a07_fade_check1"/>
          <p:cNvSpPr txBox="1"/>
          <p:nvPr/>
        </p:nvSpPr>
        <p:spPr>
          <a:xfrm>
            <a:off x="5394960" y="3026664"/>
            <a:ext cx="256032" cy="256032"/>
          </a:xfrm>
          <a:prstGeom prst="rect">
            <a:avLst/>
          </a:prstGeom>
          <a:noFill/>
          <a:ln/>
        </p:spPr>
        <p:txBody>
          <a:bodyPr wrap="square" lIns="0" tIns="0" rIns="0" bIns="0" rtlCol="0" anchor="ctr"/>
          <a:lstStyle/>
          <a:p>
            <a:pPr marL="0" indent="0" algn="ctr">
              <a:buNone/>
            </a:pPr>
            <a:r>
              <a:rPr lang="en-US" sz="1100" b="1" dirty="0">
                <a:solidFill>
                  <a:srgbClr val="0B0F0D"/>
                </a:solidFill>
                <a:latin typeface="Calibri" pitchFamily="34" charset="0"/>
                <a:ea typeface="Calibri" pitchFamily="34" charset="-122"/>
                <a:cs typeface="Calibri" pitchFamily="34" charset="-120"/>
              </a:rPr>
              <a:t>✓</a:t>
            </a:r>
            <a:endParaRPr lang="en-US" sz="1100" dirty="0"/>
          </a:p>
        </p:txBody>
      </p:sp>
      <p:sp>
        <p:nvSpPr>
          <p:cNvPr id="30" name="a07_fade_check1"/>
          <p:cNvSpPr txBox="1"/>
          <p:nvPr/>
        </p:nvSpPr>
        <p:spPr>
          <a:xfrm>
            <a:off x="5760720" y="2971800"/>
            <a:ext cx="283464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 plain-English "why"</a:t>
            </a:r>
            <a:endParaRPr lang="en-US" sz="1300" dirty="0"/>
          </a:p>
        </p:txBody>
      </p:sp>
      <p:sp>
        <p:nvSpPr>
          <p:cNvPr id="31" name="a08_fade_check2"/>
          <p:cNvSpPr/>
          <p:nvPr/>
        </p:nvSpPr>
        <p:spPr>
          <a:xfrm>
            <a:off x="5394960" y="3438144"/>
            <a:ext cx="256032" cy="256032"/>
          </a:xfrm>
          <a:prstGeom prst="ellipse">
            <a:avLst/>
          </a:prstGeom>
          <a:solidFill>
            <a:srgbClr val="34D399"/>
          </a:solidFill>
          <a:ln w="6350">
            <a:solidFill>
              <a:srgbClr val="34D399"/>
            </a:solidFill>
            <a:prstDash val="solid"/>
          </a:ln>
        </p:spPr>
      </p:sp>
      <p:sp>
        <p:nvSpPr>
          <p:cNvPr id="32" name="a08_fade_check2"/>
          <p:cNvSpPr txBox="1"/>
          <p:nvPr/>
        </p:nvSpPr>
        <p:spPr>
          <a:xfrm>
            <a:off x="5394960" y="3438144"/>
            <a:ext cx="256032" cy="256032"/>
          </a:xfrm>
          <a:prstGeom prst="rect">
            <a:avLst/>
          </a:prstGeom>
          <a:noFill/>
          <a:ln/>
        </p:spPr>
        <p:txBody>
          <a:bodyPr wrap="square" lIns="0" tIns="0" rIns="0" bIns="0" rtlCol="0" anchor="ctr"/>
          <a:lstStyle/>
          <a:p>
            <a:pPr marL="0" indent="0" algn="ctr">
              <a:buNone/>
            </a:pPr>
            <a:r>
              <a:rPr lang="en-US" sz="1100" b="1" dirty="0">
                <a:solidFill>
                  <a:srgbClr val="0B0F0D"/>
                </a:solidFill>
                <a:latin typeface="Calibri" pitchFamily="34" charset="0"/>
                <a:ea typeface="Calibri" pitchFamily="34" charset="-122"/>
                <a:cs typeface="Calibri" pitchFamily="34" charset="-120"/>
              </a:rPr>
              <a:t>✓</a:t>
            </a:r>
            <a:endParaRPr lang="en-US" sz="1100" dirty="0"/>
          </a:p>
        </p:txBody>
      </p:sp>
      <p:sp>
        <p:nvSpPr>
          <p:cNvPr id="33" name="a08_fade_check2"/>
          <p:cNvSpPr txBox="1"/>
          <p:nvPr/>
        </p:nvSpPr>
        <p:spPr>
          <a:xfrm>
            <a:off x="5760720" y="3383280"/>
            <a:ext cx="283464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Find creators inside a budget</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par>
                          <p:cTn id="11" fill="hold">
                            <p:stCondLst>
                              <p:cond delay="500"/>
                            </p:stCondLst>
                            <p:childTnLst>
                              <p:par>
                                <p:cTn id="12" presetID="2" presetClass="entr" presetSubtype="8"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0-#ppt_w/2"/>
                                          </p:val>
                                        </p:tav>
                                        <p:tav tm="100000">
                                          <p:val>
                                            <p:strVal val="#ppt_x"/>
                                          </p:val>
                                        </p:tav>
                                      </p:tavLst>
                                    </p:anim>
                                    <p:anim calcmode="lin" valueType="num">
                                      <p:cBhvr additive="base">
                                        <p:cTn id="15" dur="500" fill="hold"/>
                                        <p:tgtEl>
                                          <p:spTgt spid="6"/>
                                        </p:tgtEl>
                                        <p:attrNameLst>
                                          <p:attrName>ppt_y</p:attrName>
                                        </p:attrNameLst>
                                      </p:cBhvr>
                                      <p:tavLst>
                                        <p:tav tm="0">
                                          <p:val>
                                            <p:strVal val="#ppt_y"/>
                                          </p:val>
                                        </p:tav>
                                        <p:tav tm="100000">
                                          <p:val>
                                            <p:strVal val="#ppt_y"/>
                                          </p:val>
                                        </p:tav>
                                      </p:tavLst>
                                    </p:anim>
                                  </p:childTnLst>
                                </p:cTn>
                              </p:par>
                              <p:par>
                                <p:cTn id="16" presetID="2" presetClass="entr" presetSubtype="8"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0-#ppt_w/2"/>
                                          </p:val>
                                        </p:tav>
                                        <p:tav tm="100000">
                                          <p:val>
                                            <p:strVal val="#ppt_x"/>
                                          </p:val>
                                        </p:tav>
                                      </p:tavLst>
                                    </p:anim>
                                    <p:anim calcmode="lin" valueType="num">
                                      <p:cBhvr additive="base">
                                        <p:cTn id="19" dur="500" fill="hold"/>
                                        <p:tgtEl>
                                          <p:spTgt spid="7"/>
                                        </p:tgtEl>
                                        <p:attrNameLst>
                                          <p:attrName>ppt_y</p:attrName>
                                        </p:attrNameLst>
                                      </p:cBhvr>
                                      <p:tavLst>
                                        <p:tav tm="0">
                                          <p:val>
                                            <p:strVal val="#ppt_y"/>
                                          </p:val>
                                        </p:tav>
                                        <p:tav tm="100000">
                                          <p:val>
                                            <p:strVal val="#ppt_y"/>
                                          </p:val>
                                        </p:tav>
                                      </p:tavLst>
                                    </p:anim>
                                  </p:childTnLst>
                                </p:cTn>
                              </p:par>
                              <p:par>
                                <p:cTn id="20" presetID="2" presetClass="entr" presetSubtype="8"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0-#ppt_w/2"/>
                                          </p:val>
                                        </p:tav>
                                        <p:tav tm="100000">
                                          <p:val>
                                            <p:strVal val="#ppt_x"/>
                                          </p:val>
                                        </p:tav>
                                      </p:tavLst>
                                    </p:anim>
                                    <p:anim calcmode="lin" valueType="num">
                                      <p:cBhvr additive="base">
                                        <p:cTn id="23" dur="500" fill="hold"/>
                                        <p:tgtEl>
                                          <p:spTgt spid="8"/>
                                        </p:tgtEl>
                                        <p:attrNameLst>
                                          <p:attrName>ppt_y</p:attrName>
                                        </p:attrNameLst>
                                      </p:cBhvr>
                                      <p:tavLst>
                                        <p:tav tm="0">
                                          <p:val>
                                            <p:strVal val="#ppt_y"/>
                                          </p:val>
                                        </p:tav>
                                        <p:tav tm="100000">
                                          <p:val>
                                            <p:strVal val="#ppt_y"/>
                                          </p:val>
                                        </p:tav>
                                      </p:tavLst>
                                    </p:anim>
                                  </p:childTnLst>
                                </p:cTn>
                              </p:par>
                              <p:par>
                                <p:cTn id="24" presetID="2" presetClass="entr" presetSubtype="8"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ppt_x</p:attrName>
                                        </p:attrNameLst>
                                      </p:cBhvr>
                                      <p:tavLst>
                                        <p:tav tm="0">
                                          <p:val>
                                            <p:strVal val="0-#ppt_w/2"/>
                                          </p:val>
                                        </p:tav>
                                        <p:tav tm="100000">
                                          <p:val>
                                            <p:strVal val="#ppt_x"/>
                                          </p:val>
                                        </p:tav>
                                      </p:tavLst>
                                    </p:anim>
                                    <p:anim calcmode="lin" valueType="num">
                                      <p:cBhvr additive="base">
                                        <p:cTn id="27" dur="500" fill="hold"/>
                                        <p:tgtEl>
                                          <p:spTgt spid="9"/>
                                        </p:tgtEl>
                                        <p:attrNameLst>
                                          <p:attrName>ppt_y</p:attrName>
                                        </p:attrNameLst>
                                      </p:cBhvr>
                                      <p:tavLst>
                                        <p:tav tm="0">
                                          <p:val>
                                            <p:strVal val="#ppt_y"/>
                                          </p:val>
                                        </p:tav>
                                        <p:tav tm="100000">
                                          <p:val>
                                            <p:strVal val="#ppt_y"/>
                                          </p:val>
                                        </p:tav>
                                      </p:tavLst>
                                    </p:anim>
                                  </p:childTnLst>
                                </p:cTn>
                              </p:par>
                              <p:par>
                                <p:cTn id="28" presetID="2" presetClass="entr" presetSubtype="8"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0-#ppt_w/2"/>
                                          </p:val>
                                        </p:tav>
                                        <p:tav tm="100000">
                                          <p:val>
                                            <p:strVal val="#ppt_x"/>
                                          </p:val>
                                        </p:tav>
                                      </p:tavLst>
                                    </p:anim>
                                    <p:anim calcmode="lin" valueType="num">
                                      <p:cBhvr additive="base">
                                        <p:cTn id="31" dur="500" fill="hold"/>
                                        <p:tgtEl>
                                          <p:spTgt spid="10"/>
                                        </p:tgtEl>
                                        <p:attrNameLst>
                                          <p:attrName>ppt_y</p:attrName>
                                        </p:attrNameLst>
                                      </p:cBhvr>
                                      <p:tavLst>
                                        <p:tav tm="0">
                                          <p:val>
                                            <p:strVal val="#ppt_y"/>
                                          </p:val>
                                        </p:tav>
                                        <p:tav tm="100000">
                                          <p:val>
                                            <p:strVal val="#ppt_y"/>
                                          </p:val>
                                        </p:tav>
                                      </p:tavLst>
                                    </p:anim>
                                  </p:childTnLst>
                                </p:cTn>
                              </p:par>
                            </p:childTnLst>
                          </p:cTn>
                        </p:par>
                        <p:par>
                          <p:cTn id="32" fill="hold">
                            <p:stCondLst>
                              <p:cond delay="1000"/>
                            </p:stCondLst>
                            <p:childTnLst>
                              <p:par>
                                <p:cTn id="33" presetID="2" presetClass="entr" presetSubtype="8" fill="hold" nodeType="after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0-#ppt_w/2"/>
                                          </p:val>
                                        </p:tav>
                                        <p:tav tm="100000">
                                          <p:val>
                                            <p:strVal val="#ppt_x"/>
                                          </p:val>
                                        </p:tav>
                                      </p:tavLst>
                                    </p:anim>
                                    <p:anim calcmode="lin" valueType="num">
                                      <p:cBhvr additive="base">
                                        <p:cTn id="36" dur="500" fill="hold"/>
                                        <p:tgtEl>
                                          <p:spTgt spid="11"/>
                                        </p:tgtEl>
                                        <p:attrNameLst>
                                          <p:attrName>ppt_y</p:attrName>
                                        </p:attrNameLst>
                                      </p:cBhvr>
                                      <p:tavLst>
                                        <p:tav tm="0">
                                          <p:val>
                                            <p:strVal val="#ppt_y"/>
                                          </p:val>
                                        </p:tav>
                                        <p:tav tm="100000">
                                          <p:val>
                                            <p:strVal val="#ppt_y"/>
                                          </p:val>
                                        </p:tav>
                                      </p:tavLst>
                                    </p:anim>
                                  </p:childTnLst>
                                </p:cTn>
                              </p:par>
                              <p:par>
                                <p:cTn id="37" presetID="2" presetClass="entr" presetSubtype="8"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0-#ppt_w/2"/>
                                          </p:val>
                                        </p:tav>
                                        <p:tav tm="100000">
                                          <p:val>
                                            <p:strVal val="#ppt_x"/>
                                          </p:val>
                                        </p:tav>
                                      </p:tavLst>
                                    </p:anim>
                                    <p:anim calcmode="lin" valueType="num">
                                      <p:cBhvr additive="base">
                                        <p:cTn id="40" dur="500" fill="hold"/>
                                        <p:tgtEl>
                                          <p:spTgt spid="12"/>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0-#ppt_w/2"/>
                                          </p:val>
                                        </p:tav>
                                        <p:tav tm="100000">
                                          <p:val>
                                            <p:strVal val="#ppt_x"/>
                                          </p:val>
                                        </p:tav>
                                      </p:tavLst>
                                    </p:anim>
                                    <p:anim calcmode="lin" valueType="num">
                                      <p:cBhvr additive="base">
                                        <p:cTn id="44" dur="500" fill="hold"/>
                                        <p:tgtEl>
                                          <p:spTgt spid="13"/>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0-#ppt_w/2"/>
                                          </p:val>
                                        </p:tav>
                                        <p:tav tm="100000">
                                          <p:val>
                                            <p:strVal val="#ppt_x"/>
                                          </p:val>
                                        </p:tav>
                                      </p:tavLst>
                                    </p:anim>
                                    <p:anim calcmode="lin" valueType="num">
                                      <p:cBhvr additive="base">
                                        <p:cTn id="48" dur="500" fill="hold"/>
                                        <p:tgtEl>
                                          <p:spTgt spid="14"/>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0-#ppt_w/2"/>
                                          </p:val>
                                        </p:tav>
                                        <p:tav tm="100000">
                                          <p:val>
                                            <p:strVal val="#ppt_x"/>
                                          </p:val>
                                        </p:tav>
                                      </p:tavLst>
                                    </p:anim>
                                    <p:anim calcmode="lin" valueType="num">
                                      <p:cBhvr additive="base">
                                        <p:cTn id="52" dur="500" fill="hold"/>
                                        <p:tgtEl>
                                          <p:spTgt spid="15"/>
                                        </p:tgtEl>
                                        <p:attrNameLst>
                                          <p:attrName>ppt_y</p:attrName>
                                        </p:attrNameLst>
                                      </p:cBhvr>
                                      <p:tavLst>
                                        <p:tav tm="0">
                                          <p:val>
                                            <p:strVal val="#ppt_y"/>
                                          </p:val>
                                        </p:tav>
                                        <p:tav tm="100000">
                                          <p:val>
                                            <p:strVal val="#ppt_y"/>
                                          </p:val>
                                        </p:tav>
                                      </p:tavLst>
                                    </p:anim>
                                  </p:childTnLst>
                                </p:cTn>
                              </p:par>
                            </p:childTnLst>
                          </p:cTn>
                        </p:par>
                        <p:par>
                          <p:cTn id="53" fill="hold">
                            <p:stCondLst>
                              <p:cond delay="1500"/>
                            </p:stCondLst>
                            <p:childTnLst>
                              <p:par>
                                <p:cTn id="54" presetID="2" presetClass="entr" presetSubtype="8" fill="hold" nodeType="afterEffect">
                                  <p:stCondLst>
                                    <p:cond delay="0"/>
                                  </p:stCondLst>
                                  <p:childTnLst>
                                    <p:set>
                                      <p:cBhvr>
                                        <p:cTn id="55" dur="1" fill="hold">
                                          <p:stCondLst>
                                            <p:cond delay="0"/>
                                          </p:stCondLst>
                                        </p:cTn>
                                        <p:tgtEl>
                                          <p:spTgt spid="16"/>
                                        </p:tgtEl>
                                        <p:attrNameLst>
                                          <p:attrName>style.visibility</p:attrName>
                                        </p:attrNameLst>
                                      </p:cBhvr>
                                      <p:to>
                                        <p:strVal val="visible"/>
                                      </p:to>
                                    </p:set>
                                    <p:anim calcmode="lin" valueType="num">
                                      <p:cBhvr additive="base">
                                        <p:cTn id="56" dur="500" fill="hold"/>
                                        <p:tgtEl>
                                          <p:spTgt spid="16"/>
                                        </p:tgtEl>
                                        <p:attrNameLst>
                                          <p:attrName>ppt_x</p:attrName>
                                        </p:attrNameLst>
                                      </p:cBhvr>
                                      <p:tavLst>
                                        <p:tav tm="0">
                                          <p:val>
                                            <p:strVal val="0-#ppt_w/2"/>
                                          </p:val>
                                        </p:tav>
                                        <p:tav tm="100000">
                                          <p:val>
                                            <p:strVal val="#ppt_x"/>
                                          </p:val>
                                        </p:tav>
                                      </p:tavLst>
                                    </p:anim>
                                    <p:anim calcmode="lin" valueType="num">
                                      <p:cBhvr additive="base">
                                        <p:cTn id="57" dur="500" fill="hold"/>
                                        <p:tgtEl>
                                          <p:spTgt spid="16"/>
                                        </p:tgtEl>
                                        <p:attrNameLst>
                                          <p:attrName>ppt_y</p:attrName>
                                        </p:attrNameLst>
                                      </p:cBhvr>
                                      <p:tavLst>
                                        <p:tav tm="0">
                                          <p:val>
                                            <p:strVal val="#ppt_y"/>
                                          </p:val>
                                        </p:tav>
                                        <p:tav tm="100000">
                                          <p:val>
                                            <p:strVal val="#ppt_y"/>
                                          </p:val>
                                        </p:tav>
                                      </p:tavLst>
                                    </p:anim>
                                  </p:childTnLst>
                                </p:cTn>
                              </p:par>
                              <p:par>
                                <p:cTn id="58" presetID="2" presetClass="entr" presetSubtype="8" fill="hold" nodeType="withEffect">
                                  <p:stCondLst>
                                    <p:cond delay="0"/>
                                  </p:stCondLst>
                                  <p:childTnLst>
                                    <p:set>
                                      <p:cBhvr>
                                        <p:cTn id="59" dur="1" fill="hold">
                                          <p:stCondLst>
                                            <p:cond delay="0"/>
                                          </p:stCondLst>
                                        </p:cTn>
                                        <p:tgtEl>
                                          <p:spTgt spid="17"/>
                                        </p:tgtEl>
                                        <p:attrNameLst>
                                          <p:attrName>style.visibility</p:attrName>
                                        </p:attrNameLst>
                                      </p:cBhvr>
                                      <p:to>
                                        <p:strVal val="visible"/>
                                      </p:to>
                                    </p:set>
                                    <p:anim calcmode="lin" valueType="num">
                                      <p:cBhvr additive="base">
                                        <p:cTn id="60" dur="500" fill="hold"/>
                                        <p:tgtEl>
                                          <p:spTgt spid="17"/>
                                        </p:tgtEl>
                                        <p:attrNameLst>
                                          <p:attrName>ppt_x</p:attrName>
                                        </p:attrNameLst>
                                      </p:cBhvr>
                                      <p:tavLst>
                                        <p:tav tm="0">
                                          <p:val>
                                            <p:strVal val="0-#ppt_w/2"/>
                                          </p:val>
                                        </p:tav>
                                        <p:tav tm="100000">
                                          <p:val>
                                            <p:strVal val="#ppt_x"/>
                                          </p:val>
                                        </p:tav>
                                      </p:tavLst>
                                    </p:anim>
                                    <p:anim calcmode="lin" valueType="num">
                                      <p:cBhvr additive="base">
                                        <p:cTn id="61" dur="500" fill="hold"/>
                                        <p:tgtEl>
                                          <p:spTgt spid="17"/>
                                        </p:tgtEl>
                                        <p:attrNameLst>
                                          <p:attrName>ppt_y</p:attrName>
                                        </p:attrNameLst>
                                      </p:cBhvr>
                                      <p:tavLst>
                                        <p:tav tm="0">
                                          <p:val>
                                            <p:strVal val="#ppt_y"/>
                                          </p:val>
                                        </p:tav>
                                        <p:tav tm="100000">
                                          <p:val>
                                            <p:strVal val="#ppt_y"/>
                                          </p:val>
                                        </p:tav>
                                      </p:tavLst>
                                    </p:anim>
                                  </p:childTnLst>
                                </p:cTn>
                              </p:par>
                              <p:par>
                                <p:cTn id="62" presetID="2" presetClass="entr" presetSubtype="8" fill="hold" grpId="0" nodeType="withEffect">
                                  <p:stCondLst>
                                    <p:cond delay="0"/>
                                  </p:stCondLst>
                                  <p:childTnLst>
                                    <p:set>
                                      <p:cBhvr>
                                        <p:cTn id="63" dur="1" fill="hold">
                                          <p:stCondLst>
                                            <p:cond delay="0"/>
                                          </p:stCondLst>
                                        </p:cTn>
                                        <p:tgtEl>
                                          <p:spTgt spid="18"/>
                                        </p:tgtEl>
                                        <p:attrNameLst>
                                          <p:attrName>style.visibility</p:attrName>
                                        </p:attrNameLst>
                                      </p:cBhvr>
                                      <p:to>
                                        <p:strVal val="visible"/>
                                      </p:to>
                                    </p:set>
                                    <p:anim calcmode="lin" valueType="num">
                                      <p:cBhvr additive="base">
                                        <p:cTn id="64" dur="500" fill="hold"/>
                                        <p:tgtEl>
                                          <p:spTgt spid="18"/>
                                        </p:tgtEl>
                                        <p:attrNameLst>
                                          <p:attrName>ppt_x</p:attrName>
                                        </p:attrNameLst>
                                      </p:cBhvr>
                                      <p:tavLst>
                                        <p:tav tm="0">
                                          <p:val>
                                            <p:strVal val="0-#ppt_w/2"/>
                                          </p:val>
                                        </p:tav>
                                        <p:tav tm="100000">
                                          <p:val>
                                            <p:strVal val="#ppt_x"/>
                                          </p:val>
                                        </p:tav>
                                      </p:tavLst>
                                    </p:anim>
                                    <p:anim calcmode="lin" valueType="num">
                                      <p:cBhvr additive="base">
                                        <p:cTn id="65" dur="500" fill="hold"/>
                                        <p:tgtEl>
                                          <p:spTgt spid="18"/>
                                        </p:tgtEl>
                                        <p:attrNameLst>
                                          <p:attrName>ppt_y</p:attrName>
                                        </p:attrNameLst>
                                      </p:cBhvr>
                                      <p:tavLst>
                                        <p:tav tm="0">
                                          <p:val>
                                            <p:strVal val="#ppt_y"/>
                                          </p:val>
                                        </p:tav>
                                        <p:tav tm="100000">
                                          <p:val>
                                            <p:strVal val="#ppt_y"/>
                                          </p:val>
                                        </p:tav>
                                      </p:tavLst>
                                    </p:anim>
                                  </p:childTnLst>
                                </p:cTn>
                              </p:par>
                              <p:par>
                                <p:cTn id="66" presetID="2" presetClass="entr" presetSubtype="8" fill="hold" grpId="0" nodeType="withEffect">
                                  <p:stCondLst>
                                    <p:cond delay="0"/>
                                  </p:stCondLst>
                                  <p:childTnLst>
                                    <p:set>
                                      <p:cBhvr>
                                        <p:cTn id="67" dur="1" fill="hold">
                                          <p:stCondLst>
                                            <p:cond delay="0"/>
                                          </p:stCondLst>
                                        </p:cTn>
                                        <p:tgtEl>
                                          <p:spTgt spid="19"/>
                                        </p:tgtEl>
                                        <p:attrNameLst>
                                          <p:attrName>style.visibility</p:attrName>
                                        </p:attrNameLst>
                                      </p:cBhvr>
                                      <p:to>
                                        <p:strVal val="visible"/>
                                      </p:to>
                                    </p:set>
                                    <p:anim calcmode="lin" valueType="num">
                                      <p:cBhvr additive="base">
                                        <p:cTn id="68" dur="500" fill="hold"/>
                                        <p:tgtEl>
                                          <p:spTgt spid="19"/>
                                        </p:tgtEl>
                                        <p:attrNameLst>
                                          <p:attrName>ppt_x</p:attrName>
                                        </p:attrNameLst>
                                      </p:cBhvr>
                                      <p:tavLst>
                                        <p:tav tm="0">
                                          <p:val>
                                            <p:strVal val="0-#ppt_w/2"/>
                                          </p:val>
                                        </p:tav>
                                        <p:tav tm="100000">
                                          <p:val>
                                            <p:strVal val="#ppt_x"/>
                                          </p:val>
                                        </p:tav>
                                      </p:tavLst>
                                    </p:anim>
                                    <p:anim calcmode="lin" valueType="num">
                                      <p:cBhvr additive="base">
                                        <p:cTn id="69" dur="500" fill="hold"/>
                                        <p:tgtEl>
                                          <p:spTgt spid="19"/>
                                        </p:tgtEl>
                                        <p:attrNameLst>
                                          <p:attrName>ppt_y</p:attrName>
                                        </p:attrNameLst>
                                      </p:cBhvr>
                                      <p:tavLst>
                                        <p:tav tm="0">
                                          <p:val>
                                            <p:strVal val="#ppt_y"/>
                                          </p:val>
                                        </p:tav>
                                        <p:tav tm="100000">
                                          <p:val>
                                            <p:strVal val="#ppt_y"/>
                                          </p:val>
                                        </p:tav>
                                      </p:tavLst>
                                    </p:anim>
                                  </p:childTnLst>
                                </p:cTn>
                              </p:par>
                              <p:par>
                                <p:cTn id="70" presetID="2" presetClass="entr" presetSubtype="8"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 calcmode="lin" valueType="num">
                                      <p:cBhvr additive="base">
                                        <p:cTn id="72" dur="500" fill="hold"/>
                                        <p:tgtEl>
                                          <p:spTgt spid="20"/>
                                        </p:tgtEl>
                                        <p:attrNameLst>
                                          <p:attrName>ppt_x</p:attrName>
                                        </p:attrNameLst>
                                      </p:cBhvr>
                                      <p:tavLst>
                                        <p:tav tm="0">
                                          <p:val>
                                            <p:strVal val="0-#ppt_w/2"/>
                                          </p:val>
                                        </p:tav>
                                        <p:tav tm="100000">
                                          <p:val>
                                            <p:strVal val="#ppt_x"/>
                                          </p:val>
                                        </p:tav>
                                      </p:tavLst>
                                    </p:anim>
                                    <p:anim calcmode="lin" valueType="num">
                                      <p:cBhvr additive="base">
                                        <p:cTn id="73" dur="500" fill="hold"/>
                                        <p:tgtEl>
                                          <p:spTgt spid="20"/>
                                        </p:tgtEl>
                                        <p:attrNameLst>
                                          <p:attrName>ppt_y</p:attrName>
                                        </p:attrNameLst>
                                      </p:cBhvr>
                                      <p:tavLst>
                                        <p:tav tm="0">
                                          <p:val>
                                            <p:strVal val="#ppt_y"/>
                                          </p:val>
                                        </p:tav>
                                        <p:tav tm="100000">
                                          <p:val>
                                            <p:strVal val="#ppt_y"/>
                                          </p:val>
                                        </p:tav>
                                      </p:tavLst>
                                    </p:anim>
                                  </p:childTnLst>
                                </p:cTn>
                              </p:par>
                            </p:childTnLst>
                          </p:cTn>
                        </p:par>
                        <p:par>
                          <p:cTn id="74" fill="hold">
                            <p:stCondLst>
                              <p:cond delay="2000"/>
                            </p:stCondLst>
                            <p:childTnLst>
                              <p:par>
                                <p:cTn id="75" presetID="22" presetClass="entr" presetSubtype="8" fill="hold" nodeType="after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wipe(left)">
                                      <p:cBhvr>
                                        <p:cTn id="77" dur="400"/>
                                        <p:tgtEl>
                                          <p:spTgt spid="21"/>
                                        </p:tgtEl>
                                      </p:cBhvr>
                                    </p:animEffect>
                                  </p:childTnLst>
                                </p:cTn>
                              </p:par>
                            </p:childTnLst>
                          </p:cTn>
                        </p:par>
                        <p:par>
                          <p:cTn id="78" fill="hold">
                            <p:stCondLst>
                              <p:cond delay="2400"/>
                            </p:stCondLst>
                            <p:childTnLst>
                              <p:par>
                                <p:cTn id="79" presetID="23" presetClass="entr" presetSubtype="16" fill="hold" nodeType="afterEffect">
                                  <p:stCondLst>
                                    <p:cond delay="0"/>
                                  </p:stCondLst>
                                  <p:childTnLst>
                                    <p:set>
                                      <p:cBhvr>
                                        <p:cTn id="80" dur="1" fill="hold">
                                          <p:stCondLst>
                                            <p:cond delay="0"/>
                                          </p:stCondLst>
                                        </p:cTn>
                                        <p:tgtEl>
                                          <p:spTgt spid="22"/>
                                        </p:tgtEl>
                                        <p:attrNameLst>
                                          <p:attrName>style.visibility</p:attrName>
                                        </p:attrNameLst>
                                      </p:cBhvr>
                                      <p:to>
                                        <p:strVal val="visible"/>
                                      </p:to>
                                    </p:set>
                                    <p:anim calcmode="lin" valueType="num">
                                      <p:cBhvr>
                                        <p:cTn id="81" dur="400" fill="hold"/>
                                        <p:tgtEl>
                                          <p:spTgt spid="22"/>
                                        </p:tgtEl>
                                        <p:attrNameLst>
                                          <p:attrName>ppt_w</p:attrName>
                                        </p:attrNameLst>
                                      </p:cBhvr>
                                      <p:tavLst>
                                        <p:tav tm="0">
                                          <p:val>
                                            <p:fltVal val="0"/>
                                          </p:val>
                                        </p:tav>
                                        <p:tav tm="100000">
                                          <p:val>
                                            <p:strVal val="#ppt_w"/>
                                          </p:val>
                                        </p:tav>
                                      </p:tavLst>
                                    </p:anim>
                                    <p:anim calcmode="lin" valueType="num">
                                      <p:cBhvr>
                                        <p:cTn id="82" dur="400" fill="hold"/>
                                        <p:tgtEl>
                                          <p:spTgt spid="22"/>
                                        </p:tgtEl>
                                        <p:attrNameLst>
                                          <p:attrName>ppt_h</p:attrName>
                                        </p:attrNameLst>
                                      </p:cBhvr>
                                      <p:tavLst>
                                        <p:tav tm="0">
                                          <p:val>
                                            <p:fltVal val="0"/>
                                          </p:val>
                                        </p:tav>
                                        <p:tav tm="100000">
                                          <p:val>
                                            <p:strVal val="#ppt_h"/>
                                          </p:val>
                                        </p:tav>
                                      </p:tavLst>
                                    </p:anim>
                                  </p:childTnLst>
                                </p:cTn>
                              </p:par>
                              <p:par>
                                <p:cTn id="83" presetID="23" presetClass="entr" presetSubtype="16" fill="hold" grpId="0" nodeType="withEffect">
                                  <p:stCondLst>
                                    <p:cond delay="0"/>
                                  </p:stCondLst>
                                  <p:childTnLst>
                                    <p:set>
                                      <p:cBhvr>
                                        <p:cTn id="84" dur="1" fill="hold">
                                          <p:stCondLst>
                                            <p:cond delay="0"/>
                                          </p:stCondLst>
                                        </p:cTn>
                                        <p:tgtEl>
                                          <p:spTgt spid="23"/>
                                        </p:tgtEl>
                                        <p:attrNameLst>
                                          <p:attrName>style.visibility</p:attrName>
                                        </p:attrNameLst>
                                      </p:cBhvr>
                                      <p:to>
                                        <p:strVal val="visible"/>
                                      </p:to>
                                    </p:set>
                                    <p:anim calcmode="lin" valueType="num">
                                      <p:cBhvr>
                                        <p:cTn id="85" dur="400" fill="hold"/>
                                        <p:tgtEl>
                                          <p:spTgt spid="23"/>
                                        </p:tgtEl>
                                        <p:attrNameLst>
                                          <p:attrName>ppt_w</p:attrName>
                                        </p:attrNameLst>
                                      </p:cBhvr>
                                      <p:tavLst>
                                        <p:tav tm="0">
                                          <p:val>
                                            <p:fltVal val="0"/>
                                          </p:val>
                                        </p:tav>
                                        <p:tav tm="100000">
                                          <p:val>
                                            <p:strVal val="#ppt_w"/>
                                          </p:val>
                                        </p:tav>
                                      </p:tavLst>
                                    </p:anim>
                                    <p:anim calcmode="lin" valueType="num">
                                      <p:cBhvr>
                                        <p:cTn id="86" dur="400" fill="hold"/>
                                        <p:tgtEl>
                                          <p:spTgt spid="23"/>
                                        </p:tgtEl>
                                        <p:attrNameLst>
                                          <p:attrName>ppt_h</p:attrName>
                                        </p:attrNameLst>
                                      </p:cBhvr>
                                      <p:tavLst>
                                        <p:tav tm="0">
                                          <p:val>
                                            <p:fltVal val="0"/>
                                          </p:val>
                                        </p:tav>
                                        <p:tav tm="100000">
                                          <p:val>
                                            <p:strVal val="#ppt_h"/>
                                          </p:val>
                                        </p:tav>
                                      </p:tavLst>
                                    </p:anim>
                                  </p:childTnLst>
                                </p:cTn>
                              </p:par>
                              <p:par>
                                <p:cTn id="87" presetID="23" presetClass="entr" presetSubtype="16" fill="hold" grpId="0" nodeType="withEffect">
                                  <p:stCondLst>
                                    <p:cond delay="0"/>
                                  </p:stCondLst>
                                  <p:childTnLst>
                                    <p:set>
                                      <p:cBhvr>
                                        <p:cTn id="88" dur="1" fill="hold">
                                          <p:stCondLst>
                                            <p:cond delay="0"/>
                                          </p:stCondLst>
                                        </p:cTn>
                                        <p:tgtEl>
                                          <p:spTgt spid="24"/>
                                        </p:tgtEl>
                                        <p:attrNameLst>
                                          <p:attrName>style.visibility</p:attrName>
                                        </p:attrNameLst>
                                      </p:cBhvr>
                                      <p:to>
                                        <p:strVal val="visible"/>
                                      </p:to>
                                    </p:set>
                                    <p:anim calcmode="lin" valueType="num">
                                      <p:cBhvr>
                                        <p:cTn id="89" dur="400" fill="hold"/>
                                        <p:tgtEl>
                                          <p:spTgt spid="24"/>
                                        </p:tgtEl>
                                        <p:attrNameLst>
                                          <p:attrName>ppt_w</p:attrName>
                                        </p:attrNameLst>
                                      </p:cBhvr>
                                      <p:tavLst>
                                        <p:tav tm="0">
                                          <p:val>
                                            <p:fltVal val="0"/>
                                          </p:val>
                                        </p:tav>
                                        <p:tav tm="100000">
                                          <p:val>
                                            <p:strVal val="#ppt_w"/>
                                          </p:val>
                                        </p:tav>
                                      </p:tavLst>
                                    </p:anim>
                                    <p:anim calcmode="lin" valueType="num">
                                      <p:cBhvr>
                                        <p:cTn id="90" dur="400" fill="hold"/>
                                        <p:tgtEl>
                                          <p:spTgt spid="24"/>
                                        </p:tgtEl>
                                        <p:attrNameLst>
                                          <p:attrName>ppt_h</p:attrName>
                                        </p:attrNameLst>
                                      </p:cBhvr>
                                      <p:tavLst>
                                        <p:tav tm="0">
                                          <p:val>
                                            <p:fltVal val="0"/>
                                          </p:val>
                                        </p:tav>
                                        <p:tav tm="100000">
                                          <p:val>
                                            <p:strVal val="#ppt_h"/>
                                          </p:val>
                                        </p:tav>
                                      </p:tavLst>
                                    </p:anim>
                                  </p:childTnLst>
                                </p:cTn>
                              </p:par>
                            </p:childTnLst>
                          </p:cTn>
                        </p:par>
                        <p:par>
                          <p:cTn id="91" fill="hold">
                            <p:stCondLst>
                              <p:cond delay="2800"/>
                            </p:stCondLst>
                            <p:childTnLst>
                              <p:par>
                                <p:cTn id="92" presetID="10" presetClass="entr" presetSubtype="0" fill="hold"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00"/>
                                        <p:tgtEl>
                                          <p:spTgt spid="2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6"/>
                                        </p:tgtEl>
                                        <p:attrNameLst>
                                          <p:attrName>style.visibility</p:attrName>
                                        </p:attrNameLst>
                                      </p:cBhvr>
                                      <p:to>
                                        <p:strVal val="visible"/>
                                      </p:to>
                                    </p:set>
                                    <p:animEffect transition="in" filter="fade">
                                      <p:cBhvr>
                                        <p:cTn id="97" dur="500"/>
                                        <p:tgtEl>
                                          <p:spTgt spid="2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7"/>
                                        </p:tgtEl>
                                        <p:attrNameLst>
                                          <p:attrName>style.visibility</p:attrName>
                                        </p:attrNameLst>
                                      </p:cBhvr>
                                      <p:to>
                                        <p:strVal val="visible"/>
                                      </p:to>
                                    </p:set>
                                    <p:animEffect transition="in" filter="fade">
                                      <p:cBhvr>
                                        <p:cTn id="100" dur="500"/>
                                        <p:tgtEl>
                                          <p:spTgt spid="27"/>
                                        </p:tgtEl>
                                      </p:cBhvr>
                                    </p:animEffect>
                                  </p:childTnLst>
                                </p:cTn>
                              </p:par>
                            </p:childTnLst>
                          </p:cTn>
                        </p:par>
                        <p:par>
                          <p:cTn id="101" fill="hold">
                            <p:stCondLst>
                              <p:cond delay="3300"/>
                            </p:stCondLst>
                            <p:childTnLst>
                              <p:par>
                                <p:cTn id="102" presetID="10" presetClass="entr" presetSubtype="0" fill="hold" nodeType="afterEffect">
                                  <p:stCondLst>
                                    <p:cond delay="0"/>
                                  </p:stCondLst>
                                  <p:childTnLst>
                                    <p:set>
                                      <p:cBhvr>
                                        <p:cTn id="103" dur="1" fill="hold">
                                          <p:stCondLst>
                                            <p:cond delay="0"/>
                                          </p:stCondLst>
                                        </p:cTn>
                                        <p:tgtEl>
                                          <p:spTgt spid="28"/>
                                        </p:tgtEl>
                                        <p:attrNameLst>
                                          <p:attrName>style.visibility</p:attrName>
                                        </p:attrNameLst>
                                      </p:cBhvr>
                                      <p:to>
                                        <p:strVal val="visible"/>
                                      </p:to>
                                    </p:set>
                                    <p:animEffect transition="in" filter="fade">
                                      <p:cBhvr>
                                        <p:cTn id="104" dur="500"/>
                                        <p:tgtEl>
                                          <p:spTgt spid="28"/>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29"/>
                                        </p:tgtEl>
                                        <p:attrNameLst>
                                          <p:attrName>style.visibility</p:attrName>
                                        </p:attrNameLst>
                                      </p:cBhvr>
                                      <p:to>
                                        <p:strVal val="visible"/>
                                      </p:to>
                                    </p:set>
                                    <p:animEffect transition="in" filter="fade">
                                      <p:cBhvr>
                                        <p:cTn id="107" dur="500"/>
                                        <p:tgtEl>
                                          <p:spTgt spid="29"/>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0"/>
                                        </p:tgtEl>
                                        <p:attrNameLst>
                                          <p:attrName>style.visibility</p:attrName>
                                        </p:attrNameLst>
                                      </p:cBhvr>
                                      <p:to>
                                        <p:strVal val="visible"/>
                                      </p:to>
                                    </p:set>
                                    <p:animEffect transition="in" filter="fade">
                                      <p:cBhvr>
                                        <p:cTn id="110" dur="500"/>
                                        <p:tgtEl>
                                          <p:spTgt spid="30"/>
                                        </p:tgtEl>
                                      </p:cBhvr>
                                    </p:animEffect>
                                  </p:childTnLst>
                                </p:cTn>
                              </p:par>
                            </p:childTnLst>
                          </p:cTn>
                        </p:par>
                        <p:par>
                          <p:cTn id="111" fill="hold">
                            <p:stCondLst>
                              <p:cond delay="3800"/>
                            </p:stCondLst>
                            <p:childTnLst>
                              <p:par>
                                <p:cTn id="112" presetID="10" presetClass="entr" presetSubtype="0" fill="hold" nodeType="afterEffect">
                                  <p:stCondLst>
                                    <p:cond delay="0"/>
                                  </p:stCondLst>
                                  <p:childTnLst>
                                    <p:set>
                                      <p:cBhvr>
                                        <p:cTn id="113" dur="1" fill="hold">
                                          <p:stCondLst>
                                            <p:cond delay="0"/>
                                          </p:stCondLst>
                                        </p:cTn>
                                        <p:tgtEl>
                                          <p:spTgt spid="31"/>
                                        </p:tgtEl>
                                        <p:attrNameLst>
                                          <p:attrName>style.visibility</p:attrName>
                                        </p:attrNameLst>
                                      </p:cBhvr>
                                      <p:to>
                                        <p:strVal val="visible"/>
                                      </p:to>
                                    </p:set>
                                    <p:animEffect transition="in" filter="fade">
                                      <p:cBhvr>
                                        <p:cTn id="114" dur="500"/>
                                        <p:tgtEl>
                                          <p:spTgt spid="31"/>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32"/>
                                        </p:tgtEl>
                                        <p:attrNameLst>
                                          <p:attrName>style.visibility</p:attrName>
                                        </p:attrNameLst>
                                      </p:cBhvr>
                                      <p:to>
                                        <p:strVal val="visible"/>
                                      </p:to>
                                    </p:set>
                                    <p:animEffect transition="in" filter="fade">
                                      <p:cBhvr>
                                        <p:cTn id="117" dur="500"/>
                                        <p:tgtEl>
                                          <p:spTgt spid="32"/>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33"/>
                                        </p:tgtEl>
                                        <p:attrNameLst>
                                          <p:attrName>style.visibility</p:attrName>
                                        </p:attrNameLst>
                                      </p:cBhvr>
                                      <p:to>
                                        <p:strVal val="visible"/>
                                      </p:to>
                                    </p:set>
                                    <p:animEffect transition="in" filter="fade">
                                      <p:cBhvr>
                                        <p:cTn id="12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P spid="9" grpId="0" animBg="1"/>
      <p:bldP spid="10" grpId="0" animBg="1"/>
      <p:bldP spid="13" grpId="0" animBg="1"/>
      <p:bldP spid="14" grpId="0" animBg="1"/>
      <p:bldP spid="15" grpId="0" animBg="1"/>
      <p:bldP spid="18" grpId="0" animBg="1"/>
      <p:bldP spid="19" grpId="0" animBg="1"/>
      <p:bldP spid="20" grpId="0" animBg="1"/>
      <p:bldP spid="23" grpId="0" animBg="1"/>
      <p:bldP spid="24" grpId="0" animBg="1"/>
      <p:bldP spid="26" grpId="0" animBg="1"/>
      <p:bldP spid="27" grpId="0" animBg="1"/>
      <p:bldP spid="29" grpId="0" animBg="1"/>
      <p:bldP spid="30" grpId="0" animBg="1"/>
      <p:bldP spid="32" grpId="0" animBg="1"/>
      <p:bldP spid="3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0D"/>
        </a:solidFill>
        <a:effectLst/>
      </p:bgPr>
    </p:bg>
    <p:spTree>
      <p:nvGrpSpPr>
        <p:cNvPr id="1" name=""/>
        <p:cNvGrpSpPr/>
        <p:nvPr/>
      </p:nvGrpSpPr>
      <p:grpSpPr>
        <a:xfrm>
          <a:off x="0" y="0"/>
          <a:ext cx="0" cy="0"/>
          <a:chOff x="0" y="0"/>
          <a:chExt cx="0" cy="0"/>
        </a:xfrm>
      </p:grpSpPr>
      <p:sp>
        <p:nvSpPr>
          <p:cNvPr id="2" name="Glow"/>
          <p:cNvSpPr/>
          <p:nvPr/>
        </p:nvSpPr>
        <p:spPr>
          <a:xfrm>
            <a:off x="6583680" y="-1463040"/>
            <a:ext cx="3840480" cy="3840480"/>
          </a:xfrm>
          <a:prstGeom prst="ellipse">
            <a:avLst/>
          </a:prstGeom>
          <a:solidFill>
            <a:srgbClr val="34D399">
              <a:alpha val="6000"/>
            </a:srgbClr>
          </a:solidFill>
          <a:ln w="12700">
            <a:solidFill>
              <a:srgbClr val="34D399">
                <a:alpha val="0"/>
              </a:srgbClr>
            </a:solidFill>
            <a:prstDash val="solid"/>
          </a:ln>
        </p:spPr>
      </p:sp>
      <p:sp>
        <p:nvSpPr>
          <p:cNvPr id="3" name="a00_fade_kicker"/>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300" dirty="0">
                <a:solidFill>
                  <a:srgbClr val="34D399"/>
                </a:solidFill>
                <a:latin typeface="Calibri" pitchFamily="34" charset="0"/>
                <a:ea typeface="Calibri" pitchFamily="34" charset="-122"/>
                <a:cs typeface="Calibri" pitchFamily="34" charset="-120"/>
              </a:rPr>
              <a:t>THE PIPELINE</a:t>
            </a:r>
            <a:endParaRPr lang="en-US" sz="1100" dirty="0"/>
          </a:p>
        </p:txBody>
      </p:sp>
      <p:sp>
        <p:nvSpPr>
          <p:cNvPr id="4" name="a00_fade_title"/>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HOW THE COUNCIL DECIDES</a:t>
            </a:r>
            <a:endParaRPr lang="en-US" sz="2800" dirty="0"/>
          </a:p>
        </p:txBody>
      </p:sp>
      <p:sp>
        <p:nvSpPr>
          <p:cNvPr id="6" name="a01_zoom_intake"/>
          <p:cNvSpPr/>
          <p:nvPr/>
        </p:nvSpPr>
        <p:spPr>
          <a:xfrm>
            <a:off x="457200" y="2240280"/>
            <a:ext cx="1188720" cy="731520"/>
          </a:xfrm>
          <a:prstGeom prst="roundRect">
            <a:avLst>
              <a:gd name="adj" fmla="val 10000"/>
            </a:avLst>
          </a:prstGeom>
          <a:solidFill>
            <a:srgbClr val="151B18"/>
          </a:solidFill>
          <a:ln w="12700">
            <a:solidFill>
              <a:srgbClr val="34D399"/>
            </a:solidFill>
            <a:prstDash val="solid"/>
          </a:ln>
        </p:spPr>
      </p:sp>
      <p:sp>
        <p:nvSpPr>
          <p:cNvPr id="7" name="a01_zoom_intake"/>
          <p:cNvSpPr txBox="1"/>
          <p:nvPr/>
        </p:nvSpPr>
        <p:spPr>
          <a:xfrm>
            <a:off x="457200" y="2240280"/>
            <a:ext cx="1188720" cy="7315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DEAL</a:t>
            </a:r>
            <a:endParaRPr lang="en-US" sz="1300" dirty="0"/>
          </a:p>
          <a:p>
            <a:pPr marL="0" indent="0" algn="ctr">
              <a:buNone/>
            </a:pPr>
            <a:r>
              <a:rPr lang="en-US" sz="1000" dirty="0">
                <a:solidFill>
                  <a:srgbClr val="A3ADA8"/>
                </a:solidFill>
                <a:latin typeface="Calibri" pitchFamily="34" charset="0"/>
                <a:ea typeface="Calibri" pitchFamily="34" charset="-122"/>
                <a:cs typeface="Calibri" pitchFamily="34" charset="-120"/>
              </a:rPr>
              <a:t>creator + offer</a:t>
            </a:r>
            <a:endParaRPr lang="en-US" sz="1300" dirty="0"/>
          </a:p>
        </p:txBody>
      </p:sp>
      <p:sp>
        <p:nvSpPr>
          <p:cNvPr id="8" name="a02_fade_fan0"/>
          <p:cNvSpPr/>
          <p:nvPr/>
        </p:nvSpPr>
        <p:spPr>
          <a:xfrm flipV="1">
            <a:off x="1645920" y="1325880"/>
            <a:ext cx="457200" cy="1280160"/>
          </a:xfrm>
          <a:prstGeom prst="line">
            <a:avLst/>
          </a:prstGeom>
          <a:noFill/>
          <a:ln w="19050">
            <a:solidFill>
              <a:srgbClr val="34D399"/>
            </a:solidFill>
            <a:prstDash val="solid"/>
            <a:tailEnd type="triangle"/>
          </a:ln>
        </p:spPr>
      </p:sp>
      <p:sp>
        <p:nvSpPr>
          <p:cNvPr id="9" name="a02_fade_fan1"/>
          <p:cNvSpPr/>
          <p:nvPr/>
        </p:nvSpPr>
        <p:spPr>
          <a:xfrm flipV="1">
            <a:off x="1645920" y="2176272"/>
            <a:ext cx="457200" cy="429768"/>
          </a:xfrm>
          <a:prstGeom prst="line">
            <a:avLst/>
          </a:prstGeom>
          <a:noFill/>
          <a:ln w="19050">
            <a:solidFill>
              <a:srgbClr val="34D399"/>
            </a:solidFill>
            <a:prstDash val="solid"/>
            <a:tailEnd type="triangle"/>
          </a:ln>
        </p:spPr>
      </p:sp>
      <p:sp>
        <p:nvSpPr>
          <p:cNvPr id="10" name="a02_fade_fan2"/>
          <p:cNvSpPr/>
          <p:nvPr/>
        </p:nvSpPr>
        <p:spPr>
          <a:xfrm>
            <a:off x="1645920" y="2606040"/>
            <a:ext cx="457200" cy="429768"/>
          </a:xfrm>
          <a:prstGeom prst="line">
            <a:avLst/>
          </a:prstGeom>
          <a:noFill/>
          <a:ln w="19050">
            <a:solidFill>
              <a:srgbClr val="34D399"/>
            </a:solidFill>
            <a:prstDash val="solid"/>
            <a:tailEnd type="triangle"/>
          </a:ln>
        </p:spPr>
      </p:sp>
      <p:sp>
        <p:nvSpPr>
          <p:cNvPr id="11" name="a02_fade_fan3"/>
          <p:cNvSpPr/>
          <p:nvPr/>
        </p:nvSpPr>
        <p:spPr>
          <a:xfrm>
            <a:off x="1645920" y="2606040"/>
            <a:ext cx="457200" cy="1280160"/>
          </a:xfrm>
          <a:prstGeom prst="line">
            <a:avLst/>
          </a:prstGeom>
          <a:noFill/>
          <a:ln w="19050">
            <a:solidFill>
              <a:srgbClr val="34D399"/>
            </a:solidFill>
            <a:prstDash val="solid"/>
            <a:tailEnd type="triangle"/>
          </a:ln>
        </p:spPr>
      </p:sp>
      <p:sp>
        <p:nvSpPr>
          <p:cNvPr id="12" name="a03_zoom_agent0"/>
          <p:cNvSpPr/>
          <p:nvPr/>
        </p:nvSpPr>
        <p:spPr>
          <a:xfrm>
            <a:off x="2103120" y="1051560"/>
            <a:ext cx="1508760" cy="548640"/>
          </a:xfrm>
          <a:prstGeom prst="roundRect">
            <a:avLst>
              <a:gd name="adj" fmla="val 13333"/>
            </a:avLst>
          </a:prstGeom>
          <a:solidFill>
            <a:srgbClr val="151B18"/>
          </a:solidFill>
          <a:ln w="12700">
            <a:solidFill>
              <a:srgbClr val="26332D"/>
            </a:solidFill>
            <a:prstDash val="solid"/>
          </a:ln>
        </p:spPr>
      </p:sp>
      <p:sp>
        <p:nvSpPr>
          <p:cNvPr id="13" name="a03_zoom_agent0"/>
          <p:cNvSpPr txBox="1"/>
          <p:nvPr/>
        </p:nvSpPr>
        <p:spPr>
          <a:xfrm>
            <a:off x="2103120" y="1051560"/>
            <a:ext cx="150876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Audience Fit</a:t>
            </a:r>
            <a:endParaRPr lang="en-US" sz="1300" dirty="0"/>
          </a:p>
        </p:txBody>
      </p:sp>
      <p:sp>
        <p:nvSpPr>
          <p:cNvPr id="14" name="a03_zoom_agent1"/>
          <p:cNvSpPr/>
          <p:nvPr/>
        </p:nvSpPr>
        <p:spPr>
          <a:xfrm>
            <a:off x="2103120" y="1901952"/>
            <a:ext cx="1508760" cy="548640"/>
          </a:xfrm>
          <a:prstGeom prst="roundRect">
            <a:avLst>
              <a:gd name="adj" fmla="val 13333"/>
            </a:avLst>
          </a:prstGeom>
          <a:solidFill>
            <a:srgbClr val="151B18"/>
          </a:solidFill>
          <a:ln w="12700">
            <a:solidFill>
              <a:srgbClr val="26332D"/>
            </a:solidFill>
            <a:prstDash val="solid"/>
          </a:ln>
        </p:spPr>
      </p:sp>
      <p:sp>
        <p:nvSpPr>
          <p:cNvPr id="15" name="a03_zoom_agent1"/>
          <p:cNvSpPr txBox="1"/>
          <p:nvPr/>
        </p:nvSpPr>
        <p:spPr>
          <a:xfrm>
            <a:off x="2103120" y="1901952"/>
            <a:ext cx="150876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Engagement</a:t>
            </a:r>
            <a:endParaRPr lang="en-US" sz="1300" dirty="0"/>
          </a:p>
        </p:txBody>
      </p:sp>
      <p:sp>
        <p:nvSpPr>
          <p:cNvPr id="16" name="a03_zoom_agent2"/>
          <p:cNvSpPr/>
          <p:nvPr/>
        </p:nvSpPr>
        <p:spPr>
          <a:xfrm>
            <a:off x="2103120" y="2761488"/>
            <a:ext cx="1508760" cy="548640"/>
          </a:xfrm>
          <a:prstGeom prst="roundRect">
            <a:avLst>
              <a:gd name="adj" fmla="val 13333"/>
            </a:avLst>
          </a:prstGeom>
          <a:solidFill>
            <a:srgbClr val="151B18"/>
          </a:solidFill>
          <a:ln w="12700">
            <a:solidFill>
              <a:srgbClr val="26332D"/>
            </a:solidFill>
            <a:prstDash val="solid"/>
          </a:ln>
        </p:spPr>
      </p:sp>
      <p:sp>
        <p:nvSpPr>
          <p:cNvPr id="17" name="a03_zoom_agent2"/>
          <p:cNvSpPr txBox="1"/>
          <p:nvPr/>
        </p:nvSpPr>
        <p:spPr>
          <a:xfrm>
            <a:off x="2103120" y="2761488"/>
            <a:ext cx="150876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Pricing</a:t>
            </a:r>
            <a:endParaRPr lang="en-US" sz="1300" dirty="0"/>
          </a:p>
        </p:txBody>
      </p:sp>
      <p:sp>
        <p:nvSpPr>
          <p:cNvPr id="18" name="a03_zoom_agent3"/>
          <p:cNvSpPr/>
          <p:nvPr/>
        </p:nvSpPr>
        <p:spPr>
          <a:xfrm>
            <a:off x="2103120" y="3611880"/>
            <a:ext cx="1508760" cy="548640"/>
          </a:xfrm>
          <a:prstGeom prst="roundRect">
            <a:avLst>
              <a:gd name="adj" fmla="val 13333"/>
            </a:avLst>
          </a:prstGeom>
          <a:solidFill>
            <a:srgbClr val="151B18"/>
          </a:solidFill>
          <a:ln w="12700">
            <a:solidFill>
              <a:srgbClr val="26332D"/>
            </a:solidFill>
            <a:prstDash val="solid"/>
          </a:ln>
        </p:spPr>
      </p:sp>
      <p:sp>
        <p:nvSpPr>
          <p:cNvPr id="19" name="a03_zoom_agent3"/>
          <p:cNvSpPr txBox="1"/>
          <p:nvPr/>
        </p:nvSpPr>
        <p:spPr>
          <a:xfrm>
            <a:off x="2103120" y="3611880"/>
            <a:ext cx="150876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Risk</a:t>
            </a:r>
            <a:endParaRPr lang="en-US" sz="1300" dirty="0"/>
          </a:p>
        </p:txBody>
      </p:sp>
      <p:sp>
        <p:nvSpPr>
          <p:cNvPr id="20" name="a03_fade_parallel"/>
          <p:cNvSpPr txBox="1"/>
          <p:nvPr/>
        </p:nvSpPr>
        <p:spPr>
          <a:xfrm>
            <a:off x="2103120" y="4224528"/>
            <a:ext cx="1508760" cy="228600"/>
          </a:xfrm>
          <a:prstGeom prst="rect">
            <a:avLst/>
          </a:prstGeom>
          <a:noFill/>
          <a:ln/>
        </p:spPr>
        <p:txBody>
          <a:bodyPr wrap="square" lIns="0" tIns="0" rIns="0" bIns="0" rtlCol="0" anchor="ctr"/>
          <a:lstStyle/>
          <a:p>
            <a:pPr marL="0" indent="0" algn="ctr">
              <a:buNone/>
            </a:pPr>
            <a:r>
              <a:rPr lang="en-US" sz="1000" i="1" dirty="0">
                <a:solidFill>
                  <a:srgbClr val="34D399"/>
                </a:solidFill>
                <a:latin typeface="Calibri" pitchFamily="34" charset="0"/>
                <a:ea typeface="Calibri" pitchFamily="34" charset="-122"/>
                <a:cs typeface="Calibri" pitchFamily="34" charset="-120"/>
              </a:rPr>
              <a:t>in parallel</a:t>
            </a:r>
            <a:endParaRPr lang="en-US" sz="1000" dirty="0"/>
          </a:p>
        </p:txBody>
      </p:sp>
      <p:sp>
        <p:nvSpPr>
          <p:cNvPr id="21" name="a04_fade_fanin0"/>
          <p:cNvSpPr/>
          <p:nvPr/>
        </p:nvSpPr>
        <p:spPr>
          <a:xfrm>
            <a:off x="3611880" y="1325880"/>
            <a:ext cx="411480" cy="1280160"/>
          </a:xfrm>
          <a:prstGeom prst="line">
            <a:avLst/>
          </a:prstGeom>
          <a:noFill/>
          <a:ln w="19050">
            <a:solidFill>
              <a:srgbClr val="34D399"/>
            </a:solidFill>
            <a:prstDash val="solid"/>
          </a:ln>
        </p:spPr>
      </p:sp>
      <p:sp>
        <p:nvSpPr>
          <p:cNvPr id="22" name="a04_fade_fanin1"/>
          <p:cNvSpPr/>
          <p:nvPr/>
        </p:nvSpPr>
        <p:spPr>
          <a:xfrm>
            <a:off x="3611880" y="2176272"/>
            <a:ext cx="411480" cy="429768"/>
          </a:xfrm>
          <a:prstGeom prst="line">
            <a:avLst/>
          </a:prstGeom>
          <a:noFill/>
          <a:ln w="19050">
            <a:solidFill>
              <a:srgbClr val="34D399"/>
            </a:solidFill>
            <a:prstDash val="solid"/>
          </a:ln>
        </p:spPr>
      </p:sp>
      <p:sp>
        <p:nvSpPr>
          <p:cNvPr id="23" name="a04_fade_fanin2"/>
          <p:cNvSpPr/>
          <p:nvPr/>
        </p:nvSpPr>
        <p:spPr>
          <a:xfrm flipV="1">
            <a:off x="3611880" y="2606040"/>
            <a:ext cx="411480" cy="429768"/>
          </a:xfrm>
          <a:prstGeom prst="line">
            <a:avLst/>
          </a:prstGeom>
          <a:noFill/>
          <a:ln w="19050">
            <a:solidFill>
              <a:srgbClr val="34D399"/>
            </a:solidFill>
            <a:prstDash val="solid"/>
          </a:ln>
        </p:spPr>
      </p:sp>
      <p:sp>
        <p:nvSpPr>
          <p:cNvPr id="24" name="a04_fade_fanin3"/>
          <p:cNvSpPr/>
          <p:nvPr/>
        </p:nvSpPr>
        <p:spPr>
          <a:xfrm flipV="1">
            <a:off x="3611880" y="2606040"/>
            <a:ext cx="411480" cy="1280160"/>
          </a:xfrm>
          <a:prstGeom prst="line">
            <a:avLst/>
          </a:prstGeom>
          <a:noFill/>
          <a:ln w="19050">
            <a:solidFill>
              <a:srgbClr val="34D399"/>
            </a:solidFill>
            <a:prstDash val="solid"/>
          </a:ln>
        </p:spPr>
      </p:sp>
      <p:sp>
        <p:nvSpPr>
          <p:cNvPr id="25" name="a04_zoom_gate"/>
          <p:cNvSpPr/>
          <p:nvPr/>
        </p:nvSpPr>
        <p:spPr>
          <a:xfrm>
            <a:off x="4023360" y="2359152"/>
            <a:ext cx="493776" cy="493776"/>
          </a:xfrm>
          <a:prstGeom prst="ellipse">
            <a:avLst/>
          </a:prstGeom>
          <a:solidFill>
            <a:srgbClr val="0B0F0D"/>
          </a:solidFill>
          <a:ln w="19050">
            <a:solidFill>
              <a:srgbClr val="34D399"/>
            </a:solidFill>
            <a:prstDash val="solid"/>
          </a:ln>
        </p:spPr>
      </p:sp>
      <p:sp>
        <p:nvSpPr>
          <p:cNvPr id="26" name="a04_zoom_gate"/>
          <p:cNvSpPr txBox="1"/>
          <p:nvPr/>
        </p:nvSpPr>
        <p:spPr>
          <a:xfrm>
            <a:off x="3886200" y="2898648"/>
            <a:ext cx="768096" cy="228600"/>
          </a:xfrm>
          <a:prstGeom prst="rect">
            <a:avLst/>
          </a:prstGeom>
          <a:noFill/>
          <a:ln/>
        </p:spPr>
        <p:txBody>
          <a:bodyPr wrap="square" lIns="0" tIns="0" rIns="0" bIns="0" rtlCol="0" anchor="ctr"/>
          <a:lstStyle/>
          <a:p>
            <a:pPr marL="0" indent="0" algn="ctr">
              <a:buNone/>
            </a:pPr>
            <a:r>
              <a:rPr lang="en-US" sz="900" dirty="0">
                <a:solidFill>
                  <a:srgbClr val="A3ADA8"/>
                </a:solidFill>
                <a:latin typeface="Calibri" pitchFamily="34" charset="0"/>
                <a:ea typeface="Calibri" pitchFamily="34" charset="-122"/>
                <a:cs typeface="Calibri" pitchFamily="34" charset="-120"/>
              </a:rPr>
              <a:t>GATE</a:t>
            </a:r>
            <a:endParaRPr lang="en-US" sz="900" dirty="0"/>
          </a:p>
        </p:txBody>
      </p:sp>
      <p:sp>
        <p:nvSpPr>
          <p:cNvPr id="27" name="a05_wipeL_l1"/>
          <p:cNvSpPr/>
          <p:nvPr/>
        </p:nvSpPr>
        <p:spPr>
          <a:xfrm>
            <a:off x="4517136" y="2606040"/>
            <a:ext cx="329184" cy="0"/>
          </a:xfrm>
          <a:prstGeom prst="line">
            <a:avLst/>
          </a:prstGeom>
          <a:noFill/>
          <a:ln w="19050">
            <a:solidFill>
              <a:srgbClr val="34D399"/>
            </a:solidFill>
            <a:prstDash val="solid"/>
            <a:tailEnd type="triangle"/>
          </a:ln>
        </p:spPr>
      </p:sp>
      <p:sp>
        <p:nvSpPr>
          <p:cNvPr id="28" name="a05_zoom_neg"/>
          <p:cNvSpPr/>
          <p:nvPr/>
        </p:nvSpPr>
        <p:spPr>
          <a:xfrm>
            <a:off x="4846320" y="2331720"/>
            <a:ext cx="1325880" cy="548640"/>
          </a:xfrm>
          <a:prstGeom prst="roundRect">
            <a:avLst>
              <a:gd name="adj" fmla="val 13333"/>
            </a:avLst>
          </a:prstGeom>
          <a:solidFill>
            <a:srgbClr val="151B18"/>
          </a:solidFill>
          <a:ln w="12700">
            <a:solidFill>
              <a:srgbClr val="26332D"/>
            </a:solidFill>
            <a:prstDash val="solid"/>
          </a:ln>
        </p:spPr>
      </p:sp>
      <p:sp>
        <p:nvSpPr>
          <p:cNvPr id="29" name="a05_zoom_neg"/>
          <p:cNvSpPr txBox="1"/>
          <p:nvPr/>
        </p:nvSpPr>
        <p:spPr>
          <a:xfrm>
            <a:off x="4846320" y="2331720"/>
            <a:ext cx="132588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Negotiation</a:t>
            </a:r>
            <a:endParaRPr lang="en-US" sz="1300" dirty="0"/>
          </a:p>
        </p:txBody>
      </p:sp>
      <p:sp>
        <p:nvSpPr>
          <p:cNvPr id="30" name="a06_wipeL_l2"/>
          <p:cNvSpPr/>
          <p:nvPr/>
        </p:nvSpPr>
        <p:spPr>
          <a:xfrm>
            <a:off x="6172200" y="2606040"/>
            <a:ext cx="320040" cy="0"/>
          </a:xfrm>
          <a:prstGeom prst="line">
            <a:avLst/>
          </a:prstGeom>
          <a:noFill/>
          <a:ln w="19050">
            <a:solidFill>
              <a:srgbClr val="34D399"/>
            </a:solidFill>
            <a:prstDash val="solid"/>
            <a:tailEnd type="triangle"/>
          </a:ln>
        </p:spPr>
      </p:sp>
      <p:sp>
        <p:nvSpPr>
          <p:cNvPr id="31" name="a06_zoom_sup"/>
          <p:cNvSpPr/>
          <p:nvPr/>
        </p:nvSpPr>
        <p:spPr>
          <a:xfrm>
            <a:off x="6492240" y="2240280"/>
            <a:ext cx="1188720" cy="731520"/>
          </a:xfrm>
          <a:prstGeom prst="roundRect">
            <a:avLst>
              <a:gd name="adj" fmla="val 10000"/>
            </a:avLst>
          </a:prstGeom>
          <a:solidFill>
            <a:srgbClr val="34D399"/>
          </a:solidFill>
          <a:ln w="12700">
            <a:solidFill>
              <a:srgbClr val="34D399"/>
            </a:solidFill>
            <a:prstDash val="solid"/>
          </a:ln>
        </p:spPr>
      </p:sp>
      <p:sp>
        <p:nvSpPr>
          <p:cNvPr id="32" name="a06_zoom_sup"/>
          <p:cNvSpPr txBox="1"/>
          <p:nvPr/>
        </p:nvSpPr>
        <p:spPr>
          <a:xfrm>
            <a:off x="6492240" y="2240280"/>
            <a:ext cx="1188720" cy="731520"/>
          </a:xfrm>
          <a:prstGeom prst="rect">
            <a:avLst/>
          </a:prstGeom>
          <a:noFill/>
          <a:ln/>
        </p:spPr>
        <p:txBody>
          <a:bodyPr wrap="square" lIns="0" tIns="0" rIns="0" bIns="0" rtlCol="0" anchor="ctr"/>
          <a:lstStyle/>
          <a:p>
            <a:pPr marL="0" indent="0" algn="ctr">
              <a:buNone/>
            </a:pPr>
            <a:r>
              <a:rPr lang="en-US" sz="1300" b="1" dirty="0">
                <a:solidFill>
                  <a:srgbClr val="0B0F0D"/>
                </a:solidFill>
                <a:latin typeface="Calibri" pitchFamily="34" charset="0"/>
                <a:ea typeface="Calibri" pitchFamily="34" charset="-122"/>
                <a:cs typeface="Calibri" pitchFamily="34" charset="-120"/>
              </a:rPr>
              <a:t>Supervisor</a:t>
            </a:r>
            <a:endParaRPr lang="en-US" sz="1300" dirty="0"/>
          </a:p>
          <a:p>
            <a:pPr marL="0" indent="0" algn="ctr">
              <a:buNone/>
            </a:pPr>
            <a:r>
              <a:rPr lang="en-US" sz="1000" dirty="0">
                <a:solidFill>
                  <a:srgbClr val="0B0F0D"/>
                </a:solidFill>
                <a:latin typeface="Calibri" pitchFamily="34" charset="0"/>
                <a:ea typeface="Calibri" pitchFamily="34" charset="-122"/>
                <a:cs typeface="Calibri" pitchFamily="34" charset="-120"/>
              </a:rPr>
              <a:t>weighted score</a:t>
            </a:r>
            <a:endParaRPr lang="en-US" sz="1300" dirty="0"/>
          </a:p>
        </p:txBody>
      </p:sp>
      <p:sp>
        <p:nvSpPr>
          <p:cNvPr id="33" name="a07_flyR_band0"/>
          <p:cNvSpPr/>
          <p:nvPr/>
        </p:nvSpPr>
        <p:spPr>
          <a:xfrm flipV="1">
            <a:off x="7680960" y="2057400"/>
            <a:ext cx="201168" cy="548640"/>
          </a:xfrm>
          <a:prstGeom prst="line">
            <a:avLst/>
          </a:prstGeom>
          <a:noFill/>
          <a:ln w="19050">
            <a:solidFill>
              <a:srgbClr val="34D399"/>
            </a:solidFill>
            <a:prstDash val="solid"/>
          </a:ln>
        </p:spPr>
      </p:sp>
      <p:sp>
        <p:nvSpPr>
          <p:cNvPr id="34" name="a07_flyR_band0"/>
          <p:cNvSpPr/>
          <p:nvPr/>
        </p:nvSpPr>
        <p:spPr>
          <a:xfrm>
            <a:off x="7882128" y="1874520"/>
            <a:ext cx="868680" cy="365760"/>
          </a:xfrm>
          <a:prstGeom prst="roundRect">
            <a:avLst>
              <a:gd name="adj" fmla="val 50000"/>
            </a:avLst>
          </a:prstGeom>
          <a:solidFill>
            <a:srgbClr val="34D399"/>
          </a:solidFill>
          <a:ln w="6350">
            <a:solidFill>
              <a:srgbClr val="34D399"/>
            </a:solidFill>
            <a:prstDash val="solid"/>
          </a:ln>
        </p:spPr>
      </p:sp>
      <p:sp>
        <p:nvSpPr>
          <p:cNvPr id="35" name="a07_flyR_band0"/>
          <p:cNvSpPr txBox="1"/>
          <p:nvPr/>
        </p:nvSpPr>
        <p:spPr>
          <a:xfrm>
            <a:off x="7882128" y="1874520"/>
            <a:ext cx="868680" cy="365760"/>
          </a:xfrm>
          <a:prstGeom prst="rect">
            <a:avLst/>
          </a:prstGeom>
          <a:noFill/>
          <a:ln/>
        </p:spPr>
        <p:txBody>
          <a:bodyPr wrap="square" lIns="0" tIns="0" rIns="0" bIns="0" rtlCol="0" anchor="ctr"/>
          <a:lstStyle/>
          <a:p>
            <a:pPr marL="0" indent="0" algn="ctr">
              <a:buNone/>
            </a:pPr>
            <a:r>
              <a:rPr lang="en-US" sz="900" b="1" dirty="0">
                <a:solidFill>
                  <a:srgbClr val="0B0F0D"/>
                </a:solidFill>
                <a:latin typeface="Arial" pitchFamily="34" charset="0"/>
                <a:ea typeface="Arial" pitchFamily="34" charset="-122"/>
                <a:cs typeface="Arial" pitchFamily="34" charset="-120"/>
              </a:rPr>
              <a:t>ACCEPT</a:t>
            </a:r>
            <a:endParaRPr lang="en-US" sz="900" dirty="0"/>
          </a:p>
        </p:txBody>
      </p:sp>
      <p:sp>
        <p:nvSpPr>
          <p:cNvPr id="36" name="a07_flyR_band0"/>
          <p:cNvSpPr txBox="1"/>
          <p:nvPr/>
        </p:nvSpPr>
        <p:spPr>
          <a:xfrm>
            <a:off x="7882128" y="2240280"/>
            <a:ext cx="868680" cy="146304"/>
          </a:xfrm>
          <a:prstGeom prst="rect">
            <a:avLst/>
          </a:prstGeom>
          <a:noFill/>
          <a:ln/>
        </p:spPr>
        <p:txBody>
          <a:bodyPr wrap="square" lIns="0" tIns="0" rIns="0" bIns="0" rtlCol="0" anchor="ctr"/>
          <a:lstStyle/>
          <a:p>
            <a:pPr marL="0" indent="0" algn="ctr">
              <a:buNone/>
            </a:pPr>
            <a:r>
              <a:rPr lang="en-US" sz="900" dirty="0">
                <a:solidFill>
                  <a:srgbClr val="A3ADA8"/>
                </a:solidFill>
                <a:latin typeface="Calibri" pitchFamily="34" charset="0"/>
                <a:ea typeface="Calibri" pitchFamily="34" charset="-122"/>
                <a:cs typeface="Calibri" pitchFamily="34" charset="-120"/>
              </a:rPr>
              <a:t>≥ 50</a:t>
            </a:r>
            <a:endParaRPr lang="en-US" sz="900" dirty="0"/>
          </a:p>
        </p:txBody>
      </p:sp>
      <p:sp>
        <p:nvSpPr>
          <p:cNvPr id="37" name="a08_flyR_band1"/>
          <p:cNvSpPr/>
          <p:nvPr/>
        </p:nvSpPr>
        <p:spPr>
          <a:xfrm flipV="1">
            <a:off x="7680960" y="2587752"/>
            <a:ext cx="201168" cy="18288"/>
          </a:xfrm>
          <a:prstGeom prst="line">
            <a:avLst/>
          </a:prstGeom>
          <a:noFill/>
          <a:ln w="19050">
            <a:solidFill>
              <a:srgbClr val="FBBF24"/>
            </a:solidFill>
            <a:prstDash val="solid"/>
          </a:ln>
        </p:spPr>
      </p:sp>
      <p:sp>
        <p:nvSpPr>
          <p:cNvPr id="38" name="a08_flyR_band1"/>
          <p:cNvSpPr/>
          <p:nvPr/>
        </p:nvSpPr>
        <p:spPr>
          <a:xfrm>
            <a:off x="7882128" y="2404872"/>
            <a:ext cx="868680" cy="365760"/>
          </a:xfrm>
          <a:prstGeom prst="roundRect">
            <a:avLst>
              <a:gd name="adj" fmla="val 50000"/>
            </a:avLst>
          </a:prstGeom>
          <a:solidFill>
            <a:srgbClr val="FBBF24"/>
          </a:solidFill>
          <a:ln w="6350">
            <a:solidFill>
              <a:srgbClr val="FBBF24"/>
            </a:solidFill>
            <a:prstDash val="solid"/>
          </a:ln>
        </p:spPr>
      </p:sp>
      <p:sp>
        <p:nvSpPr>
          <p:cNvPr id="39" name="a08_flyR_band1"/>
          <p:cNvSpPr txBox="1"/>
          <p:nvPr/>
        </p:nvSpPr>
        <p:spPr>
          <a:xfrm>
            <a:off x="7882128" y="2404872"/>
            <a:ext cx="868680" cy="365760"/>
          </a:xfrm>
          <a:prstGeom prst="rect">
            <a:avLst/>
          </a:prstGeom>
          <a:noFill/>
          <a:ln/>
        </p:spPr>
        <p:txBody>
          <a:bodyPr wrap="square" lIns="0" tIns="0" rIns="0" bIns="0" rtlCol="0" anchor="ctr"/>
          <a:lstStyle/>
          <a:p>
            <a:pPr marL="0" indent="0" algn="ctr">
              <a:buNone/>
            </a:pPr>
            <a:r>
              <a:rPr lang="en-US" sz="900" b="1" dirty="0">
                <a:solidFill>
                  <a:srgbClr val="0B0F0D"/>
                </a:solidFill>
                <a:latin typeface="Arial" pitchFamily="34" charset="0"/>
                <a:ea typeface="Arial" pitchFamily="34" charset="-122"/>
                <a:cs typeface="Arial" pitchFamily="34" charset="-120"/>
              </a:rPr>
              <a:t>NEGOTIATE</a:t>
            </a:r>
            <a:endParaRPr lang="en-US" sz="900" dirty="0"/>
          </a:p>
        </p:txBody>
      </p:sp>
      <p:sp>
        <p:nvSpPr>
          <p:cNvPr id="40" name="a08_flyR_band1"/>
          <p:cNvSpPr txBox="1"/>
          <p:nvPr/>
        </p:nvSpPr>
        <p:spPr>
          <a:xfrm>
            <a:off x="7882128" y="2770632"/>
            <a:ext cx="868680" cy="146304"/>
          </a:xfrm>
          <a:prstGeom prst="rect">
            <a:avLst/>
          </a:prstGeom>
          <a:noFill/>
          <a:ln/>
        </p:spPr>
        <p:txBody>
          <a:bodyPr wrap="square" lIns="0" tIns="0" rIns="0" bIns="0" rtlCol="0" anchor="ctr"/>
          <a:lstStyle/>
          <a:p>
            <a:pPr marL="0" indent="0" algn="ctr">
              <a:buNone/>
            </a:pPr>
            <a:r>
              <a:rPr lang="en-US" sz="900" dirty="0">
                <a:solidFill>
                  <a:srgbClr val="A3ADA8"/>
                </a:solidFill>
                <a:latin typeface="Calibri" pitchFamily="34" charset="0"/>
                <a:ea typeface="Calibri" pitchFamily="34" charset="-122"/>
                <a:cs typeface="Calibri" pitchFamily="34" charset="-120"/>
              </a:rPr>
              <a:t>45–50</a:t>
            </a:r>
            <a:endParaRPr lang="en-US" sz="900" dirty="0"/>
          </a:p>
        </p:txBody>
      </p:sp>
      <p:sp>
        <p:nvSpPr>
          <p:cNvPr id="41" name="a09_flyR_band2"/>
          <p:cNvSpPr/>
          <p:nvPr/>
        </p:nvSpPr>
        <p:spPr>
          <a:xfrm>
            <a:off x="7680960" y="2606040"/>
            <a:ext cx="201168" cy="512064"/>
          </a:xfrm>
          <a:prstGeom prst="line">
            <a:avLst/>
          </a:prstGeom>
          <a:noFill/>
          <a:ln w="19050">
            <a:solidFill>
              <a:srgbClr val="F87171"/>
            </a:solidFill>
            <a:prstDash val="solid"/>
          </a:ln>
        </p:spPr>
      </p:sp>
      <p:sp>
        <p:nvSpPr>
          <p:cNvPr id="42" name="a09_flyR_band2"/>
          <p:cNvSpPr/>
          <p:nvPr/>
        </p:nvSpPr>
        <p:spPr>
          <a:xfrm>
            <a:off x="7882128" y="2935224"/>
            <a:ext cx="868680" cy="365760"/>
          </a:xfrm>
          <a:prstGeom prst="roundRect">
            <a:avLst>
              <a:gd name="adj" fmla="val 50000"/>
            </a:avLst>
          </a:prstGeom>
          <a:solidFill>
            <a:srgbClr val="F87171"/>
          </a:solidFill>
          <a:ln w="6350">
            <a:solidFill>
              <a:srgbClr val="F87171"/>
            </a:solidFill>
            <a:prstDash val="solid"/>
          </a:ln>
        </p:spPr>
      </p:sp>
      <p:sp>
        <p:nvSpPr>
          <p:cNvPr id="43" name="a09_flyR_band2"/>
          <p:cNvSpPr txBox="1"/>
          <p:nvPr/>
        </p:nvSpPr>
        <p:spPr>
          <a:xfrm>
            <a:off x="7882128" y="2935224"/>
            <a:ext cx="868680" cy="365760"/>
          </a:xfrm>
          <a:prstGeom prst="rect">
            <a:avLst/>
          </a:prstGeom>
          <a:noFill/>
          <a:ln/>
        </p:spPr>
        <p:txBody>
          <a:bodyPr wrap="square" lIns="0" tIns="0" rIns="0" bIns="0" rtlCol="0" anchor="ctr"/>
          <a:lstStyle/>
          <a:p>
            <a:pPr marL="0" indent="0" algn="ctr">
              <a:buNone/>
            </a:pPr>
            <a:r>
              <a:rPr lang="en-US" sz="900" b="1" dirty="0">
                <a:solidFill>
                  <a:srgbClr val="0B0F0D"/>
                </a:solidFill>
                <a:latin typeface="Arial" pitchFamily="34" charset="0"/>
                <a:ea typeface="Arial" pitchFamily="34" charset="-122"/>
                <a:cs typeface="Arial" pitchFamily="34" charset="-120"/>
              </a:rPr>
              <a:t>REJECT</a:t>
            </a:r>
            <a:endParaRPr lang="en-US" sz="900" dirty="0"/>
          </a:p>
        </p:txBody>
      </p:sp>
      <p:sp>
        <p:nvSpPr>
          <p:cNvPr id="44" name="a09_flyR_band2"/>
          <p:cNvSpPr txBox="1"/>
          <p:nvPr/>
        </p:nvSpPr>
        <p:spPr>
          <a:xfrm>
            <a:off x="7882128" y="3300984"/>
            <a:ext cx="868680" cy="146304"/>
          </a:xfrm>
          <a:prstGeom prst="rect">
            <a:avLst/>
          </a:prstGeom>
          <a:noFill/>
          <a:ln/>
        </p:spPr>
        <p:txBody>
          <a:bodyPr wrap="square" lIns="0" tIns="0" rIns="0" bIns="0" rtlCol="0" anchor="ctr"/>
          <a:lstStyle/>
          <a:p>
            <a:pPr marL="0" indent="0" algn="ctr">
              <a:buNone/>
            </a:pPr>
            <a:r>
              <a:rPr lang="en-US" sz="900" dirty="0">
                <a:solidFill>
                  <a:srgbClr val="A3ADA8"/>
                </a:solidFill>
                <a:latin typeface="Calibri" pitchFamily="34" charset="0"/>
                <a:ea typeface="Calibri" pitchFamily="34" charset="-122"/>
                <a:cs typeface="Calibri" pitchFamily="34" charset="-120"/>
              </a:rPr>
              <a:t>&lt; 45</a:t>
            </a:r>
            <a:endParaRPr lang="en-US" sz="900" dirty="0"/>
          </a:p>
        </p:txBody>
      </p:sp>
      <p:sp>
        <p:nvSpPr>
          <p:cNvPr id="45" name="a10_fade_veto"/>
          <p:cNvSpPr/>
          <p:nvPr/>
        </p:nvSpPr>
        <p:spPr>
          <a:xfrm>
            <a:off x="4846320" y="3703320"/>
            <a:ext cx="3840480" cy="548640"/>
          </a:xfrm>
          <a:prstGeom prst="roundRect">
            <a:avLst>
              <a:gd name="adj" fmla="val 13333"/>
            </a:avLst>
          </a:prstGeom>
          <a:solidFill>
            <a:srgbClr val="151B18"/>
          </a:solidFill>
          <a:ln w="12700">
            <a:solidFill>
              <a:srgbClr val="F87171"/>
            </a:solidFill>
            <a:prstDash val="solid"/>
          </a:ln>
        </p:spPr>
      </p:sp>
      <p:sp>
        <p:nvSpPr>
          <p:cNvPr id="46" name="a10_fade_veto"/>
          <p:cNvSpPr txBox="1"/>
          <p:nvPr/>
        </p:nvSpPr>
        <p:spPr>
          <a:xfrm>
            <a:off x="4983480" y="3703320"/>
            <a:ext cx="3657600" cy="548640"/>
          </a:xfrm>
          <a:prstGeom prst="rect">
            <a:avLst/>
          </a:prstGeom>
          <a:noFill/>
          <a:ln/>
        </p:spPr>
        <p:txBody>
          <a:bodyPr wrap="square" lIns="0" tIns="0" rIns="0" bIns="0" rtlCol="0" anchor="ctr"/>
          <a:lstStyle/>
          <a:p>
            <a:pPr marL="0" indent="0">
              <a:buNone/>
            </a:pPr>
            <a:r>
              <a:rPr lang="en-US" sz="1200" b="1" dirty="0">
                <a:solidFill>
                  <a:srgbClr val="F87171"/>
                </a:solidFill>
                <a:latin typeface="Calibri" pitchFamily="34" charset="0"/>
                <a:ea typeface="Calibri" pitchFamily="34" charset="-122"/>
                <a:cs typeface="Calibri" pitchFamily="34" charset="-120"/>
              </a:rPr>
              <a:t>Veto  </a:t>
            </a:r>
            <a:r>
              <a:rPr lang="en-US" sz="1200" dirty="0">
                <a:solidFill>
                  <a:srgbClr val="FFFFFF"/>
                </a:solidFill>
                <a:latin typeface="Calibri" pitchFamily="34" charset="0"/>
                <a:ea typeface="Calibri" pitchFamily="34" charset="-122"/>
                <a:cs typeface="Calibri" pitchFamily="34" charset="-120"/>
              </a:rPr>
              <a:t>a "high risk" label makes Accept impossible.</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par>
                          <p:cTn id="11" fill="hold">
                            <p:stCondLst>
                              <p:cond delay="500"/>
                            </p:stCondLst>
                            <p:childTnLst>
                              <p:par>
                                <p:cTn id="12" presetID="23" presetClass="entr" presetSubtype="16"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400" fill="hold"/>
                                        <p:tgtEl>
                                          <p:spTgt spid="6"/>
                                        </p:tgtEl>
                                        <p:attrNameLst>
                                          <p:attrName>ppt_w</p:attrName>
                                        </p:attrNameLst>
                                      </p:cBhvr>
                                      <p:tavLst>
                                        <p:tav tm="0">
                                          <p:val>
                                            <p:fltVal val="0"/>
                                          </p:val>
                                        </p:tav>
                                        <p:tav tm="100000">
                                          <p:val>
                                            <p:strVal val="#ppt_w"/>
                                          </p:val>
                                        </p:tav>
                                      </p:tavLst>
                                    </p:anim>
                                    <p:anim calcmode="lin" valueType="num">
                                      <p:cBhvr>
                                        <p:cTn id="15" dur="400" fill="hold"/>
                                        <p:tgtEl>
                                          <p:spTgt spid="6"/>
                                        </p:tgtEl>
                                        <p:attrNameLst>
                                          <p:attrName>ppt_h</p:attrName>
                                        </p:attrNameLst>
                                      </p:cBhvr>
                                      <p:tavLst>
                                        <p:tav tm="0">
                                          <p:val>
                                            <p:fltVal val="0"/>
                                          </p:val>
                                        </p:tav>
                                        <p:tav tm="100000">
                                          <p:val>
                                            <p:strVal val="#ppt_h"/>
                                          </p:val>
                                        </p:tav>
                                      </p:tavLst>
                                    </p:anim>
                                  </p:childTnLst>
                                </p:cTn>
                              </p:par>
                              <p:par>
                                <p:cTn id="16" presetID="23" presetClass="entr" presetSubtype="16"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400" fill="hold"/>
                                        <p:tgtEl>
                                          <p:spTgt spid="7"/>
                                        </p:tgtEl>
                                        <p:attrNameLst>
                                          <p:attrName>ppt_w</p:attrName>
                                        </p:attrNameLst>
                                      </p:cBhvr>
                                      <p:tavLst>
                                        <p:tav tm="0">
                                          <p:val>
                                            <p:fltVal val="0"/>
                                          </p:val>
                                        </p:tav>
                                        <p:tav tm="100000">
                                          <p:val>
                                            <p:strVal val="#ppt_w"/>
                                          </p:val>
                                        </p:tav>
                                      </p:tavLst>
                                    </p:anim>
                                    <p:anim calcmode="lin" valueType="num">
                                      <p:cBhvr>
                                        <p:cTn id="19" dur="400" fill="hold"/>
                                        <p:tgtEl>
                                          <p:spTgt spid="7"/>
                                        </p:tgtEl>
                                        <p:attrNameLst>
                                          <p:attrName>ppt_h</p:attrName>
                                        </p:attrNameLst>
                                      </p:cBhvr>
                                      <p:tavLst>
                                        <p:tav tm="0">
                                          <p:val>
                                            <p:fltVal val="0"/>
                                          </p:val>
                                        </p:tav>
                                        <p:tav tm="100000">
                                          <p:val>
                                            <p:strVal val="#ppt_h"/>
                                          </p:val>
                                        </p:tav>
                                      </p:tavLst>
                                    </p:anim>
                                  </p:childTnLst>
                                </p:cTn>
                              </p:par>
                            </p:childTnLst>
                          </p:cTn>
                        </p:par>
                        <p:par>
                          <p:cTn id="20" fill="hold">
                            <p:stCondLst>
                              <p:cond delay="900"/>
                            </p:stCondLst>
                            <p:childTnLst>
                              <p:par>
                                <p:cTn id="21" presetID="10" presetClass="entr" presetSubtype="0"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par>
                          <p:cTn id="33" fill="hold">
                            <p:stCondLst>
                              <p:cond delay="1400"/>
                            </p:stCondLst>
                            <p:childTnLst>
                              <p:par>
                                <p:cTn id="34" presetID="23" presetClass="entr" presetSubtype="16" fill="hold" nodeType="after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400" fill="hold"/>
                                        <p:tgtEl>
                                          <p:spTgt spid="12"/>
                                        </p:tgtEl>
                                        <p:attrNameLst>
                                          <p:attrName>ppt_w</p:attrName>
                                        </p:attrNameLst>
                                      </p:cBhvr>
                                      <p:tavLst>
                                        <p:tav tm="0">
                                          <p:val>
                                            <p:fltVal val="0"/>
                                          </p:val>
                                        </p:tav>
                                        <p:tav tm="100000">
                                          <p:val>
                                            <p:strVal val="#ppt_w"/>
                                          </p:val>
                                        </p:tav>
                                      </p:tavLst>
                                    </p:anim>
                                    <p:anim calcmode="lin" valueType="num">
                                      <p:cBhvr>
                                        <p:cTn id="37" dur="400" fill="hold"/>
                                        <p:tgtEl>
                                          <p:spTgt spid="12"/>
                                        </p:tgtEl>
                                        <p:attrNameLst>
                                          <p:attrName>ppt_h</p:attrName>
                                        </p:attrNameLst>
                                      </p:cBhvr>
                                      <p:tavLst>
                                        <p:tav tm="0">
                                          <p:val>
                                            <p:fltVal val="0"/>
                                          </p:val>
                                        </p:tav>
                                        <p:tav tm="100000">
                                          <p:val>
                                            <p:strVal val="#ppt_h"/>
                                          </p:val>
                                        </p:tav>
                                      </p:tavLst>
                                    </p:anim>
                                  </p:childTnLst>
                                </p:cTn>
                              </p:par>
                              <p:par>
                                <p:cTn id="38" presetID="23" presetClass="entr" presetSubtype="16"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 calcmode="lin" valueType="num">
                                      <p:cBhvr>
                                        <p:cTn id="40" dur="400" fill="hold"/>
                                        <p:tgtEl>
                                          <p:spTgt spid="13"/>
                                        </p:tgtEl>
                                        <p:attrNameLst>
                                          <p:attrName>ppt_w</p:attrName>
                                        </p:attrNameLst>
                                      </p:cBhvr>
                                      <p:tavLst>
                                        <p:tav tm="0">
                                          <p:val>
                                            <p:fltVal val="0"/>
                                          </p:val>
                                        </p:tav>
                                        <p:tav tm="100000">
                                          <p:val>
                                            <p:strVal val="#ppt_w"/>
                                          </p:val>
                                        </p:tav>
                                      </p:tavLst>
                                    </p:anim>
                                    <p:anim calcmode="lin" valueType="num">
                                      <p:cBhvr>
                                        <p:cTn id="41" dur="400" fill="hold"/>
                                        <p:tgtEl>
                                          <p:spTgt spid="13"/>
                                        </p:tgtEl>
                                        <p:attrNameLst>
                                          <p:attrName>ppt_h</p:attrName>
                                        </p:attrNameLst>
                                      </p:cBhvr>
                                      <p:tavLst>
                                        <p:tav tm="0">
                                          <p:val>
                                            <p:fltVal val="0"/>
                                          </p:val>
                                        </p:tav>
                                        <p:tav tm="100000">
                                          <p:val>
                                            <p:strVal val="#ppt_h"/>
                                          </p:val>
                                        </p:tav>
                                      </p:tavLst>
                                    </p:anim>
                                  </p:childTnLst>
                                </p:cTn>
                              </p:par>
                              <p:par>
                                <p:cTn id="42" presetID="23" presetClass="entr" presetSubtype="16" fill="hold" nodeType="with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p:cTn id="44" dur="400" fill="hold"/>
                                        <p:tgtEl>
                                          <p:spTgt spid="14"/>
                                        </p:tgtEl>
                                        <p:attrNameLst>
                                          <p:attrName>ppt_w</p:attrName>
                                        </p:attrNameLst>
                                      </p:cBhvr>
                                      <p:tavLst>
                                        <p:tav tm="0">
                                          <p:val>
                                            <p:fltVal val="0"/>
                                          </p:val>
                                        </p:tav>
                                        <p:tav tm="100000">
                                          <p:val>
                                            <p:strVal val="#ppt_w"/>
                                          </p:val>
                                        </p:tav>
                                      </p:tavLst>
                                    </p:anim>
                                    <p:anim calcmode="lin" valueType="num">
                                      <p:cBhvr>
                                        <p:cTn id="45" dur="400" fill="hold"/>
                                        <p:tgtEl>
                                          <p:spTgt spid="14"/>
                                        </p:tgtEl>
                                        <p:attrNameLst>
                                          <p:attrName>ppt_h</p:attrName>
                                        </p:attrNameLst>
                                      </p:cBhvr>
                                      <p:tavLst>
                                        <p:tav tm="0">
                                          <p:val>
                                            <p:fltVal val="0"/>
                                          </p:val>
                                        </p:tav>
                                        <p:tav tm="100000">
                                          <p:val>
                                            <p:strVal val="#ppt_h"/>
                                          </p:val>
                                        </p:tav>
                                      </p:tavLst>
                                    </p:anim>
                                  </p:childTnLst>
                                </p:cTn>
                              </p:par>
                              <p:par>
                                <p:cTn id="46" presetID="23" presetClass="entr" presetSubtype="16"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 calcmode="lin" valueType="num">
                                      <p:cBhvr>
                                        <p:cTn id="48" dur="400" fill="hold"/>
                                        <p:tgtEl>
                                          <p:spTgt spid="15"/>
                                        </p:tgtEl>
                                        <p:attrNameLst>
                                          <p:attrName>ppt_w</p:attrName>
                                        </p:attrNameLst>
                                      </p:cBhvr>
                                      <p:tavLst>
                                        <p:tav tm="0">
                                          <p:val>
                                            <p:fltVal val="0"/>
                                          </p:val>
                                        </p:tav>
                                        <p:tav tm="100000">
                                          <p:val>
                                            <p:strVal val="#ppt_w"/>
                                          </p:val>
                                        </p:tav>
                                      </p:tavLst>
                                    </p:anim>
                                    <p:anim calcmode="lin" valueType="num">
                                      <p:cBhvr>
                                        <p:cTn id="49" dur="400" fill="hold"/>
                                        <p:tgtEl>
                                          <p:spTgt spid="15"/>
                                        </p:tgtEl>
                                        <p:attrNameLst>
                                          <p:attrName>ppt_h</p:attrName>
                                        </p:attrNameLst>
                                      </p:cBhvr>
                                      <p:tavLst>
                                        <p:tav tm="0">
                                          <p:val>
                                            <p:fltVal val="0"/>
                                          </p:val>
                                        </p:tav>
                                        <p:tav tm="100000">
                                          <p:val>
                                            <p:strVal val="#ppt_h"/>
                                          </p:val>
                                        </p:tav>
                                      </p:tavLst>
                                    </p:anim>
                                  </p:childTnLst>
                                </p:cTn>
                              </p:par>
                              <p:par>
                                <p:cTn id="50" presetID="23" presetClass="entr" presetSubtype="16" fill="hold" nodeType="with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p:cTn id="52" dur="400" fill="hold"/>
                                        <p:tgtEl>
                                          <p:spTgt spid="16"/>
                                        </p:tgtEl>
                                        <p:attrNameLst>
                                          <p:attrName>ppt_w</p:attrName>
                                        </p:attrNameLst>
                                      </p:cBhvr>
                                      <p:tavLst>
                                        <p:tav tm="0">
                                          <p:val>
                                            <p:fltVal val="0"/>
                                          </p:val>
                                        </p:tav>
                                        <p:tav tm="100000">
                                          <p:val>
                                            <p:strVal val="#ppt_w"/>
                                          </p:val>
                                        </p:tav>
                                      </p:tavLst>
                                    </p:anim>
                                    <p:anim calcmode="lin" valueType="num">
                                      <p:cBhvr>
                                        <p:cTn id="53" dur="400" fill="hold"/>
                                        <p:tgtEl>
                                          <p:spTgt spid="16"/>
                                        </p:tgtEl>
                                        <p:attrNameLst>
                                          <p:attrName>ppt_h</p:attrName>
                                        </p:attrNameLst>
                                      </p:cBhvr>
                                      <p:tavLst>
                                        <p:tav tm="0">
                                          <p:val>
                                            <p:fltVal val="0"/>
                                          </p:val>
                                        </p:tav>
                                        <p:tav tm="100000">
                                          <p:val>
                                            <p:strVal val="#ppt_h"/>
                                          </p:val>
                                        </p:tav>
                                      </p:tavLst>
                                    </p:anim>
                                  </p:childTnLst>
                                </p:cTn>
                              </p:par>
                              <p:par>
                                <p:cTn id="54" presetID="23" presetClass="entr" presetSubtype="16" fill="hold" grpId="0" nodeType="withEffect">
                                  <p:stCondLst>
                                    <p:cond delay="0"/>
                                  </p:stCondLst>
                                  <p:childTnLst>
                                    <p:set>
                                      <p:cBhvr>
                                        <p:cTn id="55" dur="1" fill="hold">
                                          <p:stCondLst>
                                            <p:cond delay="0"/>
                                          </p:stCondLst>
                                        </p:cTn>
                                        <p:tgtEl>
                                          <p:spTgt spid="17"/>
                                        </p:tgtEl>
                                        <p:attrNameLst>
                                          <p:attrName>style.visibility</p:attrName>
                                        </p:attrNameLst>
                                      </p:cBhvr>
                                      <p:to>
                                        <p:strVal val="visible"/>
                                      </p:to>
                                    </p:set>
                                    <p:anim calcmode="lin" valueType="num">
                                      <p:cBhvr>
                                        <p:cTn id="56" dur="400" fill="hold"/>
                                        <p:tgtEl>
                                          <p:spTgt spid="17"/>
                                        </p:tgtEl>
                                        <p:attrNameLst>
                                          <p:attrName>ppt_w</p:attrName>
                                        </p:attrNameLst>
                                      </p:cBhvr>
                                      <p:tavLst>
                                        <p:tav tm="0">
                                          <p:val>
                                            <p:fltVal val="0"/>
                                          </p:val>
                                        </p:tav>
                                        <p:tav tm="100000">
                                          <p:val>
                                            <p:strVal val="#ppt_w"/>
                                          </p:val>
                                        </p:tav>
                                      </p:tavLst>
                                    </p:anim>
                                    <p:anim calcmode="lin" valueType="num">
                                      <p:cBhvr>
                                        <p:cTn id="57" dur="400" fill="hold"/>
                                        <p:tgtEl>
                                          <p:spTgt spid="17"/>
                                        </p:tgtEl>
                                        <p:attrNameLst>
                                          <p:attrName>ppt_h</p:attrName>
                                        </p:attrNameLst>
                                      </p:cBhvr>
                                      <p:tavLst>
                                        <p:tav tm="0">
                                          <p:val>
                                            <p:fltVal val="0"/>
                                          </p:val>
                                        </p:tav>
                                        <p:tav tm="100000">
                                          <p:val>
                                            <p:strVal val="#ppt_h"/>
                                          </p:val>
                                        </p:tav>
                                      </p:tavLst>
                                    </p:anim>
                                  </p:childTnLst>
                                </p:cTn>
                              </p:par>
                              <p:par>
                                <p:cTn id="58" presetID="23" presetClass="entr" presetSubtype="16" fill="hold" nodeType="withEffect">
                                  <p:stCondLst>
                                    <p:cond delay="0"/>
                                  </p:stCondLst>
                                  <p:childTnLst>
                                    <p:set>
                                      <p:cBhvr>
                                        <p:cTn id="59" dur="1" fill="hold">
                                          <p:stCondLst>
                                            <p:cond delay="0"/>
                                          </p:stCondLst>
                                        </p:cTn>
                                        <p:tgtEl>
                                          <p:spTgt spid="18"/>
                                        </p:tgtEl>
                                        <p:attrNameLst>
                                          <p:attrName>style.visibility</p:attrName>
                                        </p:attrNameLst>
                                      </p:cBhvr>
                                      <p:to>
                                        <p:strVal val="visible"/>
                                      </p:to>
                                    </p:set>
                                    <p:anim calcmode="lin" valueType="num">
                                      <p:cBhvr>
                                        <p:cTn id="60" dur="400" fill="hold"/>
                                        <p:tgtEl>
                                          <p:spTgt spid="18"/>
                                        </p:tgtEl>
                                        <p:attrNameLst>
                                          <p:attrName>ppt_w</p:attrName>
                                        </p:attrNameLst>
                                      </p:cBhvr>
                                      <p:tavLst>
                                        <p:tav tm="0">
                                          <p:val>
                                            <p:fltVal val="0"/>
                                          </p:val>
                                        </p:tav>
                                        <p:tav tm="100000">
                                          <p:val>
                                            <p:strVal val="#ppt_w"/>
                                          </p:val>
                                        </p:tav>
                                      </p:tavLst>
                                    </p:anim>
                                    <p:anim calcmode="lin" valueType="num">
                                      <p:cBhvr>
                                        <p:cTn id="61" dur="400" fill="hold"/>
                                        <p:tgtEl>
                                          <p:spTgt spid="18"/>
                                        </p:tgtEl>
                                        <p:attrNameLst>
                                          <p:attrName>ppt_h</p:attrName>
                                        </p:attrNameLst>
                                      </p:cBhvr>
                                      <p:tavLst>
                                        <p:tav tm="0">
                                          <p:val>
                                            <p:fltVal val="0"/>
                                          </p:val>
                                        </p:tav>
                                        <p:tav tm="100000">
                                          <p:val>
                                            <p:strVal val="#ppt_h"/>
                                          </p:val>
                                        </p:tav>
                                      </p:tavLst>
                                    </p:anim>
                                  </p:childTnLst>
                                </p:cTn>
                              </p:par>
                              <p:par>
                                <p:cTn id="62" presetID="23" presetClass="entr" presetSubtype="16"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 calcmode="lin" valueType="num">
                                      <p:cBhvr>
                                        <p:cTn id="64" dur="400" fill="hold"/>
                                        <p:tgtEl>
                                          <p:spTgt spid="19"/>
                                        </p:tgtEl>
                                        <p:attrNameLst>
                                          <p:attrName>ppt_w</p:attrName>
                                        </p:attrNameLst>
                                      </p:cBhvr>
                                      <p:tavLst>
                                        <p:tav tm="0">
                                          <p:val>
                                            <p:fltVal val="0"/>
                                          </p:val>
                                        </p:tav>
                                        <p:tav tm="100000">
                                          <p:val>
                                            <p:strVal val="#ppt_w"/>
                                          </p:val>
                                        </p:tav>
                                      </p:tavLst>
                                    </p:anim>
                                    <p:anim calcmode="lin" valueType="num">
                                      <p:cBhvr>
                                        <p:cTn id="65" dur="400" fill="hold"/>
                                        <p:tgtEl>
                                          <p:spTgt spid="19"/>
                                        </p:tgtEl>
                                        <p:attrNameLst>
                                          <p:attrName>ppt_h</p:attrName>
                                        </p:attrNameLst>
                                      </p:cBhvr>
                                      <p:tavLst>
                                        <p:tav tm="0">
                                          <p:val>
                                            <p:fltVal val="0"/>
                                          </p:val>
                                        </p:tav>
                                        <p:tav tm="100000">
                                          <p:val>
                                            <p:strVal val="#ppt_h"/>
                                          </p:val>
                                        </p:tav>
                                      </p:tavLst>
                                    </p:anim>
                                  </p:childTnLst>
                                </p:cTn>
                              </p:par>
                              <p:par>
                                <p:cTn id="66" presetID="10" presetClass="entr" presetSubtype="0" fill="hold" grpId="0" nodeType="with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500"/>
                                        <p:tgtEl>
                                          <p:spTgt spid="20"/>
                                        </p:tgtEl>
                                      </p:cBhvr>
                                    </p:animEffect>
                                  </p:childTnLst>
                                </p:cTn>
                              </p:par>
                            </p:childTnLst>
                          </p:cTn>
                        </p:par>
                        <p:par>
                          <p:cTn id="69" fill="hold">
                            <p:stCondLst>
                              <p:cond delay="1900"/>
                            </p:stCondLst>
                            <p:childTnLst>
                              <p:par>
                                <p:cTn id="70" presetID="10" presetClass="entr" presetSubtype="0" fill="hold" nodeType="after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500"/>
                                        <p:tgtEl>
                                          <p:spTgt spid="21"/>
                                        </p:tgtEl>
                                      </p:cBhvr>
                                    </p:animEffect>
                                  </p:childTnLst>
                                </p:cTn>
                              </p:par>
                              <p:par>
                                <p:cTn id="73" presetID="10" presetClass="entr" presetSubtype="0" fill="hold" nodeType="with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500"/>
                                        <p:tgtEl>
                                          <p:spTgt spid="22"/>
                                        </p:tgtEl>
                                      </p:cBhvr>
                                    </p:animEffect>
                                  </p:childTnLst>
                                </p:cTn>
                              </p:par>
                              <p:par>
                                <p:cTn id="76" presetID="10" presetClass="entr" presetSubtype="0" fill="hold" nodeType="withEffect">
                                  <p:stCondLst>
                                    <p:cond delay="0"/>
                                  </p:stCondLst>
                                  <p:childTnLst>
                                    <p:set>
                                      <p:cBhvr>
                                        <p:cTn id="77" dur="1" fill="hold">
                                          <p:stCondLst>
                                            <p:cond delay="0"/>
                                          </p:stCondLst>
                                        </p:cTn>
                                        <p:tgtEl>
                                          <p:spTgt spid="23"/>
                                        </p:tgtEl>
                                        <p:attrNameLst>
                                          <p:attrName>style.visibility</p:attrName>
                                        </p:attrNameLst>
                                      </p:cBhvr>
                                      <p:to>
                                        <p:strVal val="visible"/>
                                      </p:to>
                                    </p:set>
                                    <p:animEffect transition="in" filter="fade">
                                      <p:cBhvr>
                                        <p:cTn id="78" dur="500"/>
                                        <p:tgtEl>
                                          <p:spTgt spid="23"/>
                                        </p:tgtEl>
                                      </p:cBhvr>
                                    </p:animEffect>
                                  </p:childTnLst>
                                </p:cTn>
                              </p:par>
                              <p:par>
                                <p:cTn id="79" presetID="10" presetClass="entr" presetSubtype="0" fill="hold" nodeType="withEffect">
                                  <p:stCondLst>
                                    <p:cond delay="0"/>
                                  </p:stCondLst>
                                  <p:childTnLst>
                                    <p:set>
                                      <p:cBhvr>
                                        <p:cTn id="80" dur="1" fill="hold">
                                          <p:stCondLst>
                                            <p:cond delay="0"/>
                                          </p:stCondLst>
                                        </p:cTn>
                                        <p:tgtEl>
                                          <p:spTgt spid="24"/>
                                        </p:tgtEl>
                                        <p:attrNameLst>
                                          <p:attrName>style.visibility</p:attrName>
                                        </p:attrNameLst>
                                      </p:cBhvr>
                                      <p:to>
                                        <p:strVal val="visible"/>
                                      </p:to>
                                    </p:set>
                                    <p:animEffect transition="in" filter="fade">
                                      <p:cBhvr>
                                        <p:cTn id="81" dur="500"/>
                                        <p:tgtEl>
                                          <p:spTgt spid="24"/>
                                        </p:tgtEl>
                                      </p:cBhvr>
                                    </p:animEffect>
                                  </p:childTnLst>
                                </p:cTn>
                              </p:par>
                              <p:par>
                                <p:cTn id="82" presetID="23" presetClass="entr" presetSubtype="16" fill="hold" nodeType="withEffect">
                                  <p:stCondLst>
                                    <p:cond delay="0"/>
                                  </p:stCondLst>
                                  <p:childTnLst>
                                    <p:set>
                                      <p:cBhvr>
                                        <p:cTn id="83" dur="1" fill="hold">
                                          <p:stCondLst>
                                            <p:cond delay="0"/>
                                          </p:stCondLst>
                                        </p:cTn>
                                        <p:tgtEl>
                                          <p:spTgt spid="25"/>
                                        </p:tgtEl>
                                        <p:attrNameLst>
                                          <p:attrName>style.visibility</p:attrName>
                                        </p:attrNameLst>
                                      </p:cBhvr>
                                      <p:to>
                                        <p:strVal val="visible"/>
                                      </p:to>
                                    </p:set>
                                    <p:anim calcmode="lin" valueType="num">
                                      <p:cBhvr>
                                        <p:cTn id="84" dur="400" fill="hold"/>
                                        <p:tgtEl>
                                          <p:spTgt spid="25"/>
                                        </p:tgtEl>
                                        <p:attrNameLst>
                                          <p:attrName>ppt_w</p:attrName>
                                        </p:attrNameLst>
                                      </p:cBhvr>
                                      <p:tavLst>
                                        <p:tav tm="0">
                                          <p:val>
                                            <p:fltVal val="0"/>
                                          </p:val>
                                        </p:tav>
                                        <p:tav tm="100000">
                                          <p:val>
                                            <p:strVal val="#ppt_w"/>
                                          </p:val>
                                        </p:tav>
                                      </p:tavLst>
                                    </p:anim>
                                    <p:anim calcmode="lin" valueType="num">
                                      <p:cBhvr>
                                        <p:cTn id="85" dur="400" fill="hold"/>
                                        <p:tgtEl>
                                          <p:spTgt spid="25"/>
                                        </p:tgtEl>
                                        <p:attrNameLst>
                                          <p:attrName>ppt_h</p:attrName>
                                        </p:attrNameLst>
                                      </p:cBhvr>
                                      <p:tavLst>
                                        <p:tav tm="0">
                                          <p:val>
                                            <p:fltVal val="0"/>
                                          </p:val>
                                        </p:tav>
                                        <p:tav tm="100000">
                                          <p:val>
                                            <p:strVal val="#ppt_h"/>
                                          </p:val>
                                        </p:tav>
                                      </p:tavLst>
                                    </p:anim>
                                  </p:childTnLst>
                                </p:cTn>
                              </p:par>
                              <p:par>
                                <p:cTn id="86" presetID="23" presetClass="entr" presetSubtype="16" fill="hold" grpId="0" nodeType="withEffect">
                                  <p:stCondLst>
                                    <p:cond delay="0"/>
                                  </p:stCondLst>
                                  <p:childTnLst>
                                    <p:set>
                                      <p:cBhvr>
                                        <p:cTn id="87" dur="1" fill="hold">
                                          <p:stCondLst>
                                            <p:cond delay="0"/>
                                          </p:stCondLst>
                                        </p:cTn>
                                        <p:tgtEl>
                                          <p:spTgt spid="26"/>
                                        </p:tgtEl>
                                        <p:attrNameLst>
                                          <p:attrName>style.visibility</p:attrName>
                                        </p:attrNameLst>
                                      </p:cBhvr>
                                      <p:to>
                                        <p:strVal val="visible"/>
                                      </p:to>
                                    </p:set>
                                    <p:anim calcmode="lin" valueType="num">
                                      <p:cBhvr>
                                        <p:cTn id="88" dur="400" fill="hold"/>
                                        <p:tgtEl>
                                          <p:spTgt spid="26"/>
                                        </p:tgtEl>
                                        <p:attrNameLst>
                                          <p:attrName>ppt_w</p:attrName>
                                        </p:attrNameLst>
                                      </p:cBhvr>
                                      <p:tavLst>
                                        <p:tav tm="0">
                                          <p:val>
                                            <p:fltVal val="0"/>
                                          </p:val>
                                        </p:tav>
                                        <p:tav tm="100000">
                                          <p:val>
                                            <p:strVal val="#ppt_w"/>
                                          </p:val>
                                        </p:tav>
                                      </p:tavLst>
                                    </p:anim>
                                    <p:anim calcmode="lin" valueType="num">
                                      <p:cBhvr>
                                        <p:cTn id="89" dur="400" fill="hold"/>
                                        <p:tgtEl>
                                          <p:spTgt spid="26"/>
                                        </p:tgtEl>
                                        <p:attrNameLst>
                                          <p:attrName>ppt_h</p:attrName>
                                        </p:attrNameLst>
                                      </p:cBhvr>
                                      <p:tavLst>
                                        <p:tav tm="0">
                                          <p:val>
                                            <p:fltVal val="0"/>
                                          </p:val>
                                        </p:tav>
                                        <p:tav tm="100000">
                                          <p:val>
                                            <p:strVal val="#ppt_h"/>
                                          </p:val>
                                        </p:tav>
                                      </p:tavLst>
                                    </p:anim>
                                  </p:childTnLst>
                                </p:cTn>
                              </p:par>
                            </p:childTnLst>
                          </p:cTn>
                        </p:par>
                        <p:par>
                          <p:cTn id="90" fill="hold">
                            <p:stCondLst>
                              <p:cond delay="2400"/>
                            </p:stCondLst>
                            <p:childTnLst>
                              <p:par>
                                <p:cTn id="91" presetID="22" presetClass="entr" presetSubtype="8" fill="hold" nodeType="afterEffect">
                                  <p:stCondLst>
                                    <p:cond delay="0"/>
                                  </p:stCondLst>
                                  <p:childTnLst>
                                    <p:set>
                                      <p:cBhvr>
                                        <p:cTn id="92" dur="1" fill="hold">
                                          <p:stCondLst>
                                            <p:cond delay="0"/>
                                          </p:stCondLst>
                                        </p:cTn>
                                        <p:tgtEl>
                                          <p:spTgt spid="27"/>
                                        </p:tgtEl>
                                        <p:attrNameLst>
                                          <p:attrName>style.visibility</p:attrName>
                                        </p:attrNameLst>
                                      </p:cBhvr>
                                      <p:to>
                                        <p:strVal val="visible"/>
                                      </p:to>
                                    </p:set>
                                    <p:animEffect transition="in" filter="wipe(left)">
                                      <p:cBhvr>
                                        <p:cTn id="93" dur="400"/>
                                        <p:tgtEl>
                                          <p:spTgt spid="27"/>
                                        </p:tgtEl>
                                      </p:cBhvr>
                                    </p:animEffect>
                                  </p:childTnLst>
                                </p:cTn>
                              </p:par>
                              <p:par>
                                <p:cTn id="94" presetID="23" presetClass="entr" presetSubtype="16" fill="hold" nodeType="withEffect">
                                  <p:stCondLst>
                                    <p:cond delay="0"/>
                                  </p:stCondLst>
                                  <p:childTnLst>
                                    <p:set>
                                      <p:cBhvr>
                                        <p:cTn id="95" dur="1" fill="hold">
                                          <p:stCondLst>
                                            <p:cond delay="0"/>
                                          </p:stCondLst>
                                        </p:cTn>
                                        <p:tgtEl>
                                          <p:spTgt spid="28"/>
                                        </p:tgtEl>
                                        <p:attrNameLst>
                                          <p:attrName>style.visibility</p:attrName>
                                        </p:attrNameLst>
                                      </p:cBhvr>
                                      <p:to>
                                        <p:strVal val="visible"/>
                                      </p:to>
                                    </p:set>
                                    <p:anim calcmode="lin" valueType="num">
                                      <p:cBhvr>
                                        <p:cTn id="96" dur="400" fill="hold"/>
                                        <p:tgtEl>
                                          <p:spTgt spid="28"/>
                                        </p:tgtEl>
                                        <p:attrNameLst>
                                          <p:attrName>ppt_w</p:attrName>
                                        </p:attrNameLst>
                                      </p:cBhvr>
                                      <p:tavLst>
                                        <p:tav tm="0">
                                          <p:val>
                                            <p:fltVal val="0"/>
                                          </p:val>
                                        </p:tav>
                                        <p:tav tm="100000">
                                          <p:val>
                                            <p:strVal val="#ppt_w"/>
                                          </p:val>
                                        </p:tav>
                                      </p:tavLst>
                                    </p:anim>
                                    <p:anim calcmode="lin" valueType="num">
                                      <p:cBhvr>
                                        <p:cTn id="97" dur="400" fill="hold"/>
                                        <p:tgtEl>
                                          <p:spTgt spid="28"/>
                                        </p:tgtEl>
                                        <p:attrNameLst>
                                          <p:attrName>ppt_h</p:attrName>
                                        </p:attrNameLst>
                                      </p:cBhvr>
                                      <p:tavLst>
                                        <p:tav tm="0">
                                          <p:val>
                                            <p:fltVal val="0"/>
                                          </p:val>
                                        </p:tav>
                                        <p:tav tm="100000">
                                          <p:val>
                                            <p:strVal val="#ppt_h"/>
                                          </p:val>
                                        </p:tav>
                                      </p:tavLst>
                                    </p:anim>
                                  </p:childTnLst>
                                </p:cTn>
                              </p:par>
                              <p:par>
                                <p:cTn id="98" presetID="23" presetClass="entr" presetSubtype="16" fill="hold" grpId="0" nodeType="withEffect">
                                  <p:stCondLst>
                                    <p:cond delay="0"/>
                                  </p:stCondLst>
                                  <p:childTnLst>
                                    <p:set>
                                      <p:cBhvr>
                                        <p:cTn id="99" dur="1" fill="hold">
                                          <p:stCondLst>
                                            <p:cond delay="0"/>
                                          </p:stCondLst>
                                        </p:cTn>
                                        <p:tgtEl>
                                          <p:spTgt spid="29"/>
                                        </p:tgtEl>
                                        <p:attrNameLst>
                                          <p:attrName>style.visibility</p:attrName>
                                        </p:attrNameLst>
                                      </p:cBhvr>
                                      <p:to>
                                        <p:strVal val="visible"/>
                                      </p:to>
                                    </p:set>
                                    <p:anim calcmode="lin" valueType="num">
                                      <p:cBhvr>
                                        <p:cTn id="100" dur="400" fill="hold"/>
                                        <p:tgtEl>
                                          <p:spTgt spid="29"/>
                                        </p:tgtEl>
                                        <p:attrNameLst>
                                          <p:attrName>ppt_w</p:attrName>
                                        </p:attrNameLst>
                                      </p:cBhvr>
                                      <p:tavLst>
                                        <p:tav tm="0">
                                          <p:val>
                                            <p:fltVal val="0"/>
                                          </p:val>
                                        </p:tav>
                                        <p:tav tm="100000">
                                          <p:val>
                                            <p:strVal val="#ppt_w"/>
                                          </p:val>
                                        </p:tav>
                                      </p:tavLst>
                                    </p:anim>
                                    <p:anim calcmode="lin" valueType="num">
                                      <p:cBhvr>
                                        <p:cTn id="101" dur="400" fill="hold"/>
                                        <p:tgtEl>
                                          <p:spTgt spid="29"/>
                                        </p:tgtEl>
                                        <p:attrNameLst>
                                          <p:attrName>ppt_h</p:attrName>
                                        </p:attrNameLst>
                                      </p:cBhvr>
                                      <p:tavLst>
                                        <p:tav tm="0">
                                          <p:val>
                                            <p:fltVal val="0"/>
                                          </p:val>
                                        </p:tav>
                                        <p:tav tm="100000">
                                          <p:val>
                                            <p:strVal val="#ppt_h"/>
                                          </p:val>
                                        </p:tav>
                                      </p:tavLst>
                                    </p:anim>
                                  </p:childTnLst>
                                </p:cTn>
                              </p:par>
                            </p:childTnLst>
                          </p:cTn>
                        </p:par>
                        <p:par>
                          <p:cTn id="102" fill="hold">
                            <p:stCondLst>
                              <p:cond delay="2800"/>
                            </p:stCondLst>
                            <p:childTnLst>
                              <p:par>
                                <p:cTn id="103" presetID="22" presetClass="entr" presetSubtype="8" fill="hold" nodeType="afterEffect">
                                  <p:stCondLst>
                                    <p:cond delay="0"/>
                                  </p:stCondLst>
                                  <p:childTnLst>
                                    <p:set>
                                      <p:cBhvr>
                                        <p:cTn id="104" dur="1" fill="hold">
                                          <p:stCondLst>
                                            <p:cond delay="0"/>
                                          </p:stCondLst>
                                        </p:cTn>
                                        <p:tgtEl>
                                          <p:spTgt spid="30"/>
                                        </p:tgtEl>
                                        <p:attrNameLst>
                                          <p:attrName>style.visibility</p:attrName>
                                        </p:attrNameLst>
                                      </p:cBhvr>
                                      <p:to>
                                        <p:strVal val="visible"/>
                                      </p:to>
                                    </p:set>
                                    <p:animEffect transition="in" filter="wipe(left)">
                                      <p:cBhvr>
                                        <p:cTn id="105" dur="400"/>
                                        <p:tgtEl>
                                          <p:spTgt spid="30"/>
                                        </p:tgtEl>
                                      </p:cBhvr>
                                    </p:animEffect>
                                  </p:childTnLst>
                                </p:cTn>
                              </p:par>
                              <p:par>
                                <p:cTn id="106" presetID="23" presetClass="entr" presetSubtype="16" fill="hold" nodeType="withEffect">
                                  <p:stCondLst>
                                    <p:cond delay="0"/>
                                  </p:stCondLst>
                                  <p:childTnLst>
                                    <p:set>
                                      <p:cBhvr>
                                        <p:cTn id="107" dur="1" fill="hold">
                                          <p:stCondLst>
                                            <p:cond delay="0"/>
                                          </p:stCondLst>
                                        </p:cTn>
                                        <p:tgtEl>
                                          <p:spTgt spid="31"/>
                                        </p:tgtEl>
                                        <p:attrNameLst>
                                          <p:attrName>style.visibility</p:attrName>
                                        </p:attrNameLst>
                                      </p:cBhvr>
                                      <p:to>
                                        <p:strVal val="visible"/>
                                      </p:to>
                                    </p:set>
                                    <p:anim calcmode="lin" valueType="num">
                                      <p:cBhvr>
                                        <p:cTn id="108" dur="400" fill="hold"/>
                                        <p:tgtEl>
                                          <p:spTgt spid="31"/>
                                        </p:tgtEl>
                                        <p:attrNameLst>
                                          <p:attrName>ppt_w</p:attrName>
                                        </p:attrNameLst>
                                      </p:cBhvr>
                                      <p:tavLst>
                                        <p:tav tm="0">
                                          <p:val>
                                            <p:fltVal val="0"/>
                                          </p:val>
                                        </p:tav>
                                        <p:tav tm="100000">
                                          <p:val>
                                            <p:strVal val="#ppt_w"/>
                                          </p:val>
                                        </p:tav>
                                      </p:tavLst>
                                    </p:anim>
                                    <p:anim calcmode="lin" valueType="num">
                                      <p:cBhvr>
                                        <p:cTn id="109" dur="400" fill="hold"/>
                                        <p:tgtEl>
                                          <p:spTgt spid="31"/>
                                        </p:tgtEl>
                                        <p:attrNameLst>
                                          <p:attrName>ppt_h</p:attrName>
                                        </p:attrNameLst>
                                      </p:cBhvr>
                                      <p:tavLst>
                                        <p:tav tm="0">
                                          <p:val>
                                            <p:fltVal val="0"/>
                                          </p:val>
                                        </p:tav>
                                        <p:tav tm="100000">
                                          <p:val>
                                            <p:strVal val="#ppt_h"/>
                                          </p:val>
                                        </p:tav>
                                      </p:tavLst>
                                    </p:anim>
                                  </p:childTnLst>
                                </p:cTn>
                              </p:par>
                              <p:par>
                                <p:cTn id="110" presetID="23" presetClass="entr" presetSubtype="16" fill="hold" grpId="0" nodeType="withEffect">
                                  <p:stCondLst>
                                    <p:cond delay="0"/>
                                  </p:stCondLst>
                                  <p:childTnLst>
                                    <p:set>
                                      <p:cBhvr>
                                        <p:cTn id="111" dur="1" fill="hold">
                                          <p:stCondLst>
                                            <p:cond delay="0"/>
                                          </p:stCondLst>
                                        </p:cTn>
                                        <p:tgtEl>
                                          <p:spTgt spid="32"/>
                                        </p:tgtEl>
                                        <p:attrNameLst>
                                          <p:attrName>style.visibility</p:attrName>
                                        </p:attrNameLst>
                                      </p:cBhvr>
                                      <p:to>
                                        <p:strVal val="visible"/>
                                      </p:to>
                                    </p:set>
                                    <p:anim calcmode="lin" valueType="num">
                                      <p:cBhvr>
                                        <p:cTn id="112" dur="400" fill="hold"/>
                                        <p:tgtEl>
                                          <p:spTgt spid="32"/>
                                        </p:tgtEl>
                                        <p:attrNameLst>
                                          <p:attrName>ppt_w</p:attrName>
                                        </p:attrNameLst>
                                      </p:cBhvr>
                                      <p:tavLst>
                                        <p:tav tm="0">
                                          <p:val>
                                            <p:fltVal val="0"/>
                                          </p:val>
                                        </p:tav>
                                        <p:tav tm="100000">
                                          <p:val>
                                            <p:strVal val="#ppt_w"/>
                                          </p:val>
                                        </p:tav>
                                      </p:tavLst>
                                    </p:anim>
                                    <p:anim calcmode="lin" valueType="num">
                                      <p:cBhvr>
                                        <p:cTn id="113" dur="400" fill="hold"/>
                                        <p:tgtEl>
                                          <p:spTgt spid="32"/>
                                        </p:tgtEl>
                                        <p:attrNameLst>
                                          <p:attrName>ppt_h</p:attrName>
                                        </p:attrNameLst>
                                      </p:cBhvr>
                                      <p:tavLst>
                                        <p:tav tm="0">
                                          <p:val>
                                            <p:fltVal val="0"/>
                                          </p:val>
                                        </p:tav>
                                        <p:tav tm="100000">
                                          <p:val>
                                            <p:strVal val="#ppt_h"/>
                                          </p:val>
                                        </p:tav>
                                      </p:tavLst>
                                    </p:anim>
                                  </p:childTnLst>
                                </p:cTn>
                              </p:par>
                            </p:childTnLst>
                          </p:cTn>
                        </p:par>
                        <p:par>
                          <p:cTn id="114" fill="hold">
                            <p:stCondLst>
                              <p:cond delay="3200"/>
                            </p:stCondLst>
                            <p:childTnLst>
                              <p:par>
                                <p:cTn id="115" presetID="2" presetClass="entr" presetSubtype="2" fill="hold" nodeType="afterEffect">
                                  <p:stCondLst>
                                    <p:cond delay="0"/>
                                  </p:stCondLst>
                                  <p:childTnLst>
                                    <p:set>
                                      <p:cBhvr>
                                        <p:cTn id="116" dur="1" fill="hold">
                                          <p:stCondLst>
                                            <p:cond delay="0"/>
                                          </p:stCondLst>
                                        </p:cTn>
                                        <p:tgtEl>
                                          <p:spTgt spid="33"/>
                                        </p:tgtEl>
                                        <p:attrNameLst>
                                          <p:attrName>style.visibility</p:attrName>
                                        </p:attrNameLst>
                                      </p:cBhvr>
                                      <p:to>
                                        <p:strVal val="visible"/>
                                      </p:to>
                                    </p:set>
                                    <p:anim calcmode="lin" valueType="num">
                                      <p:cBhvr additive="base">
                                        <p:cTn id="117" dur="500" fill="hold"/>
                                        <p:tgtEl>
                                          <p:spTgt spid="33"/>
                                        </p:tgtEl>
                                        <p:attrNameLst>
                                          <p:attrName>ppt_x</p:attrName>
                                        </p:attrNameLst>
                                      </p:cBhvr>
                                      <p:tavLst>
                                        <p:tav tm="0">
                                          <p:val>
                                            <p:strVal val="1+#ppt_w/2"/>
                                          </p:val>
                                        </p:tav>
                                        <p:tav tm="100000">
                                          <p:val>
                                            <p:strVal val="#ppt_x"/>
                                          </p:val>
                                        </p:tav>
                                      </p:tavLst>
                                    </p:anim>
                                    <p:anim calcmode="lin" valueType="num">
                                      <p:cBhvr additive="base">
                                        <p:cTn id="118" dur="500" fill="hold"/>
                                        <p:tgtEl>
                                          <p:spTgt spid="33"/>
                                        </p:tgtEl>
                                        <p:attrNameLst>
                                          <p:attrName>ppt_y</p:attrName>
                                        </p:attrNameLst>
                                      </p:cBhvr>
                                      <p:tavLst>
                                        <p:tav tm="0">
                                          <p:val>
                                            <p:strVal val="#ppt_y"/>
                                          </p:val>
                                        </p:tav>
                                        <p:tav tm="100000">
                                          <p:val>
                                            <p:strVal val="#ppt_y"/>
                                          </p:val>
                                        </p:tav>
                                      </p:tavLst>
                                    </p:anim>
                                  </p:childTnLst>
                                </p:cTn>
                              </p:par>
                              <p:par>
                                <p:cTn id="119" presetID="2" presetClass="entr" presetSubtype="2" fill="hold" nodeType="withEffect">
                                  <p:stCondLst>
                                    <p:cond delay="0"/>
                                  </p:stCondLst>
                                  <p:childTnLst>
                                    <p:set>
                                      <p:cBhvr>
                                        <p:cTn id="120" dur="1" fill="hold">
                                          <p:stCondLst>
                                            <p:cond delay="0"/>
                                          </p:stCondLst>
                                        </p:cTn>
                                        <p:tgtEl>
                                          <p:spTgt spid="34"/>
                                        </p:tgtEl>
                                        <p:attrNameLst>
                                          <p:attrName>style.visibility</p:attrName>
                                        </p:attrNameLst>
                                      </p:cBhvr>
                                      <p:to>
                                        <p:strVal val="visible"/>
                                      </p:to>
                                    </p:set>
                                    <p:anim calcmode="lin" valueType="num">
                                      <p:cBhvr additive="base">
                                        <p:cTn id="121" dur="500" fill="hold"/>
                                        <p:tgtEl>
                                          <p:spTgt spid="34"/>
                                        </p:tgtEl>
                                        <p:attrNameLst>
                                          <p:attrName>ppt_x</p:attrName>
                                        </p:attrNameLst>
                                      </p:cBhvr>
                                      <p:tavLst>
                                        <p:tav tm="0">
                                          <p:val>
                                            <p:strVal val="1+#ppt_w/2"/>
                                          </p:val>
                                        </p:tav>
                                        <p:tav tm="100000">
                                          <p:val>
                                            <p:strVal val="#ppt_x"/>
                                          </p:val>
                                        </p:tav>
                                      </p:tavLst>
                                    </p:anim>
                                    <p:anim calcmode="lin" valueType="num">
                                      <p:cBhvr additive="base">
                                        <p:cTn id="122" dur="500" fill="hold"/>
                                        <p:tgtEl>
                                          <p:spTgt spid="34"/>
                                        </p:tgtEl>
                                        <p:attrNameLst>
                                          <p:attrName>ppt_y</p:attrName>
                                        </p:attrNameLst>
                                      </p:cBhvr>
                                      <p:tavLst>
                                        <p:tav tm="0">
                                          <p:val>
                                            <p:strVal val="#ppt_y"/>
                                          </p:val>
                                        </p:tav>
                                        <p:tav tm="100000">
                                          <p:val>
                                            <p:strVal val="#ppt_y"/>
                                          </p:val>
                                        </p:tav>
                                      </p:tavLst>
                                    </p:anim>
                                  </p:childTnLst>
                                </p:cTn>
                              </p:par>
                              <p:par>
                                <p:cTn id="123" presetID="2" presetClass="entr" presetSubtype="2" fill="hold" grpId="0" nodeType="withEffect">
                                  <p:stCondLst>
                                    <p:cond delay="0"/>
                                  </p:stCondLst>
                                  <p:childTnLst>
                                    <p:set>
                                      <p:cBhvr>
                                        <p:cTn id="124" dur="1" fill="hold">
                                          <p:stCondLst>
                                            <p:cond delay="0"/>
                                          </p:stCondLst>
                                        </p:cTn>
                                        <p:tgtEl>
                                          <p:spTgt spid="35"/>
                                        </p:tgtEl>
                                        <p:attrNameLst>
                                          <p:attrName>style.visibility</p:attrName>
                                        </p:attrNameLst>
                                      </p:cBhvr>
                                      <p:to>
                                        <p:strVal val="visible"/>
                                      </p:to>
                                    </p:set>
                                    <p:anim calcmode="lin" valueType="num">
                                      <p:cBhvr additive="base">
                                        <p:cTn id="125" dur="500" fill="hold"/>
                                        <p:tgtEl>
                                          <p:spTgt spid="35"/>
                                        </p:tgtEl>
                                        <p:attrNameLst>
                                          <p:attrName>ppt_x</p:attrName>
                                        </p:attrNameLst>
                                      </p:cBhvr>
                                      <p:tavLst>
                                        <p:tav tm="0">
                                          <p:val>
                                            <p:strVal val="1+#ppt_w/2"/>
                                          </p:val>
                                        </p:tav>
                                        <p:tav tm="100000">
                                          <p:val>
                                            <p:strVal val="#ppt_x"/>
                                          </p:val>
                                        </p:tav>
                                      </p:tavLst>
                                    </p:anim>
                                    <p:anim calcmode="lin" valueType="num">
                                      <p:cBhvr additive="base">
                                        <p:cTn id="126" dur="500" fill="hold"/>
                                        <p:tgtEl>
                                          <p:spTgt spid="35"/>
                                        </p:tgtEl>
                                        <p:attrNameLst>
                                          <p:attrName>ppt_y</p:attrName>
                                        </p:attrNameLst>
                                      </p:cBhvr>
                                      <p:tavLst>
                                        <p:tav tm="0">
                                          <p:val>
                                            <p:strVal val="#ppt_y"/>
                                          </p:val>
                                        </p:tav>
                                        <p:tav tm="100000">
                                          <p:val>
                                            <p:strVal val="#ppt_y"/>
                                          </p:val>
                                        </p:tav>
                                      </p:tavLst>
                                    </p:anim>
                                  </p:childTnLst>
                                </p:cTn>
                              </p:par>
                              <p:par>
                                <p:cTn id="127" presetID="2" presetClass="entr" presetSubtype="2" fill="hold" grpId="0" nodeType="withEffect">
                                  <p:stCondLst>
                                    <p:cond delay="0"/>
                                  </p:stCondLst>
                                  <p:childTnLst>
                                    <p:set>
                                      <p:cBhvr>
                                        <p:cTn id="128" dur="1" fill="hold">
                                          <p:stCondLst>
                                            <p:cond delay="0"/>
                                          </p:stCondLst>
                                        </p:cTn>
                                        <p:tgtEl>
                                          <p:spTgt spid="36"/>
                                        </p:tgtEl>
                                        <p:attrNameLst>
                                          <p:attrName>style.visibility</p:attrName>
                                        </p:attrNameLst>
                                      </p:cBhvr>
                                      <p:to>
                                        <p:strVal val="visible"/>
                                      </p:to>
                                    </p:set>
                                    <p:anim calcmode="lin" valueType="num">
                                      <p:cBhvr additive="base">
                                        <p:cTn id="129" dur="500" fill="hold"/>
                                        <p:tgtEl>
                                          <p:spTgt spid="36"/>
                                        </p:tgtEl>
                                        <p:attrNameLst>
                                          <p:attrName>ppt_x</p:attrName>
                                        </p:attrNameLst>
                                      </p:cBhvr>
                                      <p:tavLst>
                                        <p:tav tm="0">
                                          <p:val>
                                            <p:strVal val="1+#ppt_w/2"/>
                                          </p:val>
                                        </p:tav>
                                        <p:tav tm="100000">
                                          <p:val>
                                            <p:strVal val="#ppt_x"/>
                                          </p:val>
                                        </p:tav>
                                      </p:tavLst>
                                    </p:anim>
                                    <p:anim calcmode="lin" valueType="num">
                                      <p:cBhvr additive="base">
                                        <p:cTn id="130" dur="500" fill="hold"/>
                                        <p:tgtEl>
                                          <p:spTgt spid="36"/>
                                        </p:tgtEl>
                                        <p:attrNameLst>
                                          <p:attrName>ppt_y</p:attrName>
                                        </p:attrNameLst>
                                      </p:cBhvr>
                                      <p:tavLst>
                                        <p:tav tm="0">
                                          <p:val>
                                            <p:strVal val="#ppt_y"/>
                                          </p:val>
                                        </p:tav>
                                        <p:tav tm="100000">
                                          <p:val>
                                            <p:strVal val="#ppt_y"/>
                                          </p:val>
                                        </p:tav>
                                      </p:tavLst>
                                    </p:anim>
                                  </p:childTnLst>
                                </p:cTn>
                              </p:par>
                            </p:childTnLst>
                          </p:cTn>
                        </p:par>
                        <p:par>
                          <p:cTn id="131" fill="hold">
                            <p:stCondLst>
                              <p:cond delay="3700"/>
                            </p:stCondLst>
                            <p:childTnLst>
                              <p:par>
                                <p:cTn id="132" presetID="2" presetClass="entr" presetSubtype="2" fill="hold" nodeType="afterEffect">
                                  <p:stCondLst>
                                    <p:cond delay="0"/>
                                  </p:stCondLst>
                                  <p:childTnLst>
                                    <p:set>
                                      <p:cBhvr>
                                        <p:cTn id="133" dur="1" fill="hold">
                                          <p:stCondLst>
                                            <p:cond delay="0"/>
                                          </p:stCondLst>
                                        </p:cTn>
                                        <p:tgtEl>
                                          <p:spTgt spid="37"/>
                                        </p:tgtEl>
                                        <p:attrNameLst>
                                          <p:attrName>style.visibility</p:attrName>
                                        </p:attrNameLst>
                                      </p:cBhvr>
                                      <p:to>
                                        <p:strVal val="visible"/>
                                      </p:to>
                                    </p:set>
                                    <p:anim calcmode="lin" valueType="num">
                                      <p:cBhvr additive="base">
                                        <p:cTn id="134" dur="500" fill="hold"/>
                                        <p:tgtEl>
                                          <p:spTgt spid="37"/>
                                        </p:tgtEl>
                                        <p:attrNameLst>
                                          <p:attrName>ppt_x</p:attrName>
                                        </p:attrNameLst>
                                      </p:cBhvr>
                                      <p:tavLst>
                                        <p:tav tm="0">
                                          <p:val>
                                            <p:strVal val="1+#ppt_w/2"/>
                                          </p:val>
                                        </p:tav>
                                        <p:tav tm="100000">
                                          <p:val>
                                            <p:strVal val="#ppt_x"/>
                                          </p:val>
                                        </p:tav>
                                      </p:tavLst>
                                    </p:anim>
                                    <p:anim calcmode="lin" valueType="num">
                                      <p:cBhvr additive="base">
                                        <p:cTn id="135" dur="500" fill="hold"/>
                                        <p:tgtEl>
                                          <p:spTgt spid="37"/>
                                        </p:tgtEl>
                                        <p:attrNameLst>
                                          <p:attrName>ppt_y</p:attrName>
                                        </p:attrNameLst>
                                      </p:cBhvr>
                                      <p:tavLst>
                                        <p:tav tm="0">
                                          <p:val>
                                            <p:strVal val="#ppt_y"/>
                                          </p:val>
                                        </p:tav>
                                        <p:tav tm="100000">
                                          <p:val>
                                            <p:strVal val="#ppt_y"/>
                                          </p:val>
                                        </p:tav>
                                      </p:tavLst>
                                    </p:anim>
                                  </p:childTnLst>
                                </p:cTn>
                              </p:par>
                              <p:par>
                                <p:cTn id="136" presetID="2" presetClass="entr" presetSubtype="2" fill="hold" nodeType="withEffect">
                                  <p:stCondLst>
                                    <p:cond delay="0"/>
                                  </p:stCondLst>
                                  <p:childTnLst>
                                    <p:set>
                                      <p:cBhvr>
                                        <p:cTn id="137" dur="1" fill="hold">
                                          <p:stCondLst>
                                            <p:cond delay="0"/>
                                          </p:stCondLst>
                                        </p:cTn>
                                        <p:tgtEl>
                                          <p:spTgt spid="38"/>
                                        </p:tgtEl>
                                        <p:attrNameLst>
                                          <p:attrName>style.visibility</p:attrName>
                                        </p:attrNameLst>
                                      </p:cBhvr>
                                      <p:to>
                                        <p:strVal val="visible"/>
                                      </p:to>
                                    </p:set>
                                    <p:anim calcmode="lin" valueType="num">
                                      <p:cBhvr additive="base">
                                        <p:cTn id="138" dur="500" fill="hold"/>
                                        <p:tgtEl>
                                          <p:spTgt spid="38"/>
                                        </p:tgtEl>
                                        <p:attrNameLst>
                                          <p:attrName>ppt_x</p:attrName>
                                        </p:attrNameLst>
                                      </p:cBhvr>
                                      <p:tavLst>
                                        <p:tav tm="0">
                                          <p:val>
                                            <p:strVal val="1+#ppt_w/2"/>
                                          </p:val>
                                        </p:tav>
                                        <p:tav tm="100000">
                                          <p:val>
                                            <p:strVal val="#ppt_x"/>
                                          </p:val>
                                        </p:tav>
                                      </p:tavLst>
                                    </p:anim>
                                    <p:anim calcmode="lin" valueType="num">
                                      <p:cBhvr additive="base">
                                        <p:cTn id="139" dur="500" fill="hold"/>
                                        <p:tgtEl>
                                          <p:spTgt spid="38"/>
                                        </p:tgtEl>
                                        <p:attrNameLst>
                                          <p:attrName>ppt_y</p:attrName>
                                        </p:attrNameLst>
                                      </p:cBhvr>
                                      <p:tavLst>
                                        <p:tav tm="0">
                                          <p:val>
                                            <p:strVal val="#ppt_y"/>
                                          </p:val>
                                        </p:tav>
                                        <p:tav tm="100000">
                                          <p:val>
                                            <p:strVal val="#ppt_y"/>
                                          </p:val>
                                        </p:tav>
                                      </p:tavLst>
                                    </p:anim>
                                  </p:childTnLst>
                                </p:cTn>
                              </p:par>
                              <p:par>
                                <p:cTn id="140" presetID="2" presetClass="entr" presetSubtype="2" fill="hold" grpId="0" nodeType="withEffect">
                                  <p:stCondLst>
                                    <p:cond delay="0"/>
                                  </p:stCondLst>
                                  <p:childTnLst>
                                    <p:set>
                                      <p:cBhvr>
                                        <p:cTn id="141" dur="1" fill="hold">
                                          <p:stCondLst>
                                            <p:cond delay="0"/>
                                          </p:stCondLst>
                                        </p:cTn>
                                        <p:tgtEl>
                                          <p:spTgt spid="39"/>
                                        </p:tgtEl>
                                        <p:attrNameLst>
                                          <p:attrName>style.visibility</p:attrName>
                                        </p:attrNameLst>
                                      </p:cBhvr>
                                      <p:to>
                                        <p:strVal val="visible"/>
                                      </p:to>
                                    </p:set>
                                    <p:anim calcmode="lin" valueType="num">
                                      <p:cBhvr additive="base">
                                        <p:cTn id="142" dur="500" fill="hold"/>
                                        <p:tgtEl>
                                          <p:spTgt spid="39"/>
                                        </p:tgtEl>
                                        <p:attrNameLst>
                                          <p:attrName>ppt_x</p:attrName>
                                        </p:attrNameLst>
                                      </p:cBhvr>
                                      <p:tavLst>
                                        <p:tav tm="0">
                                          <p:val>
                                            <p:strVal val="1+#ppt_w/2"/>
                                          </p:val>
                                        </p:tav>
                                        <p:tav tm="100000">
                                          <p:val>
                                            <p:strVal val="#ppt_x"/>
                                          </p:val>
                                        </p:tav>
                                      </p:tavLst>
                                    </p:anim>
                                    <p:anim calcmode="lin" valueType="num">
                                      <p:cBhvr additive="base">
                                        <p:cTn id="143" dur="500" fill="hold"/>
                                        <p:tgtEl>
                                          <p:spTgt spid="39"/>
                                        </p:tgtEl>
                                        <p:attrNameLst>
                                          <p:attrName>ppt_y</p:attrName>
                                        </p:attrNameLst>
                                      </p:cBhvr>
                                      <p:tavLst>
                                        <p:tav tm="0">
                                          <p:val>
                                            <p:strVal val="#ppt_y"/>
                                          </p:val>
                                        </p:tav>
                                        <p:tav tm="100000">
                                          <p:val>
                                            <p:strVal val="#ppt_y"/>
                                          </p:val>
                                        </p:tav>
                                      </p:tavLst>
                                    </p:anim>
                                  </p:childTnLst>
                                </p:cTn>
                              </p:par>
                              <p:par>
                                <p:cTn id="144" presetID="2" presetClass="entr" presetSubtype="2" fill="hold" grpId="0" nodeType="withEffect">
                                  <p:stCondLst>
                                    <p:cond delay="0"/>
                                  </p:stCondLst>
                                  <p:childTnLst>
                                    <p:set>
                                      <p:cBhvr>
                                        <p:cTn id="145" dur="1" fill="hold">
                                          <p:stCondLst>
                                            <p:cond delay="0"/>
                                          </p:stCondLst>
                                        </p:cTn>
                                        <p:tgtEl>
                                          <p:spTgt spid="40"/>
                                        </p:tgtEl>
                                        <p:attrNameLst>
                                          <p:attrName>style.visibility</p:attrName>
                                        </p:attrNameLst>
                                      </p:cBhvr>
                                      <p:to>
                                        <p:strVal val="visible"/>
                                      </p:to>
                                    </p:set>
                                    <p:anim calcmode="lin" valueType="num">
                                      <p:cBhvr additive="base">
                                        <p:cTn id="146" dur="500" fill="hold"/>
                                        <p:tgtEl>
                                          <p:spTgt spid="40"/>
                                        </p:tgtEl>
                                        <p:attrNameLst>
                                          <p:attrName>ppt_x</p:attrName>
                                        </p:attrNameLst>
                                      </p:cBhvr>
                                      <p:tavLst>
                                        <p:tav tm="0">
                                          <p:val>
                                            <p:strVal val="1+#ppt_w/2"/>
                                          </p:val>
                                        </p:tav>
                                        <p:tav tm="100000">
                                          <p:val>
                                            <p:strVal val="#ppt_x"/>
                                          </p:val>
                                        </p:tav>
                                      </p:tavLst>
                                    </p:anim>
                                    <p:anim calcmode="lin" valueType="num">
                                      <p:cBhvr additive="base">
                                        <p:cTn id="147" dur="500" fill="hold"/>
                                        <p:tgtEl>
                                          <p:spTgt spid="40"/>
                                        </p:tgtEl>
                                        <p:attrNameLst>
                                          <p:attrName>ppt_y</p:attrName>
                                        </p:attrNameLst>
                                      </p:cBhvr>
                                      <p:tavLst>
                                        <p:tav tm="0">
                                          <p:val>
                                            <p:strVal val="#ppt_y"/>
                                          </p:val>
                                        </p:tav>
                                        <p:tav tm="100000">
                                          <p:val>
                                            <p:strVal val="#ppt_y"/>
                                          </p:val>
                                        </p:tav>
                                      </p:tavLst>
                                    </p:anim>
                                  </p:childTnLst>
                                </p:cTn>
                              </p:par>
                            </p:childTnLst>
                          </p:cTn>
                        </p:par>
                        <p:par>
                          <p:cTn id="148" fill="hold">
                            <p:stCondLst>
                              <p:cond delay="4200"/>
                            </p:stCondLst>
                            <p:childTnLst>
                              <p:par>
                                <p:cTn id="149" presetID="2" presetClass="entr" presetSubtype="2" fill="hold" nodeType="afterEffect">
                                  <p:stCondLst>
                                    <p:cond delay="0"/>
                                  </p:stCondLst>
                                  <p:childTnLst>
                                    <p:set>
                                      <p:cBhvr>
                                        <p:cTn id="150" dur="1" fill="hold">
                                          <p:stCondLst>
                                            <p:cond delay="0"/>
                                          </p:stCondLst>
                                        </p:cTn>
                                        <p:tgtEl>
                                          <p:spTgt spid="41"/>
                                        </p:tgtEl>
                                        <p:attrNameLst>
                                          <p:attrName>style.visibility</p:attrName>
                                        </p:attrNameLst>
                                      </p:cBhvr>
                                      <p:to>
                                        <p:strVal val="visible"/>
                                      </p:to>
                                    </p:set>
                                    <p:anim calcmode="lin" valueType="num">
                                      <p:cBhvr additive="base">
                                        <p:cTn id="151" dur="500" fill="hold"/>
                                        <p:tgtEl>
                                          <p:spTgt spid="41"/>
                                        </p:tgtEl>
                                        <p:attrNameLst>
                                          <p:attrName>ppt_x</p:attrName>
                                        </p:attrNameLst>
                                      </p:cBhvr>
                                      <p:tavLst>
                                        <p:tav tm="0">
                                          <p:val>
                                            <p:strVal val="1+#ppt_w/2"/>
                                          </p:val>
                                        </p:tav>
                                        <p:tav tm="100000">
                                          <p:val>
                                            <p:strVal val="#ppt_x"/>
                                          </p:val>
                                        </p:tav>
                                      </p:tavLst>
                                    </p:anim>
                                    <p:anim calcmode="lin" valueType="num">
                                      <p:cBhvr additive="base">
                                        <p:cTn id="152" dur="500" fill="hold"/>
                                        <p:tgtEl>
                                          <p:spTgt spid="41"/>
                                        </p:tgtEl>
                                        <p:attrNameLst>
                                          <p:attrName>ppt_y</p:attrName>
                                        </p:attrNameLst>
                                      </p:cBhvr>
                                      <p:tavLst>
                                        <p:tav tm="0">
                                          <p:val>
                                            <p:strVal val="#ppt_y"/>
                                          </p:val>
                                        </p:tav>
                                        <p:tav tm="100000">
                                          <p:val>
                                            <p:strVal val="#ppt_y"/>
                                          </p:val>
                                        </p:tav>
                                      </p:tavLst>
                                    </p:anim>
                                  </p:childTnLst>
                                </p:cTn>
                              </p:par>
                              <p:par>
                                <p:cTn id="153" presetID="2" presetClass="entr" presetSubtype="2" fill="hold" nodeType="withEffect">
                                  <p:stCondLst>
                                    <p:cond delay="0"/>
                                  </p:stCondLst>
                                  <p:childTnLst>
                                    <p:set>
                                      <p:cBhvr>
                                        <p:cTn id="154" dur="1" fill="hold">
                                          <p:stCondLst>
                                            <p:cond delay="0"/>
                                          </p:stCondLst>
                                        </p:cTn>
                                        <p:tgtEl>
                                          <p:spTgt spid="42"/>
                                        </p:tgtEl>
                                        <p:attrNameLst>
                                          <p:attrName>style.visibility</p:attrName>
                                        </p:attrNameLst>
                                      </p:cBhvr>
                                      <p:to>
                                        <p:strVal val="visible"/>
                                      </p:to>
                                    </p:set>
                                    <p:anim calcmode="lin" valueType="num">
                                      <p:cBhvr additive="base">
                                        <p:cTn id="155" dur="500" fill="hold"/>
                                        <p:tgtEl>
                                          <p:spTgt spid="42"/>
                                        </p:tgtEl>
                                        <p:attrNameLst>
                                          <p:attrName>ppt_x</p:attrName>
                                        </p:attrNameLst>
                                      </p:cBhvr>
                                      <p:tavLst>
                                        <p:tav tm="0">
                                          <p:val>
                                            <p:strVal val="1+#ppt_w/2"/>
                                          </p:val>
                                        </p:tav>
                                        <p:tav tm="100000">
                                          <p:val>
                                            <p:strVal val="#ppt_x"/>
                                          </p:val>
                                        </p:tav>
                                      </p:tavLst>
                                    </p:anim>
                                    <p:anim calcmode="lin" valueType="num">
                                      <p:cBhvr additive="base">
                                        <p:cTn id="156" dur="500" fill="hold"/>
                                        <p:tgtEl>
                                          <p:spTgt spid="42"/>
                                        </p:tgtEl>
                                        <p:attrNameLst>
                                          <p:attrName>ppt_y</p:attrName>
                                        </p:attrNameLst>
                                      </p:cBhvr>
                                      <p:tavLst>
                                        <p:tav tm="0">
                                          <p:val>
                                            <p:strVal val="#ppt_y"/>
                                          </p:val>
                                        </p:tav>
                                        <p:tav tm="100000">
                                          <p:val>
                                            <p:strVal val="#ppt_y"/>
                                          </p:val>
                                        </p:tav>
                                      </p:tavLst>
                                    </p:anim>
                                  </p:childTnLst>
                                </p:cTn>
                              </p:par>
                              <p:par>
                                <p:cTn id="157" presetID="2" presetClass="entr" presetSubtype="2" fill="hold" grpId="0" nodeType="withEffect">
                                  <p:stCondLst>
                                    <p:cond delay="0"/>
                                  </p:stCondLst>
                                  <p:childTnLst>
                                    <p:set>
                                      <p:cBhvr>
                                        <p:cTn id="158" dur="1" fill="hold">
                                          <p:stCondLst>
                                            <p:cond delay="0"/>
                                          </p:stCondLst>
                                        </p:cTn>
                                        <p:tgtEl>
                                          <p:spTgt spid="43"/>
                                        </p:tgtEl>
                                        <p:attrNameLst>
                                          <p:attrName>style.visibility</p:attrName>
                                        </p:attrNameLst>
                                      </p:cBhvr>
                                      <p:to>
                                        <p:strVal val="visible"/>
                                      </p:to>
                                    </p:set>
                                    <p:anim calcmode="lin" valueType="num">
                                      <p:cBhvr additive="base">
                                        <p:cTn id="159" dur="500" fill="hold"/>
                                        <p:tgtEl>
                                          <p:spTgt spid="43"/>
                                        </p:tgtEl>
                                        <p:attrNameLst>
                                          <p:attrName>ppt_x</p:attrName>
                                        </p:attrNameLst>
                                      </p:cBhvr>
                                      <p:tavLst>
                                        <p:tav tm="0">
                                          <p:val>
                                            <p:strVal val="1+#ppt_w/2"/>
                                          </p:val>
                                        </p:tav>
                                        <p:tav tm="100000">
                                          <p:val>
                                            <p:strVal val="#ppt_x"/>
                                          </p:val>
                                        </p:tav>
                                      </p:tavLst>
                                    </p:anim>
                                    <p:anim calcmode="lin" valueType="num">
                                      <p:cBhvr additive="base">
                                        <p:cTn id="160" dur="500" fill="hold"/>
                                        <p:tgtEl>
                                          <p:spTgt spid="43"/>
                                        </p:tgtEl>
                                        <p:attrNameLst>
                                          <p:attrName>ppt_y</p:attrName>
                                        </p:attrNameLst>
                                      </p:cBhvr>
                                      <p:tavLst>
                                        <p:tav tm="0">
                                          <p:val>
                                            <p:strVal val="#ppt_y"/>
                                          </p:val>
                                        </p:tav>
                                        <p:tav tm="100000">
                                          <p:val>
                                            <p:strVal val="#ppt_y"/>
                                          </p:val>
                                        </p:tav>
                                      </p:tavLst>
                                    </p:anim>
                                  </p:childTnLst>
                                </p:cTn>
                              </p:par>
                              <p:par>
                                <p:cTn id="161" presetID="2" presetClass="entr" presetSubtype="2" fill="hold" grpId="0" nodeType="withEffect">
                                  <p:stCondLst>
                                    <p:cond delay="0"/>
                                  </p:stCondLst>
                                  <p:childTnLst>
                                    <p:set>
                                      <p:cBhvr>
                                        <p:cTn id="162" dur="1" fill="hold">
                                          <p:stCondLst>
                                            <p:cond delay="0"/>
                                          </p:stCondLst>
                                        </p:cTn>
                                        <p:tgtEl>
                                          <p:spTgt spid="44"/>
                                        </p:tgtEl>
                                        <p:attrNameLst>
                                          <p:attrName>style.visibility</p:attrName>
                                        </p:attrNameLst>
                                      </p:cBhvr>
                                      <p:to>
                                        <p:strVal val="visible"/>
                                      </p:to>
                                    </p:set>
                                    <p:anim calcmode="lin" valueType="num">
                                      <p:cBhvr additive="base">
                                        <p:cTn id="163" dur="500" fill="hold"/>
                                        <p:tgtEl>
                                          <p:spTgt spid="44"/>
                                        </p:tgtEl>
                                        <p:attrNameLst>
                                          <p:attrName>ppt_x</p:attrName>
                                        </p:attrNameLst>
                                      </p:cBhvr>
                                      <p:tavLst>
                                        <p:tav tm="0">
                                          <p:val>
                                            <p:strVal val="1+#ppt_w/2"/>
                                          </p:val>
                                        </p:tav>
                                        <p:tav tm="100000">
                                          <p:val>
                                            <p:strVal val="#ppt_x"/>
                                          </p:val>
                                        </p:tav>
                                      </p:tavLst>
                                    </p:anim>
                                    <p:anim calcmode="lin" valueType="num">
                                      <p:cBhvr additive="base">
                                        <p:cTn id="164" dur="500" fill="hold"/>
                                        <p:tgtEl>
                                          <p:spTgt spid="44"/>
                                        </p:tgtEl>
                                        <p:attrNameLst>
                                          <p:attrName>ppt_y</p:attrName>
                                        </p:attrNameLst>
                                      </p:cBhvr>
                                      <p:tavLst>
                                        <p:tav tm="0">
                                          <p:val>
                                            <p:strVal val="#ppt_y"/>
                                          </p:val>
                                        </p:tav>
                                        <p:tav tm="100000">
                                          <p:val>
                                            <p:strVal val="#ppt_y"/>
                                          </p:val>
                                        </p:tav>
                                      </p:tavLst>
                                    </p:anim>
                                  </p:childTnLst>
                                </p:cTn>
                              </p:par>
                            </p:childTnLst>
                          </p:cTn>
                        </p:par>
                        <p:par>
                          <p:cTn id="165" fill="hold">
                            <p:stCondLst>
                              <p:cond delay="4700"/>
                            </p:stCondLst>
                            <p:childTnLst>
                              <p:par>
                                <p:cTn id="166" presetID="10" presetClass="entr" presetSubtype="0" fill="hold" nodeType="afterEffect">
                                  <p:stCondLst>
                                    <p:cond delay="0"/>
                                  </p:stCondLst>
                                  <p:childTnLst>
                                    <p:set>
                                      <p:cBhvr>
                                        <p:cTn id="167" dur="1" fill="hold">
                                          <p:stCondLst>
                                            <p:cond delay="0"/>
                                          </p:stCondLst>
                                        </p:cTn>
                                        <p:tgtEl>
                                          <p:spTgt spid="45"/>
                                        </p:tgtEl>
                                        <p:attrNameLst>
                                          <p:attrName>style.visibility</p:attrName>
                                        </p:attrNameLst>
                                      </p:cBhvr>
                                      <p:to>
                                        <p:strVal val="visible"/>
                                      </p:to>
                                    </p:set>
                                    <p:animEffect transition="in" filter="fade">
                                      <p:cBhvr>
                                        <p:cTn id="168" dur="500"/>
                                        <p:tgtEl>
                                          <p:spTgt spid="45"/>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46"/>
                                        </p:tgtEl>
                                        <p:attrNameLst>
                                          <p:attrName>style.visibility</p:attrName>
                                        </p:attrNameLst>
                                      </p:cBhvr>
                                      <p:to>
                                        <p:strVal val="visible"/>
                                      </p:to>
                                    </p:set>
                                    <p:animEffect transition="in" filter="fade">
                                      <p:cBhvr>
                                        <p:cTn id="17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P spid="13" grpId="0" animBg="1"/>
      <p:bldP spid="15" grpId="0" animBg="1"/>
      <p:bldP spid="17" grpId="0" animBg="1"/>
      <p:bldP spid="19" grpId="0" animBg="1"/>
      <p:bldP spid="20" grpId="0" animBg="1"/>
      <p:bldP spid="26" grpId="0" animBg="1"/>
      <p:bldP spid="29" grpId="0" animBg="1"/>
      <p:bldP spid="32" grpId="0" animBg="1"/>
      <p:bldP spid="35" grpId="0" animBg="1"/>
      <p:bldP spid="36" grpId="0" animBg="1"/>
      <p:bldP spid="39" grpId="0" animBg="1"/>
      <p:bldP spid="40" grpId="0" animBg="1"/>
      <p:bldP spid="43" grpId="0" animBg="1"/>
      <p:bldP spid="44" grpId="0" animBg="1"/>
      <p:bldP spid="4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0D"/>
        </a:solidFill>
        <a:effectLst/>
      </p:bgPr>
    </p:bg>
    <p:spTree>
      <p:nvGrpSpPr>
        <p:cNvPr id="1" name=""/>
        <p:cNvGrpSpPr/>
        <p:nvPr/>
      </p:nvGrpSpPr>
      <p:grpSpPr>
        <a:xfrm>
          <a:off x="0" y="0"/>
          <a:ext cx="0" cy="0"/>
          <a:chOff x="0" y="0"/>
          <a:chExt cx="0" cy="0"/>
        </a:xfrm>
      </p:grpSpPr>
      <p:sp>
        <p:nvSpPr>
          <p:cNvPr id="2" name="Glow"/>
          <p:cNvSpPr/>
          <p:nvPr/>
        </p:nvSpPr>
        <p:spPr>
          <a:xfrm>
            <a:off x="6583680" y="-1463040"/>
            <a:ext cx="3840480" cy="3840480"/>
          </a:xfrm>
          <a:prstGeom prst="ellipse">
            <a:avLst/>
          </a:prstGeom>
          <a:solidFill>
            <a:srgbClr val="34D399">
              <a:alpha val="6000"/>
            </a:srgbClr>
          </a:solidFill>
          <a:ln w="12700">
            <a:solidFill>
              <a:srgbClr val="34D399">
                <a:alpha val="0"/>
              </a:srgbClr>
            </a:solidFill>
            <a:prstDash val="solid"/>
          </a:ln>
        </p:spPr>
      </p:sp>
      <p:sp>
        <p:nvSpPr>
          <p:cNvPr id="3" name="a00_fade_kicker"/>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300" dirty="0">
                <a:solidFill>
                  <a:srgbClr val="34D399"/>
                </a:solidFill>
                <a:latin typeface="Calibri" pitchFamily="34" charset="0"/>
                <a:ea typeface="Calibri" pitchFamily="34" charset="-122"/>
                <a:cs typeface="Calibri" pitchFamily="34" charset="-120"/>
              </a:rPr>
              <a:t>DATA AND STACK</a:t>
            </a:r>
            <a:endParaRPr lang="en-US" sz="1100" dirty="0"/>
          </a:p>
        </p:txBody>
      </p:sp>
      <p:sp>
        <p:nvSpPr>
          <p:cNvPr id="4" name="a00_fade_title"/>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BUILT AND RUNNING</a:t>
            </a:r>
            <a:endParaRPr lang="en-US" sz="2800" dirty="0"/>
          </a:p>
        </p:txBody>
      </p:sp>
      <p:sp>
        <p:nvSpPr>
          <p:cNvPr id="6" name="a01_zoom_stat0"/>
          <p:cNvSpPr/>
          <p:nvPr/>
        </p:nvSpPr>
        <p:spPr>
          <a:xfrm>
            <a:off x="457200" y="1234440"/>
            <a:ext cx="1783080" cy="960120"/>
          </a:xfrm>
          <a:prstGeom prst="roundRect">
            <a:avLst>
              <a:gd name="adj" fmla="val 7619"/>
            </a:avLst>
          </a:prstGeom>
          <a:solidFill>
            <a:srgbClr val="151B18"/>
          </a:solidFill>
          <a:ln w="12700">
            <a:solidFill>
              <a:srgbClr val="26332D"/>
            </a:solidFill>
            <a:prstDash val="solid"/>
          </a:ln>
        </p:spPr>
      </p:sp>
      <p:sp>
        <p:nvSpPr>
          <p:cNvPr id="7" name="a01_zoom_stat0"/>
          <p:cNvSpPr txBox="1"/>
          <p:nvPr/>
        </p:nvSpPr>
        <p:spPr>
          <a:xfrm>
            <a:off x="457200" y="1325880"/>
            <a:ext cx="1783080" cy="502920"/>
          </a:xfrm>
          <a:prstGeom prst="rect">
            <a:avLst/>
          </a:prstGeom>
          <a:noFill/>
          <a:ln/>
        </p:spPr>
        <p:txBody>
          <a:bodyPr wrap="square" lIns="0" tIns="0" rIns="0" bIns="0" rtlCol="0" anchor="ctr"/>
          <a:lstStyle/>
          <a:p>
            <a:pPr marL="0" indent="0" algn="ctr">
              <a:buNone/>
            </a:pPr>
            <a:r>
              <a:rPr lang="en-US" sz="2800" b="1" dirty="0">
                <a:solidFill>
                  <a:srgbClr val="34D399"/>
                </a:solidFill>
                <a:latin typeface="Arial" pitchFamily="34" charset="0"/>
                <a:ea typeface="Arial" pitchFamily="34" charset="-122"/>
                <a:cs typeface="Arial" pitchFamily="34" charset="-120"/>
              </a:rPr>
              <a:t>649</a:t>
            </a:r>
            <a:endParaRPr lang="en-US" sz="2800" dirty="0"/>
          </a:p>
        </p:txBody>
      </p:sp>
      <p:sp>
        <p:nvSpPr>
          <p:cNvPr id="8" name="a01_zoom_stat0"/>
          <p:cNvSpPr txBox="1"/>
          <p:nvPr/>
        </p:nvSpPr>
        <p:spPr>
          <a:xfrm>
            <a:off x="457200" y="1837944"/>
            <a:ext cx="1783080" cy="256032"/>
          </a:xfrm>
          <a:prstGeom prst="rect">
            <a:avLst/>
          </a:prstGeom>
          <a:noFill/>
          <a:ln/>
        </p:spPr>
        <p:txBody>
          <a:bodyPr wrap="square" lIns="0" tIns="0" rIns="0" bIns="0" rtlCol="0" anchor="ctr"/>
          <a:lstStyle/>
          <a:p>
            <a:pPr marL="0" indent="0" algn="ctr">
              <a:buNone/>
            </a:pPr>
            <a:r>
              <a:rPr lang="en-US" sz="1200" dirty="0">
                <a:solidFill>
                  <a:srgbClr val="A3ADA8"/>
                </a:solidFill>
                <a:latin typeface="Calibri" pitchFamily="34" charset="0"/>
                <a:ea typeface="Calibri" pitchFamily="34" charset="-122"/>
                <a:cs typeface="Calibri" pitchFamily="34" charset="-120"/>
              </a:rPr>
              <a:t>creators</a:t>
            </a:r>
            <a:endParaRPr lang="en-US" sz="1200" dirty="0"/>
          </a:p>
        </p:txBody>
      </p:sp>
      <p:sp>
        <p:nvSpPr>
          <p:cNvPr id="9" name="a02_zoom_stat1"/>
          <p:cNvSpPr/>
          <p:nvPr/>
        </p:nvSpPr>
        <p:spPr>
          <a:xfrm>
            <a:off x="2377440" y="1234440"/>
            <a:ext cx="1783080" cy="960120"/>
          </a:xfrm>
          <a:prstGeom prst="roundRect">
            <a:avLst>
              <a:gd name="adj" fmla="val 7619"/>
            </a:avLst>
          </a:prstGeom>
          <a:solidFill>
            <a:srgbClr val="151B18"/>
          </a:solidFill>
          <a:ln w="12700">
            <a:solidFill>
              <a:srgbClr val="26332D"/>
            </a:solidFill>
            <a:prstDash val="solid"/>
          </a:ln>
        </p:spPr>
      </p:sp>
      <p:sp>
        <p:nvSpPr>
          <p:cNvPr id="10" name="a02_zoom_stat1"/>
          <p:cNvSpPr txBox="1"/>
          <p:nvPr/>
        </p:nvSpPr>
        <p:spPr>
          <a:xfrm>
            <a:off x="2377440" y="1325880"/>
            <a:ext cx="1783080" cy="502920"/>
          </a:xfrm>
          <a:prstGeom prst="rect">
            <a:avLst/>
          </a:prstGeom>
          <a:noFill/>
          <a:ln/>
        </p:spPr>
        <p:txBody>
          <a:bodyPr wrap="square" lIns="0" tIns="0" rIns="0" bIns="0" rtlCol="0" anchor="ctr"/>
          <a:lstStyle/>
          <a:p>
            <a:pPr marL="0" indent="0" algn="ctr">
              <a:buNone/>
            </a:pPr>
            <a:r>
              <a:rPr lang="en-US" sz="2800" b="1" dirty="0">
                <a:solidFill>
                  <a:srgbClr val="34D399"/>
                </a:solidFill>
                <a:latin typeface="Arial" pitchFamily="34" charset="0"/>
                <a:ea typeface="Arial" pitchFamily="34" charset="-122"/>
                <a:cs typeface="Arial" pitchFamily="34" charset="-120"/>
              </a:rPr>
              <a:t>18</a:t>
            </a:r>
            <a:endParaRPr lang="en-US" sz="2800" dirty="0"/>
          </a:p>
        </p:txBody>
      </p:sp>
      <p:sp>
        <p:nvSpPr>
          <p:cNvPr id="11" name="a02_zoom_stat1"/>
          <p:cNvSpPr txBox="1"/>
          <p:nvPr/>
        </p:nvSpPr>
        <p:spPr>
          <a:xfrm>
            <a:off x="2377440" y="1837944"/>
            <a:ext cx="1783080" cy="256032"/>
          </a:xfrm>
          <a:prstGeom prst="rect">
            <a:avLst/>
          </a:prstGeom>
          <a:noFill/>
          <a:ln/>
        </p:spPr>
        <p:txBody>
          <a:bodyPr wrap="square" lIns="0" tIns="0" rIns="0" bIns="0" rtlCol="0" anchor="ctr"/>
          <a:lstStyle/>
          <a:p>
            <a:pPr marL="0" indent="0" algn="ctr">
              <a:buNone/>
            </a:pPr>
            <a:r>
              <a:rPr lang="en-US" sz="1200" dirty="0">
                <a:solidFill>
                  <a:srgbClr val="A3ADA8"/>
                </a:solidFill>
                <a:latin typeface="Calibri" pitchFamily="34" charset="0"/>
                <a:ea typeface="Calibri" pitchFamily="34" charset="-122"/>
                <a:cs typeface="Calibri" pitchFamily="34" charset="-120"/>
              </a:rPr>
              <a:t>brands</a:t>
            </a:r>
            <a:endParaRPr lang="en-US" sz="1200" dirty="0"/>
          </a:p>
        </p:txBody>
      </p:sp>
      <p:sp>
        <p:nvSpPr>
          <p:cNvPr id="12" name="a03_zoom_stat2"/>
          <p:cNvSpPr/>
          <p:nvPr/>
        </p:nvSpPr>
        <p:spPr>
          <a:xfrm>
            <a:off x="457200" y="2331720"/>
            <a:ext cx="1783080" cy="960120"/>
          </a:xfrm>
          <a:prstGeom prst="roundRect">
            <a:avLst>
              <a:gd name="adj" fmla="val 7619"/>
            </a:avLst>
          </a:prstGeom>
          <a:solidFill>
            <a:srgbClr val="151B18"/>
          </a:solidFill>
          <a:ln w="12700">
            <a:solidFill>
              <a:srgbClr val="26332D"/>
            </a:solidFill>
            <a:prstDash val="solid"/>
          </a:ln>
        </p:spPr>
      </p:sp>
      <p:sp>
        <p:nvSpPr>
          <p:cNvPr id="13" name="a03_zoom_stat2"/>
          <p:cNvSpPr txBox="1"/>
          <p:nvPr/>
        </p:nvSpPr>
        <p:spPr>
          <a:xfrm>
            <a:off x="457200" y="2423160"/>
            <a:ext cx="1783080" cy="502920"/>
          </a:xfrm>
          <a:prstGeom prst="rect">
            <a:avLst/>
          </a:prstGeom>
          <a:noFill/>
          <a:ln/>
        </p:spPr>
        <p:txBody>
          <a:bodyPr wrap="square" lIns="0" tIns="0" rIns="0" bIns="0" rtlCol="0" anchor="ctr"/>
          <a:lstStyle/>
          <a:p>
            <a:pPr marL="0" indent="0" algn="ctr">
              <a:buNone/>
            </a:pPr>
            <a:r>
              <a:rPr lang="en-US" sz="2800" b="1" dirty="0">
                <a:solidFill>
                  <a:srgbClr val="34D399"/>
                </a:solidFill>
                <a:latin typeface="Arial" pitchFamily="34" charset="0"/>
                <a:ea typeface="Arial" pitchFamily="34" charset="-122"/>
                <a:cs typeface="Arial" pitchFamily="34" charset="-120"/>
              </a:rPr>
              <a:t>52</a:t>
            </a:r>
            <a:endParaRPr lang="en-US" sz="2800" dirty="0"/>
          </a:p>
        </p:txBody>
      </p:sp>
      <p:sp>
        <p:nvSpPr>
          <p:cNvPr id="14" name="a03_zoom_stat2"/>
          <p:cNvSpPr txBox="1"/>
          <p:nvPr/>
        </p:nvSpPr>
        <p:spPr>
          <a:xfrm>
            <a:off x="457200" y="2935224"/>
            <a:ext cx="1783080" cy="256032"/>
          </a:xfrm>
          <a:prstGeom prst="rect">
            <a:avLst/>
          </a:prstGeom>
          <a:noFill/>
          <a:ln/>
        </p:spPr>
        <p:txBody>
          <a:bodyPr wrap="square" lIns="0" tIns="0" rIns="0" bIns="0" rtlCol="0" anchor="ctr"/>
          <a:lstStyle/>
          <a:p>
            <a:pPr marL="0" indent="0" algn="ctr">
              <a:buNone/>
            </a:pPr>
            <a:r>
              <a:rPr lang="en-US" sz="1200" dirty="0">
                <a:solidFill>
                  <a:srgbClr val="A3ADA8"/>
                </a:solidFill>
                <a:latin typeface="Calibri" pitchFamily="34" charset="0"/>
                <a:ea typeface="Calibri" pitchFamily="34" charset="-122"/>
                <a:cs typeface="Calibri" pitchFamily="34" charset="-120"/>
              </a:rPr>
              <a:t>past deals</a:t>
            </a:r>
            <a:endParaRPr lang="en-US" sz="1200" dirty="0"/>
          </a:p>
        </p:txBody>
      </p:sp>
      <p:sp>
        <p:nvSpPr>
          <p:cNvPr id="15" name="a04_zoom_stat3"/>
          <p:cNvSpPr/>
          <p:nvPr/>
        </p:nvSpPr>
        <p:spPr>
          <a:xfrm>
            <a:off x="2377440" y="2331720"/>
            <a:ext cx="1783080" cy="960120"/>
          </a:xfrm>
          <a:prstGeom prst="roundRect">
            <a:avLst>
              <a:gd name="adj" fmla="val 7619"/>
            </a:avLst>
          </a:prstGeom>
          <a:solidFill>
            <a:srgbClr val="151B18"/>
          </a:solidFill>
          <a:ln w="12700">
            <a:solidFill>
              <a:srgbClr val="26332D"/>
            </a:solidFill>
            <a:prstDash val="solid"/>
          </a:ln>
        </p:spPr>
      </p:sp>
      <p:sp>
        <p:nvSpPr>
          <p:cNvPr id="16" name="a04_zoom_stat3"/>
          <p:cNvSpPr txBox="1"/>
          <p:nvPr/>
        </p:nvSpPr>
        <p:spPr>
          <a:xfrm>
            <a:off x="2377440" y="2423160"/>
            <a:ext cx="1783080" cy="502920"/>
          </a:xfrm>
          <a:prstGeom prst="rect">
            <a:avLst/>
          </a:prstGeom>
          <a:noFill/>
          <a:ln/>
        </p:spPr>
        <p:txBody>
          <a:bodyPr wrap="square" lIns="0" tIns="0" rIns="0" bIns="0" rtlCol="0" anchor="ctr"/>
          <a:lstStyle/>
          <a:p>
            <a:pPr marL="0" indent="0" algn="ctr">
              <a:buNone/>
            </a:pPr>
            <a:r>
              <a:rPr lang="en-US" sz="2800" b="1" dirty="0">
                <a:solidFill>
                  <a:srgbClr val="34D399"/>
                </a:solidFill>
                <a:latin typeface="Arial" pitchFamily="34" charset="0"/>
                <a:ea typeface="Arial" pitchFamily="34" charset="-122"/>
                <a:cs typeface="Arial" pitchFamily="34" charset="-120"/>
              </a:rPr>
              <a:t>384</a:t>
            </a:r>
            <a:endParaRPr lang="en-US" sz="2800" dirty="0"/>
          </a:p>
        </p:txBody>
      </p:sp>
      <p:sp>
        <p:nvSpPr>
          <p:cNvPr id="17" name="a04_zoom_stat3"/>
          <p:cNvSpPr txBox="1"/>
          <p:nvPr/>
        </p:nvSpPr>
        <p:spPr>
          <a:xfrm>
            <a:off x="2377440" y="2935224"/>
            <a:ext cx="1783080" cy="256032"/>
          </a:xfrm>
          <a:prstGeom prst="rect">
            <a:avLst/>
          </a:prstGeom>
          <a:noFill/>
          <a:ln/>
        </p:spPr>
        <p:txBody>
          <a:bodyPr wrap="square" lIns="0" tIns="0" rIns="0" bIns="0" rtlCol="0" anchor="ctr"/>
          <a:lstStyle/>
          <a:p>
            <a:pPr marL="0" indent="0" algn="ctr">
              <a:buNone/>
            </a:pPr>
            <a:r>
              <a:rPr lang="en-US" sz="1200" dirty="0">
                <a:solidFill>
                  <a:srgbClr val="A3ADA8"/>
                </a:solidFill>
                <a:latin typeface="Calibri" pitchFamily="34" charset="0"/>
                <a:ea typeface="Calibri" pitchFamily="34" charset="-122"/>
                <a:cs typeface="Calibri" pitchFamily="34" charset="-120"/>
              </a:rPr>
              <a:t>dim vectors</a:t>
            </a:r>
            <a:endParaRPr lang="en-US" sz="1200" dirty="0"/>
          </a:p>
        </p:txBody>
      </p:sp>
      <p:sp>
        <p:nvSpPr>
          <p:cNvPr id="18" name="a05_fade_shot"/>
          <p:cNvSpPr/>
          <p:nvPr/>
        </p:nvSpPr>
        <p:spPr>
          <a:xfrm>
            <a:off x="4443984" y="1197864"/>
            <a:ext cx="4279392" cy="2441448"/>
          </a:xfrm>
          <a:prstGeom prst="roundRect">
            <a:avLst>
              <a:gd name="adj" fmla="val 2247"/>
            </a:avLst>
          </a:prstGeom>
          <a:solidFill>
            <a:srgbClr val="26332D"/>
          </a:solidFill>
          <a:ln w="12700">
            <a:solidFill>
              <a:srgbClr val="34D399"/>
            </a:solidFill>
            <a:prstDash val="solid"/>
          </a:ln>
          <a:effectLst>
            <a:outerShdw blurRad="203200" dist="63500" dir="5400000" algn="bl" rotWithShape="0">
              <a:srgbClr val="000000">
                <a:alpha val="60000"/>
              </a:srgbClr>
            </a:outerShdw>
          </a:effectLst>
        </p:spPr>
      </p:sp>
      <p:pic>
        <p:nvPicPr>
          <p:cNvPr id="19" name="a05_fade_shot" descr="Real verdict: ACCEPT, score 72.8"/>
          <p:cNvPicPr>
            <a:picLocks noChangeAspect="1"/>
          </p:cNvPicPr>
          <p:nvPr/>
        </p:nvPicPr>
        <p:blipFill>
          <a:blip r:embed="rId3"/>
          <a:stretch>
            <a:fillRect/>
          </a:stretch>
        </p:blipFill>
        <p:spPr>
          <a:xfrm>
            <a:off x="4480560" y="1234440"/>
            <a:ext cx="4206240" cy="2368296"/>
          </a:xfrm>
          <a:prstGeom prst="rect">
            <a:avLst/>
          </a:prstGeom>
        </p:spPr>
      </p:pic>
      <p:sp>
        <p:nvSpPr>
          <p:cNvPr id="20" name="a06_zoom_badge"/>
          <p:cNvSpPr/>
          <p:nvPr/>
        </p:nvSpPr>
        <p:spPr>
          <a:xfrm>
            <a:off x="6949440" y="3364992"/>
            <a:ext cx="1600200" cy="411480"/>
          </a:xfrm>
          <a:prstGeom prst="roundRect">
            <a:avLst>
              <a:gd name="adj" fmla="val 50000"/>
            </a:avLst>
          </a:prstGeom>
          <a:solidFill>
            <a:srgbClr val="34D399"/>
          </a:solidFill>
          <a:ln w="6350">
            <a:solidFill>
              <a:srgbClr val="34D399"/>
            </a:solidFill>
            <a:prstDash val="solid"/>
          </a:ln>
        </p:spPr>
      </p:sp>
      <p:sp>
        <p:nvSpPr>
          <p:cNvPr id="21" name="a06_zoom_badge"/>
          <p:cNvSpPr txBox="1"/>
          <p:nvPr/>
        </p:nvSpPr>
        <p:spPr>
          <a:xfrm>
            <a:off x="6949440" y="3364992"/>
            <a:ext cx="1600200" cy="411480"/>
          </a:xfrm>
          <a:prstGeom prst="rect">
            <a:avLst/>
          </a:prstGeom>
          <a:noFill/>
          <a:ln/>
        </p:spPr>
        <p:txBody>
          <a:bodyPr wrap="square" lIns="0" tIns="0" rIns="0" bIns="0" rtlCol="0" anchor="ctr"/>
          <a:lstStyle/>
          <a:p>
            <a:pPr marL="0" indent="0" algn="ctr">
              <a:buNone/>
            </a:pPr>
            <a:r>
              <a:rPr lang="en-US" sz="1300" b="1" dirty="0">
                <a:solidFill>
                  <a:srgbClr val="0B0F0D"/>
                </a:solidFill>
                <a:latin typeface="Arial" pitchFamily="34" charset="0"/>
                <a:ea typeface="Arial" pitchFamily="34" charset="-122"/>
                <a:cs typeface="Arial" pitchFamily="34" charset="-120"/>
              </a:rPr>
              <a:t>LIVE · 72.8</a:t>
            </a:r>
            <a:endParaRPr lang="en-US" sz="1300" dirty="0"/>
          </a:p>
        </p:txBody>
      </p:sp>
      <p:sp>
        <p:nvSpPr>
          <p:cNvPr id="22" name="a07_fade_stack0"/>
          <p:cNvSpPr/>
          <p:nvPr/>
        </p:nvSpPr>
        <p:spPr>
          <a:xfrm>
            <a:off x="457200" y="4069080"/>
            <a:ext cx="1463040" cy="457200"/>
          </a:xfrm>
          <a:prstGeom prst="roundRect">
            <a:avLst>
              <a:gd name="adj" fmla="val 50000"/>
            </a:avLst>
          </a:prstGeom>
          <a:solidFill>
            <a:srgbClr val="151B18"/>
          </a:solidFill>
          <a:ln w="12700">
            <a:solidFill>
              <a:srgbClr val="34D399"/>
            </a:solidFill>
            <a:prstDash val="solid"/>
          </a:ln>
        </p:spPr>
      </p:sp>
      <p:sp>
        <p:nvSpPr>
          <p:cNvPr id="23" name="a07_fade_stack0"/>
          <p:cNvSpPr txBox="1"/>
          <p:nvPr/>
        </p:nvSpPr>
        <p:spPr>
          <a:xfrm>
            <a:off x="457200" y="4069080"/>
            <a:ext cx="14630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React 19</a:t>
            </a:r>
            <a:endParaRPr lang="en-US" sz="1200" dirty="0"/>
          </a:p>
        </p:txBody>
      </p:sp>
      <p:sp>
        <p:nvSpPr>
          <p:cNvPr id="24" name="a07_fade_stack0"/>
          <p:cNvSpPr txBox="1"/>
          <p:nvPr/>
        </p:nvSpPr>
        <p:spPr>
          <a:xfrm>
            <a:off x="1920240" y="4069080"/>
            <a:ext cx="219456" cy="457200"/>
          </a:xfrm>
          <a:prstGeom prst="rect">
            <a:avLst/>
          </a:prstGeom>
          <a:noFill/>
          <a:ln/>
        </p:spPr>
        <p:txBody>
          <a:bodyPr wrap="square" lIns="0" tIns="0" rIns="0" bIns="0" rtlCol="0" anchor="ctr"/>
          <a:lstStyle/>
          <a:p>
            <a:pPr marL="0" indent="0" algn="ctr">
              <a:buNone/>
            </a:pPr>
            <a:r>
              <a:rPr lang="en-US" sz="1400" dirty="0">
                <a:solidFill>
                  <a:srgbClr val="34D399"/>
                </a:solidFill>
                <a:latin typeface="Calibri" pitchFamily="34" charset="0"/>
                <a:ea typeface="Calibri" pitchFamily="34" charset="-122"/>
                <a:cs typeface="Calibri" pitchFamily="34" charset="-120"/>
              </a:rPr>
              <a:t>→</a:t>
            </a:r>
            <a:endParaRPr lang="en-US" sz="1400" dirty="0"/>
          </a:p>
        </p:txBody>
      </p:sp>
      <p:sp>
        <p:nvSpPr>
          <p:cNvPr id="25" name="a08_fade_stack1"/>
          <p:cNvSpPr/>
          <p:nvPr/>
        </p:nvSpPr>
        <p:spPr>
          <a:xfrm>
            <a:off x="2139696" y="4069080"/>
            <a:ext cx="1463040" cy="457200"/>
          </a:xfrm>
          <a:prstGeom prst="roundRect">
            <a:avLst>
              <a:gd name="adj" fmla="val 50000"/>
            </a:avLst>
          </a:prstGeom>
          <a:solidFill>
            <a:srgbClr val="151B18"/>
          </a:solidFill>
          <a:ln w="12700">
            <a:solidFill>
              <a:srgbClr val="34D399"/>
            </a:solidFill>
            <a:prstDash val="solid"/>
          </a:ln>
        </p:spPr>
      </p:sp>
      <p:sp>
        <p:nvSpPr>
          <p:cNvPr id="26" name="a08_fade_stack1"/>
          <p:cNvSpPr txBox="1"/>
          <p:nvPr/>
        </p:nvSpPr>
        <p:spPr>
          <a:xfrm>
            <a:off x="2139696" y="4069080"/>
            <a:ext cx="14630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FastAPI</a:t>
            </a:r>
            <a:endParaRPr lang="en-US" sz="1200" dirty="0"/>
          </a:p>
        </p:txBody>
      </p:sp>
      <p:sp>
        <p:nvSpPr>
          <p:cNvPr id="27" name="a08_fade_stack1"/>
          <p:cNvSpPr txBox="1"/>
          <p:nvPr/>
        </p:nvSpPr>
        <p:spPr>
          <a:xfrm>
            <a:off x="3602736" y="4069080"/>
            <a:ext cx="219456" cy="457200"/>
          </a:xfrm>
          <a:prstGeom prst="rect">
            <a:avLst/>
          </a:prstGeom>
          <a:noFill/>
          <a:ln/>
        </p:spPr>
        <p:txBody>
          <a:bodyPr wrap="square" lIns="0" tIns="0" rIns="0" bIns="0" rtlCol="0" anchor="ctr"/>
          <a:lstStyle/>
          <a:p>
            <a:pPr marL="0" indent="0" algn="ctr">
              <a:buNone/>
            </a:pPr>
            <a:r>
              <a:rPr lang="en-US" sz="1400" dirty="0">
                <a:solidFill>
                  <a:srgbClr val="34D399"/>
                </a:solidFill>
                <a:latin typeface="Calibri" pitchFamily="34" charset="0"/>
                <a:ea typeface="Calibri" pitchFamily="34" charset="-122"/>
                <a:cs typeface="Calibri" pitchFamily="34" charset="-120"/>
              </a:rPr>
              <a:t>→</a:t>
            </a:r>
            <a:endParaRPr lang="en-US" sz="1400" dirty="0"/>
          </a:p>
        </p:txBody>
      </p:sp>
      <p:sp>
        <p:nvSpPr>
          <p:cNvPr id="28" name="a09_fade_stack2"/>
          <p:cNvSpPr/>
          <p:nvPr/>
        </p:nvSpPr>
        <p:spPr>
          <a:xfrm>
            <a:off x="3822192" y="4069080"/>
            <a:ext cx="1463040" cy="457200"/>
          </a:xfrm>
          <a:prstGeom prst="roundRect">
            <a:avLst>
              <a:gd name="adj" fmla="val 50000"/>
            </a:avLst>
          </a:prstGeom>
          <a:solidFill>
            <a:srgbClr val="151B18"/>
          </a:solidFill>
          <a:ln w="12700">
            <a:solidFill>
              <a:srgbClr val="34D399"/>
            </a:solidFill>
            <a:prstDash val="solid"/>
          </a:ln>
        </p:spPr>
      </p:sp>
      <p:sp>
        <p:nvSpPr>
          <p:cNvPr id="29" name="a09_fade_stack2"/>
          <p:cNvSpPr txBox="1"/>
          <p:nvPr/>
        </p:nvSpPr>
        <p:spPr>
          <a:xfrm>
            <a:off x="3822192" y="4069080"/>
            <a:ext cx="14630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LangGraph</a:t>
            </a:r>
            <a:endParaRPr lang="en-US" sz="1200" dirty="0"/>
          </a:p>
        </p:txBody>
      </p:sp>
      <p:sp>
        <p:nvSpPr>
          <p:cNvPr id="30" name="a09_fade_stack2"/>
          <p:cNvSpPr txBox="1"/>
          <p:nvPr/>
        </p:nvSpPr>
        <p:spPr>
          <a:xfrm>
            <a:off x="5285232" y="4069080"/>
            <a:ext cx="219456" cy="457200"/>
          </a:xfrm>
          <a:prstGeom prst="rect">
            <a:avLst/>
          </a:prstGeom>
          <a:noFill/>
          <a:ln/>
        </p:spPr>
        <p:txBody>
          <a:bodyPr wrap="square" lIns="0" tIns="0" rIns="0" bIns="0" rtlCol="0" anchor="ctr"/>
          <a:lstStyle/>
          <a:p>
            <a:pPr marL="0" indent="0" algn="ctr">
              <a:buNone/>
            </a:pPr>
            <a:r>
              <a:rPr lang="en-US" sz="1400" dirty="0">
                <a:solidFill>
                  <a:srgbClr val="34D399"/>
                </a:solidFill>
                <a:latin typeface="Calibri" pitchFamily="34" charset="0"/>
                <a:ea typeface="Calibri" pitchFamily="34" charset="-122"/>
                <a:cs typeface="Calibri" pitchFamily="34" charset="-120"/>
              </a:rPr>
              <a:t>→</a:t>
            </a:r>
            <a:endParaRPr lang="en-US" sz="1400" dirty="0"/>
          </a:p>
        </p:txBody>
      </p:sp>
      <p:sp>
        <p:nvSpPr>
          <p:cNvPr id="31" name="a10_fade_stack3"/>
          <p:cNvSpPr/>
          <p:nvPr/>
        </p:nvSpPr>
        <p:spPr>
          <a:xfrm>
            <a:off x="5504688" y="4069080"/>
            <a:ext cx="1463040" cy="457200"/>
          </a:xfrm>
          <a:prstGeom prst="roundRect">
            <a:avLst>
              <a:gd name="adj" fmla="val 50000"/>
            </a:avLst>
          </a:prstGeom>
          <a:solidFill>
            <a:srgbClr val="151B18"/>
          </a:solidFill>
          <a:ln w="12700">
            <a:solidFill>
              <a:srgbClr val="34D399"/>
            </a:solidFill>
            <a:prstDash val="solid"/>
          </a:ln>
        </p:spPr>
      </p:sp>
      <p:sp>
        <p:nvSpPr>
          <p:cNvPr id="32" name="a10_fade_stack3"/>
          <p:cNvSpPr txBox="1"/>
          <p:nvPr/>
        </p:nvSpPr>
        <p:spPr>
          <a:xfrm>
            <a:off x="5504688" y="4069080"/>
            <a:ext cx="14630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Groq LLM</a:t>
            </a:r>
            <a:endParaRPr lang="en-US" sz="1200" dirty="0"/>
          </a:p>
        </p:txBody>
      </p:sp>
      <p:sp>
        <p:nvSpPr>
          <p:cNvPr id="33" name="a10_fade_stack3"/>
          <p:cNvSpPr txBox="1"/>
          <p:nvPr/>
        </p:nvSpPr>
        <p:spPr>
          <a:xfrm>
            <a:off x="6967728" y="4069080"/>
            <a:ext cx="219456" cy="457200"/>
          </a:xfrm>
          <a:prstGeom prst="rect">
            <a:avLst/>
          </a:prstGeom>
          <a:noFill/>
          <a:ln/>
        </p:spPr>
        <p:txBody>
          <a:bodyPr wrap="square" lIns="0" tIns="0" rIns="0" bIns="0" rtlCol="0" anchor="ctr"/>
          <a:lstStyle/>
          <a:p>
            <a:pPr marL="0" indent="0" algn="ctr">
              <a:buNone/>
            </a:pPr>
            <a:r>
              <a:rPr lang="en-US" sz="1400" dirty="0">
                <a:solidFill>
                  <a:srgbClr val="34D399"/>
                </a:solidFill>
                <a:latin typeface="Calibri" pitchFamily="34" charset="0"/>
                <a:ea typeface="Calibri" pitchFamily="34" charset="-122"/>
                <a:cs typeface="Calibri" pitchFamily="34" charset="-120"/>
              </a:rPr>
              <a:t>→</a:t>
            </a:r>
            <a:endParaRPr lang="en-US" sz="1400" dirty="0"/>
          </a:p>
        </p:txBody>
      </p:sp>
      <p:sp>
        <p:nvSpPr>
          <p:cNvPr id="34" name="a11_fade_stack4"/>
          <p:cNvSpPr/>
          <p:nvPr/>
        </p:nvSpPr>
        <p:spPr>
          <a:xfrm>
            <a:off x="7187184" y="4069080"/>
            <a:ext cx="1463040" cy="457200"/>
          </a:xfrm>
          <a:prstGeom prst="roundRect">
            <a:avLst>
              <a:gd name="adj" fmla="val 50000"/>
            </a:avLst>
          </a:prstGeom>
          <a:solidFill>
            <a:srgbClr val="151B18"/>
          </a:solidFill>
          <a:ln w="12700">
            <a:solidFill>
              <a:srgbClr val="34D399"/>
            </a:solidFill>
            <a:prstDash val="solid"/>
          </a:ln>
        </p:spPr>
      </p:sp>
      <p:sp>
        <p:nvSpPr>
          <p:cNvPr id="35" name="a11_fade_stack4"/>
          <p:cNvSpPr txBox="1"/>
          <p:nvPr/>
        </p:nvSpPr>
        <p:spPr>
          <a:xfrm>
            <a:off x="7187184" y="4069080"/>
            <a:ext cx="14630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pgvector</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par>
                          <p:cTn id="11" fill="hold">
                            <p:stCondLst>
                              <p:cond delay="500"/>
                            </p:stCondLst>
                            <p:childTnLst>
                              <p:par>
                                <p:cTn id="12" presetID="23" presetClass="entr" presetSubtype="16"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400" fill="hold"/>
                                        <p:tgtEl>
                                          <p:spTgt spid="6"/>
                                        </p:tgtEl>
                                        <p:attrNameLst>
                                          <p:attrName>ppt_w</p:attrName>
                                        </p:attrNameLst>
                                      </p:cBhvr>
                                      <p:tavLst>
                                        <p:tav tm="0">
                                          <p:val>
                                            <p:fltVal val="0"/>
                                          </p:val>
                                        </p:tav>
                                        <p:tav tm="100000">
                                          <p:val>
                                            <p:strVal val="#ppt_w"/>
                                          </p:val>
                                        </p:tav>
                                      </p:tavLst>
                                    </p:anim>
                                    <p:anim calcmode="lin" valueType="num">
                                      <p:cBhvr>
                                        <p:cTn id="15" dur="400" fill="hold"/>
                                        <p:tgtEl>
                                          <p:spTgt spid="6"/>
                                        </p:tgtEl>
                                        <p:attrNameLst>
                                          <p:attrName>ppt_h</p:attrName>
                                        </p:attrNameLst>
                                      </p:cBhvr>
                                      <p:tavLst>
                                        <p:tav tm="0">
                                          <p:val>
                                            <p:fltVal val="0"/>
                                          </p:val>
                                        </p:tav>
                                        <p:tav tm="100000">
                                          <p:val>
                                            <p:strVal val="#ppt_h"/>
                                          </p:val>
                                        </p:tav>
                                      </p:tavLst>
                                    </p:anim>
                                  </p:childTnLst>
                                </p:cTn>
                              </p:par>
                              <p:par>
                                <p:cTn id="16" presetID="23" presetClass="entr" presetSubtype="16"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400" fill="hold"/>
                                        <p:tgtEl>
                                          <p:spTgt spid="7"/>
                                        </p:tgtEl>
                                        <p:attrNameLst>
                                          <p:attrName>ppt_w</p:attrName>
                                        </p:attrNameLst>
                                      </p:cBhvr>
                                      <p:tavLst>
                                        <p:tav tm="0">
                                          <p:val>
                                            <p:fltVal val="0"/>
                                          </p:val>
                                        </p:tav>
                                        <p:tav tm="100000">
                                          <p:val>
                                            <p:strVal val="#ppt_w"/>
                                          </p:val>
                                        </p:tav>
                                      </p:tavLst>
                                    </p:anim>
                                    <p:anim calcmode="lin" valueType="num">
                                      <p:cBhvr>
                                        <p:cTn id="19" dur="400" fill="hold"/>
                                        <p:tgtEl>
                                          <p:spTgt spid="7"/>
                                        </p:tgtEl>
                                        <p:attrNameLst>
                                          <p:attrName>ppt_h</p:attrName>
                                        </p:attrNameLst>
                                      </p:cBhvr>
                                      <p:tavLst>
                                        <p:tav tm="0">
                                          <p:val>
                                            <p:fltVal val="0"/>
                                          </p:val>
                                        </p:tav>
                                        <p:tav tm="100000">
                                          <p:val>
                                            <p:strVal val="#ppt_h"/>
                                          </p:val>
                                        </p:tav>
                                      </p:tavLst>
                                    </p:anim>
                                  </p:childTnLst>
                                </p:cTn>
                              </p:par>
                              <p:par>
                                <p:cTn id="20" presetID="2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400" fill="hold"/>
                                        <p:tgtEl>
                                          <p:spTgt spid="8"/>
                                        </p:tgtEl>
                                        <p:attrNameLst>
                                          <p:attrName>ppt_w</p:attrName>
                                        </p:attrNameLst>
                                      </p:cBhvr>
                                      <p:tavLst>
                                        <p:tav tm="0">
                                          <p:val>
                                            <p:fltVal val="0"/>
                                          </p:val>
                                        </p:tav>
                                        <p:tav tm="100000">
                                          <p:val>
                                            <p:strVal val="#ppt_w"/>
                                          </p:val>
                                        </p:tav>
                                      </p:tavLst>
                                    </p:anim>
                                    <p:anim calcmode="lin" valueType="num">
                                      <p:cBhvr>
                                        <p:cTn id="23" dur="400" fill="hold"/>
                                        <p:tgtEl>
                                          <p:spTgt spid="8"/>
                                        </p:tgtEl>
                                        <p:attrNameLst>
                                          <p:attrName>ppt_h</p:attrName>
                                        </p:attrNameLst>
                                      </p:cBhvr>
                                      <p:tavLst>
                                        <p:tav tm="0">
                                          <p:val>
                                            <p:fltVal val="0"/>
                                          </p:val>
                                        </p:tav>
                                        <p:tav tm="100000">
                                          <p:val>
                                            <p:strVal val="#ppt_h"/>
                                          </p:val>
                                        </p:tav>
                                      </p:tavLst>
                                    </p:anim>
                                  </p:childTnLst>
                                </p:cTn>
                              </p:par>
                            </p:childTnLst>
                          </p:cTn>
                        </p:par>
                        <p:par>
                          <p:cTn id="24" fill="hold">
                            <p:stCondLst>
                              <p:cond delay="900"/>
                            </p:stCondLst>
                            <p:childTnLst>
                              <p:par>
                                <p:cTn id="25" presetID="23" presetClass="entr" presetSubtype="16"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400" fill="hold"/>
                                        <p:tgtEl>
                                          <p:spTgt spid="9"/>
                                        </p:tgtEl>
                                        <p:attrNameLst>
                                          <p:attrName>ppt_w</p:attrName>
                                        </p:attrNameLst>
                                      </p:cBhvr>
                                      <p:tavLst>
                                        <p:tav tm="0">
                                          <p:val>
                                            <p:fltVal val="0"/>
                                          </p:val>
                                        </p:tav>
                                        <p:tav tm="100000">
                                          <p:val>
                                            <p:strVal val="#ppt_w"/>
                                          </p:val>
                                        </p:tav>
                                      </p:tavLst>
                                    </p:anim>
                                    <p:anim calcmode="lin" valueType="num">
                                      <p:cBhvr>
                                        <p:cTn id="28" dur="400" fill="hold"/>
                                        <p:tgtEl>
                                          <p:spTgt spid="9"/>
                                        </p:tgtEl>
                                        <p:attrNameLst>
                                          <p:attrName>ppt_h</p:attrName>
                                        </p:attrNameLst>
                                      </p:cBhvr>
                                      <p:tavLst>
                                        <p:tav tm="0">
                                          <p:val>
                                            <p:fltVal val="0"/>
                                          </p:val>
                                        </p:tav>
                                        <p:tav tm="100000">
                                          <p:val>
                                            <p:strVal val="#ppt_h"/>
                                          </p:val>
                                        </p:tav>
                                      </p:tavLst>
                                    </p:anim>
                                  </p:childTnLst>
                                </p:cTn>
                              </p:par>
                              <p:par>
                                <p:cTn id="29" presetID="23" presetClass="entr" presetSubtype="16"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p:cTn id="31" dur="400" fill="hold"/>
                                        <p:tgtEl>
                                          <p:spTgt spid="10"/>
                                        </p:tgtEl>
                                        <p:attrNameLst>
                                          <p:attrName>ppt_w</p:attrName>
                                        </p:attrNameLst>
                                      </p:cBhvr>
                                      <p:tavLst>
                                        <p:tav tm="0">
                                          <p:val>
                                            <p:fltVal val="0"/>
                                          </p:val>
                                        </p:tav>
                                        <p:tav tm="100000">
                                          <p:val>
                                            <p:strVal val="#ppt_w"/>
                                          </p:val>
                                        </p:tav>
                                      </p:tavLst>
                                    </p:anim>
                                    <p:anim calcmode="lin" valueType="num">
                                      <p:cBhvr>
                                        <p:cTn id="32" dur="400" fill="hold"/>
                                        <p:tgtEl>
                                          <p:spTgt spid="10"/>
                                        </p:tgtEl>
                                        <p:attrNameLst>
                                          <p:attrName>ppt_h</p:attrName>
                                        </p:attrNameLst>
                                      </p:cBhvr>
                                      <p:tavLst>
                                        <p:tav tm="0">
                                          <p:val>
                                            <p:fltVal val="0"/>
                                          </p:val>
                                        </p:tav>
                                        <p:tav tm="100000">
                                          <p:val>
                                            <p:strVal val="#ppt_h"/>
                                          </p:val>
                                        </p:tav>
                                      </p:tavLst>
                                    </p:anim>
                                  </p:childTnLst>
                                </p:cTn>
                              </p:par>
                              <p:par>
                                <p:cTn id="33" presetID="23" presetClass="entr" presetSubtype="16"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p:cTn id="35" dur="400" fill="hold"/>
                                        <p:tgtEl>
                                          <p:spTgt spid="11"/>
                                        </p:tgtEl>
                                        <p:attrNameLst>
                                          <p:attrName>ppt_w</p:attrName>
                                        </p:attrNameLst>
                                      </p:cBhvr>
                                      <p:tavLst>
                                        <p:tav tm="0">
                                          <p:val>
                                            <p:fltVal val="0"/>
                                          </p:val>
                                        </p:tav>
                                        <p:tav tm="100000">
                                          <p:val>
                                            <p:strVal val="#ppt_w"/>
                                          </p:val>
                                        </p:tav>
                                      </p:tavLst>
                                    </p:anim>
                                    <p:anim calcmode="lin" valueType="num">
                                      <p:cBhvr>
                                        <p:cTn id="36" dur="400" fill="hold"/>
                                        <p:tgtEl>
                                          <p:spTgt spid="11"/>
                                        </p:tgtEl>
                                        <p:attrNameLst>
                                          <p:attrName>ppt_h</p:attrName>
                                        </p:attrNameLst>
                                      </p:cBhvr>
                                      <p:tavLst>
                                        <p:tav tm="0">
                                          <p:val>
                                            <p:fltVal val="0"/>
                                          </p:val>
                                        </p:tav>
                                        <p:tav tm="100000">
                                          <p:val>
                                            <p:strVal val="#ppt_h"/>
                                          </p:val>
                                        </p:tav>
                                      </p:tavLst>
                                    </p:anim>
                                  </p:childTnLst>
                                </p:cTn>
                              </p:par>
                            </p:childTnLst>
                          </p:cTn>
                        </p:par>
                        <p:par>
                          <p:cTn id="37" fill="hold">
                            <p:stCondLst>
                              <p:cond delay="1300"/>
                            </p:stCondLst>
                            <p:childTnLst>
                              <p:par>
                                <p:cTn id="38" presetID="23" presetClass="entr" presetSubtype="16" fill="hold" nodeType="after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p:cTn id="40" dur="400" fill="hold"/>
                                        <p:tgtEl>
                                          <p:spTgt spid="12"/>
                                        </p:tgtEl>
                                        <p:attrNameLst>
                                          <p:attrName>ppt_w</p:attrName>
                                        </p:attrNameLst>
                                      </p:cBhvr>
                                      <p:tavLst>
                                        <p:tav tm="0">
                                          <p:val>
                                            <p:fltVal val="0"/>
                                          </p:val>
                                        </p:tav>
                                        <p:tav tm="100000">
                                          <p:val>
                                            <p:strVal val="#ppt_w"/>
                                          </p:val>
                                        </p:tav>
                                      </p:tavLst>
                                    </p:anim>
                                    <p:anim calcmode="lin" valueType="num">
                                      <p:cBhvr>
                                        <p:cTn id="41" dur="400" fill="hold"/>
                                        <p:tgtEl>
                                          <p:spTgt spid="12"/>
                                        </p:tgtEl>
                                        <p:attrNameLst>
                                          <p:attrName>ppt_h</p:attrName>
                                        </p:attrNameLst>
                                      </p:cBhvr>
                                      <p:tavLst>
                                        <p:tav tm="0">
                                          <p:val>
                                            <p:fltVal val="0"/>
                                          </p:val>
                                        </p:tav>
                                        <p:tav tm="100000">
                                          <p:val>
                                            <p:strVal val="#ppt_h"/>
                                          </p:val>
                                        </p:tav>
                                      </p:tavLst>
                                    </p:anim>
                                  </p:childTnLst>
                                </p:cTn>
                              </p:par>
                              <p:par>
                                <p:cTn id="42" presetID="23" presetClass="entr" presetSubtype="16"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 calcmode="lin" valueType="num">
                                      <p:cBhvr>
                                        <p:cTn id="44" dur="400" fill="hold"/>
                                        <p:tgtEl>
                                          <p:spTgt spid="13"/>
                                        </p:tgtEl>
                                        <p:attrNameLst>
                                          <p:attrName>ppt_w</p:attrName>
                                        </p:attrNameLst>
                                      </p:cBhvr>
                                      <p:tavLst>
                                        <p:tav tm="0">
                                          <p:val>
                                            <p:fltVal val="0"/>
                                          </p:val>
                                        </p:tav>
                                        <p:tav tm="100000">
                                          <p:val>
                                            <p:strVal val="#ppt_w"/>
                                          </p:val>
                                        </p:tav>
                                      </p:tavLst>
                                    </p:anim>
                                    <p:anim calcmode="lin" valueType="num">
                                      <p:cBhvr>
                                        <p:cTn id="45" dur="400" fill="hold"/>
                                        <p:tgtEl>
                                          <p:spTgt spid="13"/>
                                        </p:tgtEl>
                                        <p:attrNameLst>
                                          <p:attrName>ppt_h</p:attrName>
                                        </p:attrNameLst>
                                      </p:cBhvr>
                                      <p:tavLst>
                                        <p:tav tm="0">
                                          <p:val>
                                            <p:fltVal val="0"/>
                                          </p:val>
                                        </p:tav>
                                        <p:tav tm="100000">
                                          <p:val>
                                            <p:strVal val="#ppt_h"/>
                                          </p:val>
                                        </p:tav>
                                      </p:tavLst>
                                    </p:anim>
                                  </p:childTnLst>
                                </p:cTn>
                              </p:par>
                              <p:par>
                                <p:cTn id="46" presetID="23" presetClass="entr" presetSubtype="16"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 calcmode="lin" valueType="num">
                                      <p:cBhvr>
                                        <p:cTn id="48" dur="400" fill="hold"/>
                                        <p:tgtEl>
                                          <p:spTgt spid="14"/>
                                        </p:tgtEl>
                                        <p:attrNameLst>
                                          <p:attrName>ppt_w</p:attrName>
                                        </p:attrNameLst>
                                      </p:cBhvr>
                                      <p:tavLst>
                                        <p:tav tm="0">
                                          <p:val>
                                            <p:fltVal val="0"/>
                                          </p:val>
                                        </p:tav>
                                        <p:tav tm="100000">
                                          <p:val>
                                            <p:strVal val="#ppt_w"/>
                                          </p:val>
                                        </p:tav>
                                      </p:tavLst>
                                    </p:anim>
                                    <p:anim calcmode="lin" valueType="num">
                                      <p:cBhvr>
                                        <p:cTn id="49" dur="400" fill="hold"/>
                                        <p:tgtEl>
                                          <p:spTgt spid="14"/>
                                        </p:tgtEl>
                                        <p:attrNameLst>
                                          <p:attrName>ppt_h</p:attrName>
                                        </p:attrNameLst>
                                      </p:cBhvr>
                                      <p:tavLst>
                                        <p:tav tm="0">
                                          <p:val>
                                            <p:fltVal val="0"/>
                                          </p:val>
                                        </p:tav>
                                        <p:tav tm="100000">
                                          <p:val>
                                            <p:strVal val="#ppt_h"/>
                                          </p:val>
                                        </p:tav>
                                      </p:tavLst>
                                    </p:anim>
                                  </p:childTnLst>
                                </p:cTn>
                              </p:par>
                            </p:childTnLst>
                          </p:cTn>
                        </p:par>
                        <p:par>
                          <p:cTn id="50" fill="hold">
                            <p:stCondLst>
                              <p:cond delay="1700"/>
                            </p:stCondLst>
                            <p:childTnLst>
                              <p:par>
                                <p:cTn id="51" presetID="23" presetClass="entr" presetSubtype="16" fill="hold" nodeType="afterEffect">
                                  <p:stCondLst>
                                    <p:cond delay="0"/>
                                  </p:stCondLst>
                                  <p:childTnLst>
                                    <p:set>
                                      <p:cBhvr>
                                        <p:cTn id="52" dur="1" fill="hold">
                                          <p:stCondLst>
                                            <p:cond delay="0"/>
                                          </p:stCondLst>
                                        </p:cTn>
                                        <p:tgtEl>
                                          <p:spTgt spid="15"/>
                                        </p:tgtEl>
                                        <p:attrNameLst>
                                          <p:attrName>style.visibility</p:attrName>
                                        </p:attrNameLst>
                                      </p:cBhvr>
                                      <p:to>
                                        <p:strVal val="visible"/>
                                      </p:to>
                                    </p:set>
                                    <p:anim calcmode="lin" valueType="num">
                                      <p:cBhvr>
                                        <p:cTn id="53" dur="400" fill="hold"/>
                                        <p:tgtEl>
                                          <p:spTgt spid="15"/>
                                        </p:tgtEl>
                                        <p:attrNameLst>
                                          <p:attrName>ppt_w</p:attrName>
                                        </p:attrNameLst>
                                      </p:cBhvr>
                                      <p:tavLst>
                                        <p:tav tm="0">
                                          <p:val>
                                            <p:fltVal val="0"/>
                                          </p:val>
                                        </p:tav>
                                        <p:tav tm="100000">
                                          <p:val>
                                            <p:strVal val="#ppt_w"/>
                                          </p:val>
                                        </p:tav>
                                      </p:tavLst>
                                    </p:anim>
                                    <p:anim calcmode="lin" valueType="num">
                                      <p:cBhvr>
                                        <p:cTn id="54" dur="400" fill="hold"/>
                                        <p:tgtEl>
                                          <p:spTgt spid="15"/>
                                        </p:tgtEl>
                                        <p:attrNameLst>
                                          <p:attrName>ppt_h</p:attrName>
                                        </p:attrNameLst>
                                      </p:cBhvr>
                                      <p:tavLst>
                                        <p:tav tm="0">
                                          <p:val>
                                            <p:fltVal val="0"/>
                                          </p:val>
                                        </p:tav>
                                        <p:tav tm="100000">
                                          <p:val>
                                            <p:strVal val="#ppt_h"/>
                                          </p:val>
                                        </p:tav>
                                      </p:tavLst>
                                    </p:anim>
                                  </p:childTnLst>
                                </p:cTn>
                              </p:par>
                              <p:par>
                                <p:cTn id="55" presetID="23" presetClass="entr" presetSubtype="16"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p:cTn id="57" dur="400" fill="hold"/>
                                        <p:tgtEl>
                                          <p:spTgt spid="16"/>
                                        </p:tgtEl>
                                        <p:attrNameLst>
                                          <p:attrName>ppt_w</p:attrName>
                                        </p:attrNameLst>
                                      </p:cBhvr>
                                      <p:tavLst>
                                        <p:tav tm="0">
                                          <p:val>
                                            <p:fltVal val="0"/>
                                          </p:val>
                                        </p:tav>
                                        <p:tav tm="100000">
                                          <p:val>
                                            <p:strVal val="#ppt_w"/>
                                          </p:val>
                                        </p:tav>
                                      </p:tavLst>
                                    </p:anim>
                                    <p:anim calcmode="lin" valueType="num">
                                      <p:cBhvr>
                                        <p:cTn id="58" dur="400" fill="hold"/>
                                        <p:tgtEl>
                                          <p:spTgt spid="16"/>
                                        </p:tgtEl>
                                        <p:attrNameLst>
                                          <p:attrName>ppt_h</p:attrName>
                                        </p:attrNameLst>
                                      </p:cBhvr>
                                      <p:tavLst>
                                        <p:tav tm="0">
                                          <p:val>
                                            <p:fltVal val="0"/>
                                          </p:val>
                                        </p:tav>
                                        <p:tav tm="100000">
                                          <p:val>
                                            <p:strVal val="#ppt_h"/>
                                          </p:val>
                                        </p:tav>
                                      </p:tavLst>
                                    </p:anim>
                                  </p:childTnLst>
                                </p:cTn>
                              </p:par>
                              <p:par>
                                <p:cTn id="59" presetID="23" presetClass="entr" presetSubtype="16"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anim calcmode="lin" valueType="num">
                                      <p:cBhvr>
                                        <p:cTn id="61" dur="400" fill="hold"/>
                                        <p:tgtEl>
                                          <p:spTgt spid="17"/>
                                        </p:tgtEl>
                                        <p:attrNameLst>
                                          <p:attrName>ppt_w</p:attrName>
                                        </p:attrNameLst>
                                      </p:cBhvr>
                                      <p:tavLst>
                                        <p:tav tm="0">
                                          <p:val>
                                            <p:fltVal val="0"/>
                                          </p:val>
                                        </p:tav>
                                        <p:tav tm="100000">
                                          <p:val>
                                            <p:strVal val="#ppt_w"/>
                                          </p:val>
                                        </p:tav>
                                      </p:tavLst>
                                    </p:anim>
                                    <p:anim calcmode="lin" valueType="num">
                                      <p:cBhvr>
                                        <p:cTn id="62" dur="400" fill="hold"/>
                                        <p:tgtEl>
                                          <p:spTgt spid="17"/>
                                        </p:tgtEl>
                                        <p:attrNameLst>
                                          <p:attrName>ppt_h</p:attrName>
                                        </p:attrNameLst>
                                      </p:cBhvr>
                                      <p:tavLst>
                                        <p:tav tm="0">
                                          <p:val>
                                            <p:fltVal val="0"/>
                                          </p:val>
                                        </p:tav>
                                        <p:tav tm="100000">
                                          <p:val>
                                            <p:strVal val="#ppt_h"/>
                                          </p:val>
                                        </p:tav>
                                      </p:tavLst>
                                    </p:anim>
                                  </p:childTnLst>
                                </p:cTn>
                              </p:par>
                            </p:childTnLst>
                          </p:cTn>
                        </p:par>
                        <p:par>
                          <p:cTn id="63" fill="hold">
                            <p:stCondLst>
                              <p:cond delay="2100"/>
                            </p:stCondLst>
                            <p:childTnLst>
                              <p:par>
                                <p:cTn id="64" presetID="10" presetClass="entr" presetSubtype="0" fill="hold"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00"/>
                                        <p:tgtEl>
                                          <p:spTgt spid="18"/>
                                        </p:tgtEl>
                                      </p:cBhvr>
                                    </p:animEffect>
                                  </p:childTnLst>
                                </p:cTn>
                              </p:par>
                              <p:par>
                                <p:cTn id="67" presetID="10" presetClass="entr" presetSubtype="0" fill="hold" nodeType="with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500"/>
                                        <p:tgtEl>
                                          <p:spTgt spid="19"/>
                                        </p:tgtEl>
                                      </p:cBhvr>
                                    </p:animEffect>
                                  </p:childTnLst>
                                </p:cTn>
                              </p:par>
                            </p:childTnLst>
                          </p:cTn>
                        </p:par>
                        <p:par>
                          <p:cTn id="70" fill="hold">
                            <p:stCondLst>
                              <p:cond delay="2600"/>
                            </p:stCondLst>
                            <p:childTnLst>
                              <p:par>
                                <p:cTn id="71" presetID="23" presetClass="entr" presetSubtype="16" fill="hold" nodeType="afterEffect">
                                  <p:stCondLst>
                                    <p:cond delay="0"/>
                                  </p:stCondLst>
                                  <p:childTnLst>
                                    <p:set>
                                      <p:cBhvr>
                                        <p:cTn id="72" dur="1" fill="hold">
                                          <p:stCondLst>
                                            <p:cond delay="0"/>
                                          </p:stCondLst>
                                        </p:cTn>
                                        <p:tgtEl>
                                          <p:spTgt spid="20"/>
                                        </p:tgtEl>
                                        <p:attrNameLst>
                                          <p:attrName>style.visibility</p:attrName>
                                        </p:attrNameLst>
                                      </p:cBhvr>
                                      <p:to>
                                        <p:strVal val="visible"/>
                                      </p:to>
                                    </p:set>
                                    <p:anim calcmode="lin" valueType="num">
                                      <p:cBhvr>
                                        <p:cTn id="73" dur="400" fill="hold"/>
                                        <p:tgtEl>
                                          <p:spTgt spid="20"/>
                                        </p:tgtEl>
                                        <p:attrNameLst>
                                          <p:attrName>ppt_w</p:attrName>
                                        </p:attrNameLst>
                                      </p:cBhvr>
                                      <p:tavLst>
                                        <p:tav tm="0">
                                          <p:val>
                                            <p:fltVal val="0"/>
                                          </p:val>
                                        </p:tav>
                                        <p:tav tm="100000">
                                          <p:val>
                                            <p:strVal val="#ppt_w"/>
                                          </p:val>
                                        </p:tav>
                                      </p:tavLst>
                                    </p:anim>
                                    <p:anim calcmode="lin" valueType="num">
                                      <p:cBhvr>
                                        <p:cTn id="74" dur="400" fill="hold"/>
                                        <p:tgtEl>
                                          <p:spTgt spid="20"/>
                                        </p:tgtEl>
                                        <p:attrNameLst>
                                          <p:attrName>ppt_h</p:attrName>
                                        </p:attrNameLst>
                                      </p:cBhvr>
                                      <p:tavLst>
                                        <p:tav tm="0">
                                          <p:val>
                                            <p:fltVal val="0"/>
                                          </p:val>
                                        </p:tav>
                                        <p:tav tm="100000">
                                          <p:val>
                                            <p:strVal val="#ppt_h"/>
                                          </p:val>
                                        </p:tav>
                                      </p:tavLst>
                                    </p:anim>
                                  </p:childTnLst>
                                </p:cTn>
                              </p:par>
                              <p:par>
                                <p:cTn id="75" presetID="23" presetClass="entr" presetSubtype="16" fill="hold" grpId="0" nodeType="withEffect">
                                  <p:stCondLst>
                                    <p:cond delay="0"/>
                                  </p:stCondLst>
                                  <p:childTnLst>
                                    <p:set>
                                      <p:cBhvr>
                                        <p:cTn id="76" dur="1" fill="hold">
                                          <p:stCondLst>
                                            <p:cond delay="0"/>
                                          </p:stCondLst>
                                        </p:cTn>
                                        <p:tgtEl>
                                          <p:spTgt spid="21"/>
                                        </p:tgtEl>
                                        <p:attrNameLst>
                                          <p:attrName>style.visibility</p:attrName>
                                        </p:attrNameLst>
                                      </p:cBhvr>
                                      <p:to>
                                        <p:strVal val="visible"/>
                                      </p:to>
                                    </p:set>
                                    <p:anim calcmode="lin" valueType="num">
                                      <p:cBhvr>
                                        <p:cTn id="77" dur="400" fill="hold"/>
                                        <p:tgtEl>
                                          <p:spTgt spid="21"/>
                                        </p:tgtEl>
                                        <p:attrNameLst>
                                          <p:attrName>ppt_w</p:attrName>
                                        </p:attrNameLst>
                                      </p:cBhvr>
                                      <p:tavLst>
                                        <p:tav tm="0">
                                          <p:val>
                                            <p:fltVal val="0"/>
                                          </p:val>
                                        </p:tav>
                                        <p:tav tm="100000">
                                          <p:val>
                                            <p:strVal val="#ppt_w"/>
                                          </p:val>
                                        </p:tav>
                                      </p:tavLst>
                                    </p:anim>
                                    <p:anim calcmode="lin" valueType="num">
                                      <p:cBhvr>
                                        <p:cTn id="78" dur="400" fill="hold"/>
                                        <p:tgtEl>
                                          <p:spTgt spid="21"/>
                                        </p:tgtEl>
                                        <p:attrNameLst>
                                          <p:attrName>ppt_h</p:attrName>
                                        </p:attrNameLst>
                                      </p:cBhvr>
                                      <p:tavLst>
                                        <p:tav tm="0">
                                          <p:val>
                                            <p:fltVal val="0"/>
                                          </p:val>
                                        </p:tav>
                                        <p:tav tm="100000">
                                          <p:val>
                                            <p:strVal val="#ppt_h"/>
                                          </p:val>
                                        </p:tav>
                                      </p:tavLst>
                                    </p:anim>
                                  </p:childTnLst>
                                </p:cTn>
                              </p:par>
                            </p:childTnLst>
                          </p:cTn>
                        </p:par>
                        <p:par>
                          <p:cTn id="79" fill="hold">
                            <p:stCondLst>
                              <p:cond delay="3000"/>
                            </p:stCondLst>
                            <p:childTnLst>
                              <p:par>
                                <p:cTn id="80" presetID="10" presetClass="entr" presetSubtype="0" fill="hold"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00"/>
                                        <p:tgtEl>
                                          <p:spTgt spid="22"/>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fade">
                                      <p:cBhvr>
                                        <p:cTn id="85" dur="500"/>
                                        <p:tgtEl>
                                          <p:spTgt spid="2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4"/>
                                        </p:tgtEl>
                                        <p:attrNameLst>
                                          <p:attrName>style.visibility</p:attrName>
                                        </p:attrNameLst>
                                      </p:cBhvr>
                                      <p:to>
                                        <p:strVal val="visible"/>
                                      </p:to>
                                    </p:set>
                                    <p:animEffect transition="in" filter="fade">
                                      <p:cBhvr>
                                        <p:cTn id="88" dur="500"/>
                                        <p:tgtEl>
                                          <p:spTgt spid="24"/>
                                        </p:tgtEl>
                                      </p:cBhvr>
                                    </p:animEffect>
                                  </p:childTnLst>
                                </p:cTn>
                              </p:par>
                            </p:childTnLst>
                          </p:cTn>
                        </p:par>
                        <p:par>
                          <p:cTn id="89" fill="hold">
                            <p:stCondLst>
                              <p:cond delay="3500"/>
                            </p:stCondLst>
                            <p:childTnLst>
                              <p:par>
                                <p:cTn id="90" presetID="10" presetClass="entr" presetSubtype="0" fill="hold" nodeType="after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500"/>
                                        <p:tgtEl>
                                          <p:spTgt spid="25"/>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6"/>
                                        </p:tgtEl>
                                        <p:attrNameLst>
                                          <p:attrName>style.visibility</p:attrName>
                                        </p:attrNameLst>
                                      </p:cBhvr>
                                      <p:to>
                                        <p:strVal val="visible"/>
                                      </p:to>
                                    </p:set>
                                    <p:animEffect transition="in" filter="fade">
                                      <p:cBhvr>
                                        <p:cTn id="95" dur="500"/>
                                        <p:tgtEl>
                                          <p:spTgt spid="26"/>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27"/>
                                        </p:tgtEl>
                                        <p:attrNameLst>
                                          <p:attrName>style.visibility</p:attrName>
                                        </p:attrNameLst>
                                      </p:cBhvr>
                                      <p:to>
                                        <p:strVal val="visible"/>
                                      </p:to>
                                    </p:set>
                                    <p:animEffect transition="in" filter="fade">
                                      <p:cBhvr>
                                        <p:cTn id="98" dur="500"/>
                                        <p:tgtEl>
                                          <p:spTgt spid="27"/>
                                        </p:tgtEl>
                                      </p:cBhvr>
                                    </p:animEffect>
                                  </p:childTnLst>
                                </p:cTn>
                              </p:par>
                            </p:childTnLst>
                          </p:cTn>
                        </p:par>
                        <p:par>
                          <p:cTn id="99" fill="hold">
                            <p:stCondLst>
                              <p:cond delay="4000"/>
                            </p:stCondLst>
                            <p:childTnLst>
                              <p:par>
                                <p:cTn id="100" presetID="10" presetClass="entr" presetSubtype="0" fill="hold" nodeType="afterEffect">
                                  <p:stCondLst>
                                    <p:cond delay="0"/>
                                  </p:stCondLst>
                                  <p:childTnLst>
                                    <p:set>
                                      <p:cBhvr>
                                        <p:cTn id="101" dur="1" fill="hold">
                                          <p:stCondLst>
                                            <p:cond delay="0"/>
                                          </p:stCondLst>
                                        </p:cTn>
                                        <p:tgtEl>
                                          <p:spTgt spid="28"/>
                                        </p:tgtEl>
                                        <p:attrNameLst>
                                          <p:attrName>style.visibility</p:attrName>
                                        </p:attrNameLst>
                                      </p:cBhvr>
                                      <p:to>
                                        <p:strVal val="visible"/>
                                      </p:to>
                                    </p:set>
                                    <p:animEffect transition="in" filter="fade">
                                      <p:cBhvr>
                                        <p:cTn id="102" dur="500"/>
                                        <p:tgtEl>
                                          <p:spTgt spid="28"/>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29"/>
                                        </p:tgtEl>
                                        <p:attrNameLst>
                                          <p:attrName>style.visibility</p:attrName>
                                        </p:attrNameLst>
                                      </p:cBhvr>
                                      <p:to>
                                        <p:strVal val="visible"/>
                                      </p:to>
                                    </p:set>
                                    <p:animEffect transition="in" filter="fade">
                                      <p:cBhvr>
                                        <p:cTn id="105" dur="500"/>
                                        <p:tgtEl>
                                          <p:spTgt spid="29"/>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0"/>
                                        </p:tgtEl>
                                        <p:attrNameLst>
                                          <p:attrName>style.visibility</p:attrName>
                                        </p:attrNameLst>
                                      </p:cBhvr>
                                      <p:to>
                                        <p:strVal val="visible"/>
                                      </p:to>
                                    </p:set>
                                    <p:animEffect transition="in" filter="fade">
                                      <p:cBhvr>
                                        <p:cTn id="108" dur="500"/>
                                        <p:tgtEl>
                                          <p:spTgt spid="30"/>
                                        </p:tgtEl>
                                      </p:cBhvr>
                                    </p:animEffect>
                                  </p:childTnLst>
                                </p:cTn>
                              </p:par>
                            </p:childTnLst>
                          </p:cTn>
                        </p:par>
                        <p:par>
                          <p:cTn id="109" fill="hold">
                            <p:stCondLst>
                              <p:cond delay="4500"/>
                            </p:stCondLst>
                            <p:childTnLst>
                              <p:par>
                                <p:cTn id="110" presetID="10" presetClass="entr" presetSubtype="0" fill="hold" nodeType="afterEffect">
                                  <p:stCondLst>
                                    <p:cond delay="0"/>
                                  </p:stCondLst>
                                  <p:childTnLst>
                                    <p:set>
                                      <p:cBhvr>
                                        <p:cTn id="111" dur="1" fill="hold">
                                          <p:stCondLst>
                                            <p:cond delay="0"/>
                                          </p:stCondLst>
                                        </p:cTn>
                                        <p:tgtEl>
                                          <p:spTgt spid="31"/>
                                        </p:tgtEl>
                                        <p:attrNameLst>
                                          <p:attrName>style.visibility</p:attrName>
                                        </p:attrNameLst>
                                      </p:cBhvr>
                                      <p:to>
                                        <p:strVal val="visible"/>
                                      </p:to>
                                    </p:set>
                                    <p:animEffect transition="in" filter="fade">
                                      <p:cBhvr>
                                        <p:cTn id="112" dur="500"/>
                                        <p:tgtEl>
                                          <p:spTgt spid="31"/>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2"/>
                                        </p:tgtEl>
                                        <p:attrNameLst>
                                          <p:attrName>style.visibility</p:attrName>
                                        </p:attrNameLst>
                                      </p:cBhvr>
                                      <p:to>
                                        <p:strVal val="visible"/>
                                      </p:to>
                                    </p:set>
                                    <p:animEffect transition="in" filter="fade">
                                      <p:cBhvr>
                                        <p:cTn id="115" dur="500"/>
                                        <p:tgtEl>
                                          <p:spTgt spid="3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33"/>
                                        </p:tgtEl>
                                        <p:attrNameLst>
                                          <p:attrName>style.visibility</p:attrName>
                                        </p:attrNameLst>
                                      </p:cBhvr>
                                      <p:to>
                                        <p:strVal val="visible"/>
                                      </p:to>
                                    </p:set>
                                    <p:animEffect transition="in" filter="fade">
                                      <p:cBhvr>
                                        <p:cTn id="118" dur="500"/>
                                        <p:tgtEl>
                                          <p:spTgt spid="33"/>
                                        </p:tgtEl>
                                      </p:cBhvr>
                                    </p:animEffect>
                                  </p:childTnLst>
                                </p:cTn>
                              </p:par>
                            </p:childTnLst>
                          </p:cTn>
                        </p:par>
                        <p:par>
                          <p:cTn id="119" fill="hold">
                            <p:stCondLst>
                              <p:cond delay="5000"/>
                            </p:stCondLst>
                            <p:childTnLst>
                              <p:par>
                                <p:cTn id="120" presetID="10" presetClass="entr" presetSubtype="0" fill="hold" nodeType="afterEffect">
                                  <p:stCondLst>
                                    <p:cond delay="0"/>
                                  </p:stCondLst>
                                  <p:childTnLst>
                                    <p:set>
                                      <p:cBhvr>
                                        <p:cTn id="121" dur="1" fill="hold">
                                          <p:stCondLst>
                                            <p:cond delay="0"/>
                                          </p:stCondLst>
                                        </p:cTn>
                                        <p:tgtEl>
                                          <p:spTgt spid="34"/>
                                        </p:tgtEl>
                                        <p:attrNameLst>
                                          <p:attrName>style.visibility</p:attrName>
                                        </p:attrNameLst>
                                      </p:cBhvr>
                                      <p:to>
                                        <p:strVal val="visible"/>
                                      </p:to>
                                    </p:set>
                                    <p:animEffect transition="in" filter="fade">
                                      <p:cBhvr>
                                        <p:cTn id="122" dur="500"/>
                                        <p:tgtEl>
                                          <p:spTgt spid="34"/>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35"/>
                                        </p:tgtEl>
                                        <p:attrNameLst>
                                          <p:attrName>style.visibility</p:attrName>
                                        </p:attrNameLst>
                                      </p:cBhvr>
                                      <p:to>
                                        <p:strVal val="visible"/>
                                      </p:to>
                                    </p:set>
                                    <p:animEffect transition="in" filter="fade">
                                      <p:cBhvr>
                                        <p:cTn id="12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P spid="8" grpId="0" animBg="1"/>
      <p:bldP spid="10" grpId="0" animBg="1"/>
      <p:bldP spid="11" grpId="0" animBg="1"/>
      <p:bldP spid="13" grpId="0" animBg="1"/>
      <p:bldP spid="14" grpId="0" animBg="1"/>
      <p:bldP spid="16" grpId="0" animBg="1"/>
      <p:bldP spid="17" grpId="0" animBg="1"/>
      <p:bldP spid="21" grpId="0" animBg="1"/>
      <p:bldP spid="23" grpId="0" animBg="1"/>
      <p:bldP spid="24" grpId="0" animBg="1"/>
      <p:bldP spid="26" grpId="0" animBg="1"/>
      <p:bldP spid="27" grpId="0" animBg="1"/>
      <p:bldP spid="29" grpId="0" animBg="1"/>
      <p:bldP spid="30" grpId="0" animBg="1"/>
      <p:bldP spid="32" grpId="0" animBg="1"/>
      <p:bldP spid="33" grpId="0" animBg="1"/>
      <p:bldP spid="3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0D"/>
        </a:solidFill>
        <a:effectLst/>
      </p:bgPr>
    </p:bg>
    <p:spTree>
      <p:nvGrpSpPr>
        <p:cNvPr id="1" name=""/>
        <p:cNvGrpSpPr/>
        <p:nvPr/>
      </p:nvGrpSpPr>
      <p:grpSpPr>
        <a:xfrm>
          <a:off x="0" y="0"/>
          <a:ext cx="0" cy="0"/>
          <a:chOff x="0" y="0"/>
          <a:chExt cx="0" cy="0"/>
        </a:xfrm>
      </p:grpSpPr>
      <p:sp>
        <p:nvSpPr>
          <p:cNvPr id="2" name="Glow"/>
          <p:cNvSpPr/>
          <p:nvPr/>
        </p:nvSpPr>
        <p:spPr>
          <a:xfrm>
            <a:off x="6583680" y="-1463040"/>
            <a:ext cx="3840480" cy="3840480"/>
          </a:xfrm>
          <a:prstGeom prst="ellipse">
            <a:avLst/>
          </a:prstGeom>
          <a:solidFill>
            <a:srgbClr val="34D399">
              <a:alpha val="6000"/>
            </a:srgbClr>
          </a:solidFill>
          <a:ln w="12700">
            <a:solidFill>
              <a:srgbClr val="34D399">
                <a:alpha val="0"/>
              </a:srgbClr>
            </a:solidFill>
            <a:prstDash val="solid"/>
          </a:ln>
        </p:spPr>
      </p:sp>
      <p:sp>
        <p:nvSpPr>
          <p:cNvPr id="3" name="a00_fade_kicker"/>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300" dirty="0">
                <a:solidFill>
                  <a:srgbClr val="34D399"/>
                </a:solidFill>
                <a:latin typeface="Calibri" pitchFamily="34" charset="0"/>
                <a:ea typeface="Calibri" pitchFamily="34" charset="-122"/>
                <a:cs typeface="Calibri" pitchFamily="34" charset="-120"/>
              </a:rPr>
              <a:t>SAFETY AND KEY DECISIONS</a:t>
            </a:r>
            <a:endParaRPr lang="en-US" sz="1100" dirty="0"/>
          </a:p>
        </p:txBody>
      </p:sp>
      <p:sp>
        <p:nvSpPr>
          <p:cNvPr id="4" name="a00_fade_title"/>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WHAT WE LEARNED THE HARD WAY</a:t>
            </a:r>
            <a:endParaRPr lang="en-US" sz="2800" dirty="0"/>
          </a:p>
        </p:txBody>
      </p:sp>
      <p:sp>
        <p:nvSpPr>
          <p:cNvPr id="6" name="a01_up_card0"/>
          <p:cNvSpPr/>
          <p:nvPr/>
        </p:nvSpPr>
        <p:spPr>
          <a:xfrm>
            <a:off x="457200" y="1234440"/>
            <a:ext cx="2651760" cy="2468880"/>
          </a:xfrm>
          <a:prstGeom prst="roundRect">
            <a:avLst>
              <a:gd name="adj" fmla="val 2963"/>
            </a:avLst>
          </a:prstGeom>
          <a:solidFill>
            <a:srgbClr val="151B18"/>
          </a:solidFill>
          <a:ln w="12700">
            <a:solidFill>
              <a:srgbClr val="26332D"/>
            </a:solidFill>
            <a:prstDash val="solid"/>
          </a:ln>
        </p:spPr>
      </p:sp>
      <p:sp>
        <p:nvSpPr>
          <p:cNvPr id="7" name="a01_up_card0"/>
          <p:cNvSpPr/>
          <p:nvPr/>
        </p:nvSpPr>
        <p:spPr>
          <a:xfrm>
            <a:off x="640080" y="1389888"/>
            <a:ext cx="438912" cy="438912"/>
          </a:xfrm>
          <a:prstGeom prst="ellipse">
            <a:avLst/>
          </a:prstGeom>
          <a:solidFill>
            <a:srgbClr val="F87171"/>
          </a:solidFill>
          <a:ln w="6350">
            <a:solidFill>
              <a:srgbClr val="F87171"/>
            </a:solidFill>
            <a:prstDash val="solid"/>
          </a:ln>
        </p:spPr>
      </p:sp>
      <p:sp>
        <p:nvSpPr>
          <p:cNvPr id="8" name="a01_up_card0"/>
          <p:cNvSpPr txBox="1"/>
          <p:nvPr/>
        </p:nvSpPr>
        <p:spPr>
          <a:xfrm>
            <a:off x="640080" y="1389888"/>
            <a:ext cx="438912" cy="438912"/>
          </a:xfrm>
          <a:prstGeom prst="rect">
            <a:avLst/>
          </a:prstGeom>
          <a:noFill/>
          <a:ln/>
        </p:spPr>
        <p:txBody>
          <a:bodyPr wrap="square" lIns="0" tIns="0" rIns="0" bIns="0" rtlCol="0" anchor="ctr"/>
          <a:lstStyle/>
          <a:p>
            <a:pPr marL="0" indent="0" algn="ctr">
              <a:buNone/>
            </a:pPr>
            <a:r>
              <a:rPr lang="en-US" sz="1600" b="1" dirty="0">
                <a:solidFill>
                  <a:srgbClr val="0B0F0D"/>
                </a:solidFill>
                <a:latin typeface="Arial" pitchFamily="34" charset="0"/>
                <a:ea typeface="Arial" pitchFamily="34" charset="-122"/>
                <a:cs typeface="Arial" pitchFamily="34" charset="-120"/>
              </a:rPr>
              <a:t>1</a:t>
            </a:r>
            <a:endParaRPr lang="en-US" sz="1600" dirty="0"/>
          </a:p>
        </p:txBody>
      </p:sp>
      <p:sp>
        <p:nvSpPr>
          <p:cNvPr id="9" name="a01_up_card0"/>
          <p:cNvSpPr txBox="1"/>
          <p:nvPr/>
        </p:nvSpPr>
        <p:spPr>
          <a:xfrm>
            <a:off x="1188720" y="1344168"/>
            <a:ext cx="1828800" cy="530352"/>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Contract veto</a:t>
            </a:r>
            <a:endParaRPr lang="en-US" sz="1400" dirty="0"/>
          </a:p>
        </p:txBody>
      </p:sp>
      <p:sp>
        <p:nvSpPr>
          <p:cNvPr id="10" name="a01_up_card0"/>
          <p:cNvSpPr txBox="1"/>
          <p:nvPr/>
        </p:nvSpPr>
        <p:spPr>
          <a:xfrm>
            <a:off x="640080" y="2011680"/>
            <a:ext cx="2286000" cy="1600200"/>
          </a:xfrm>
          <a:prstGeom prst="rect">
            <a:avLst/>
          </a:prstGeom>
          <a:noFill/>
          <a:ln/>
        </p:spPr>
        <p:txBody>
          <a:bodyPr wrap="square" lIns="0" tIns="0" rIns="0" bIns="0" rtlCol="0" anchor="t"/>
          <a:lstStyle/>
          <a:p>
            <a:pPr marL="0" indent="0">
              <a:spcAft>
                <a:spcPts val="800"/>
              </a:spcAft>
              <a:buNone/>
            </a:pPr>
            <a:r>
              <a:rPr lang="en-US" sz="1300" dirty="0">
                <a:solidFill>
                  <a:srgbClr val="FFFFFF"/>
                </a:solidFill>
                <a:latin typeface="Calibri" pitchFamily="34" charset="0"/>
                <a:ea typeface="Calibri" pitchFamily="34" charset="-122"/>
                <a:cs typeface="Calibri" pitchFamily="34" charset="-120"/>
              </a:rPr>
              <a:t>Perpetual rights + 24 months unpaid exclusivity: the AI said "medium risk" and the deal was accepted.</a:t>
            </a:r>
            <a:endParaRPr lang="en-US" sz="1300" dirty="0"/>
          </a:p>
          <a:p>
            <a:pPr marL="0" indent="0">
              <a:spcAft>
                <a:spcPts val="800"/>
              </a:spcAft>
              <a:buNone/>
            </a:pPr>
            <a:r>
              <a:rPr lang="en-US" sz="1300" b="1" dirty="0">
                <a:solidFill>
                  <a:srgbClr val="F87171"/>
                </a:solidFill>
                <a:latin typeface="Calibri" pitchFamily="34" charset="0"/>
                <a:ea typeface="Calibri" pitchFamily="34" charset="-122"/>
                <a:cs typeface="Calibri" pitchFamily="34" charset="-120"/>
              </a:rPr>
              <a:t>Now a fixed rule forces "high risk".</a:t>
            </a:r>
            <a:endParaRPr lang="en-US" sz="1300" dirty="0"/>
          </a:p>
        </p:txBody>
      </p:sp>
      <p:sp>
        <p:nvSpPr>
          <p:cNvPr id="11" name="a02_up_card1"/>
          <p:cNvSpPr/>
          <p:nvPr/>
        </p:nvSpPr>
        <p:spPr>
          <a:xfrm>
            <a:off x="3246120" y="1234440"/>
            <a:ext cx="2651760" cy="2468880"/>
          </a:xfrm>
          <a:prstGeom prst="roundRect">
            <a:avLst>
              <a:gd name="adj" fmla="val 2963"/>
            </a:avLst>
          </a:prstGeom>
          <a:solidFill>
            <a:srgbClr val="151B18"/>
          </a:solidFill>
          <a:ln w="12700">
            <a:solidFill>
              <a:srgbClr val="26332D"/>
            </a:solidFill>
            <a:prstDash val="solid"/>
          </a:ln>
        </p:spPr>
      </p:sp>
      <p:sp>
        <p:nvSpPr>
          <p:cNvPr id="12" name="a02_up_card1"/>
          <p:cNvSpPr/>
          <p:nvPr/>
        </p:nvSpPr>
        <p:spPr>
          <a:xfrm>
            <a:off x="3429000" y="1389888"/>
            <a:ext cx="438912" cy="438912"/>
          </a:xfrm>
          <a:prstGeom prst="ellipse">
            <a:avLst/>
          </a:prstGeom>
          <a:solidFill>
            <a:srgbClr val="34D399"/>
          </a:solidFill>
          <a:ln w="6350">
            <a:solidFill>
              <a:srgbClr val="34D399"/>
            </a:solidFill>
            <a:prstDash val="solid"/>
          </a:ln>
        </p:spPr>
      </p:sp>
      <p:sp>
        <p:nvSpPr>
          <p:cNvPr id="13" name="a02_up_card1"/>
          <p:cNvSpPr txBox="1"/>
          <p:nvPr/>
        </p:nvSpPr>
        <p:spPr>
          <a:xfrm>
            <a:off x="3429000" y="1389888"/>
            <a:ext cx="438912" cy="438912"/>
          </a:xfrm>
          <a:prstGeom prst="rect">
            <a:avLst/>
          </a:prstGeom>
          <a:noFill/>
          <a:ln/>
        </p:spPr>
        <p:txBody>
          <a:bodyPr wrap="square" lIns="0" tIns="0" rIns="0" bIns="0" rtlCol="0" anchor="ctr"/>
          <a:lstStyle/>
          <a:p>
            <a:pPr marL="0" indent="0" algn="ctr">
              <a:buNone/>
            </a:pPr>
            <a:r>
              <a:rPr lang="en-US" sz="1600" b="1" dirty="0">
                <a:solidFill>
                  <a:srgbClr val="0B0F0D"/>
                </a:solidFill>
                <a:latin typeface="Arial" pitchFamily="34" charset="0"/>
                <a:ea typeface="Arial" pitchFamily="34" charset="-122"/>
                <a:cs typeface="Arial" pitchFamily="34" charset="-120"/>
              </a:rPr>
              <a:t>2</a:t>
            </a:r>
            <a:endParaRPr lang="en-US" sz="1600" dirty="0"/>
          </a:p>
        </p:txBody>
      </p:sp>
      <p:sp>
        <p:nvSpPr>
          <p:cNvPr id="14" name="a02_up_card1"/>
          <p:cNvSpPr txBox="1"/>
          <p:nvPr/>
        </p:nvSpPr>
        <p:spPr>
          <a:xfrm>
            <a:off x="3977640" y="1344168"/>
            <a:ext cx="1828800" cy="530352"/>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AI explains, never decides</a:t>
            </a:r>
            <a:endParaRPr lang="en-US" sz="1400" dirty="0"/>
          </a:p>
        </p:txBody>
      </p:sp>
      <p:sp>
        <p:nvSpPr>
          <p:cNvPr id="15" name="a02_up_card1"/>
          <p:cNvSpPr txBox="1"/>
          <p:nvPr/>
        </p:nvSpPr>
        <p:spPr>
          <a:xfrm>
            <a:off x="3429000" y="2011680"/>
            <a:ext cx="2286000" cy="1600200"/>
          </a:xfrm>
          <a:prstGeom prst="rect">
            <a:avLst/>
          </a:prstGeom>
          <a:noFill/>
          <a:ln/>
        </p:spPr>
        <p:txBody>
          <a:bodyPr wrap="square" lIns="0" tIns="0" rIns="0" bIns="0" rtlCol="0" anchor="t"/>
          <a:lstStyle/>
          <a:p>
            <a:pPr marL="0" indent="0">
              <a:spcAft>
                <a:spcPts val="800"/>
              </a:spcAft>
              <a:buNone/>
            </a:pPr>
            <a:r>
              <a:rPr lang="en-US" sz="1300" dirty="0">
                <a:solidFill>
                  <a:srgbClr val="FFFFFF"/>
                </a:solidFill>
                <a:latin typeface="Calibri" pitchFamily="34" charset="0"/>
                <a:ea typeface="Calibri" pitchFamily="34" charset="-122"/>
                <a:cs typeface="Calibri" pitchFamily="34" charset="-120"/>
              </a:rPr>
              <a:t>The verdict headline is built in code.</a:t>
            </a:r>
            <a:endParaRPr lang="en-US" sz="1300" dirty="0"/>
          </a:p>
          <a:p>
            <a:pPr marL="0" indent="0">
              <a:spcAft>
                <a:spcPts val="800"/>
              </a:spcAft>
              <a:buNone/>
            </a:pPr>
            <a:r>
              <a:rPr lang="en-US" sz="1300" b="1" dirty="0">
                <a:solidFill>
                  <a:srgbClr val="34D399"/>
                </a:solidFill>
                <a:latin typeface="Calibri" pitchFamily="34" charset="0"/>
                <a:ea typeface="Calibri" pitchFamily="34" charset="-122"/>
                <a:cs typeface="Calibri" pitchFamily="34" charset="-120"/>
              </a:rPr>
              <a:t>The AI only writes the "why", with a safe fallback.</a:t>
            </a:r>
            <a:endParaRPr lang="en-US" sz="1300" dirty="0"/>
          </a:p>
        </p:txBody>
      </p:sp>
      <p:sp>
        <p:nvSpPr>
          <p:cNvPr id="16" name="a03_up_card2"/>
          <p:cNvSpPr/>
          <p:nvPr/>
        </p:nvSpPr>
        <p:spPr>
          <a:xfrm>
            <a:off x="6035040" y="1234440"/>
            <a:ext cx="2651760" cy="2468880"/>
          </a:xfrm>
          <a:prstGeom prst="roundRect">
            <a:avLst>
              <a:gd name="adj" fmla="val 2963"/>
            </a:avLst>
          </a:prstGeom>
          <a:solidFill>
            <a:srgbClr val="151B18"/>
          </a:solidFill>
          <a:ln w="12700">
            <a:solidFill>
              <a:srgbClr val="26332D"/>
            </a:solidFill>
            <a:prstDash val="solid"/>
          </a:ln>
        </p:spPr>
      </p:sp>
      <p:sp>
        <p:nvSpPr>
          <p:cNvPr id="17" name="a03_up_card2"/>
          <p:cNvSpPr/>
          <p:nvPr/>
        </p:nvSpPr>
        <p:spPr>
          <a:xfrm>
            <a:off x="6217920" y="1389888"/>
            <a:ext cx="438912" cy="438912"/>
          </a:xfrm>
          <a:prstGeom prst="ellipse">
            <a:avLst/>
          </a:prstGeom>
          <a:solidFill>
            <a:srgbClr val="FBBF24"/>
          </a:solidFill>
          <a:ln w="6350">
            <a:solidFill>
              <a:srgbClr val="FBBF24"/>
            </a:solidFill>
            <a:prstDash val="solid"/>
          </a:ln>
        </p:spPr>
      </p:sp>
      <p:sp>
        <p:nvSpPr>
          <p:cNvPr id="18" name="a03_up_card2"/>
          <p:cNvSpPr txBox="1"/>
          <p:nvPr/>
        </p:nvSpPr>
        <p:spPr>
          <a:xfrm>
            <a:off x="6217920" y="1389888"/>
            <a:ext cx="438912" cy="438912"/>
          </a:xfrm>
          <a:prstGeom prst="rect">
            <a:avLst/>
          </a:prstGeom>
          <a:noFill/>
          <a:ln/>
        </p:spPr>
        <p:txBody>
          <a:bodyPr wrap="square" lIns="0" tIns="0" rIns="0" bIns="0" rtlCol="0" anchor="ctr"/>
          <a:lstStyle/>
          <a:p>
            <a:pPr marL="0" indent="0" algn="ctr">
              <a:buNone/>
            </a:pPr>
            <a:r>
              <a:rPr lang="en-US" sz="1600" b="1" dirty="0">
                <a:solidFill>
                  <a:srgbClr val="0B0F0D"/>
                </a:solidFill>
                <a:latin typeface="Arial" pitchFamily="34" charset="0"/>
                <a:ea typeface="Arial" pitchFamily="34" charset="-122"/>
                <a:cs typeface="Arial" pitchFamily="34" charset="-120"/>
              </a:rPr>
              <a:t>3</a:t>
            </a:r>
            <a:endParaRPr lang="en-US" sz="1600" dirty="0"/>
          </a:p>
        </p:txBody>
      </p:sp>
      <p:sp>
        <p:nvSpPr>
          <p:cNvPr id="19" name="a03_up_card2"/>
          <p:cNvSpPr txBox="1"/>
          <p:nvPr/>
        </p:nvSpPr>
        <p:spPr>
          <a:xfrm>
            <a:off x="6766560" y="1344168"/>
            <a:ext cx="1828800" cy="530352"/>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Better search</a:t>
            </a:r>
            <a:endParaRPr lang="en-US" sz="1400" dirty="0"/>
          </a:p>
        </p:txBody>
      </p:sp>
      <p:sp>
        <p:nvSpPr>
          <p:cNvPr id="20" name="a03_up_card2"/>
          <p:cNvSpPr txBox="1"/>
          <p:nvPr/>
        </p:nvSpPr>
        <p:spPr>
          <a:xfrm>
            <a:off x="6217920" y="2011680"/>
            <a:ext cx="2286000" cy="1600200"/>
          </a:xfrm>
          <a:prstGeom prst="rect">
            <a:avLst/>
          </a:prstGeom>
          <a:noFill/>
          <a:ln/>
        </p:spPr>
        <p:txBody>
          <a:bodyPr wrap="square" lIns="0" tIns="0" rIns="0" bIns="0" rtlCol="0" anchor="t"/>
          <a:lstStyle/>
          <a:p>
            <a:pPr marL="0" indent="0">
              <a:spcAft>
                <a:spcPts val="800"/>
              </a:spcAft>
              <a:buNone/>
            </a:pPr>
            <a:r>
              <a:rPr lang="en-US" sz="1300" dirty="0">
                <a:solidFill>
                  <a:srgbClr val="FFFFFF"/>
                </a:solidFill>
                <a:latin typeface="Calibri" pitchFamily="34" charset="0"/>
                <a:ea typeface="Calibri" pitchFamily="34" charset="-122"/>
                <a:cs typeface="Calibri" pitchFamily="34" charset="-120"/>
              </a:rPr>
              <a:t>Brand brief rewritten in the creator-embedding format.</a:t>
            </a:r>
            <a:endParaRPr lang="en-US" sz="1300" dirty="0"/>
          </a:p>
          <a:p>
            <a:pPr marL="0" indent="0">
              <a:spcAft>
                <a:spcPts val="800"/>
              </a:spcAft>
              <a:buNone/>
            </a:pPr>
            <a:r>
              <a:rPr lang="en-US" sz="1300" b="1" dirty="0">
                <a:solidFill>
                  <a:srgbClr val="FBBF24"/>
                </a:solidFill>
                <a:latin typeface="Calibri" pitchFamily="34" charset="0"/>
                <a:ea typeface="Calibri" pitchFamily="34" charset="-122"/>
                <a:cs typeface="Calibri" pitchFamily="34" charset="-120"/>
              </a:rPr>
              <a:t>Similarity 0.274 → 0.654.</a:t>
            </a:r>
            <a:endParaRPr lang="en-US" sz="1300" dirty="0"/>
          </a:p>
        </p:txBody>
      </p:sp>
      <p:sp>
        <p:nvSpPr>
          <p:cNvPr id="21" name="a04_fade_banner"/>
          <p:cNvSpPr/>
          <p:nvPr/>
        </p:nvSpPr>
        <p:spPr>
          <a:xfrm>
            <a:off x="457200" y="3886200"/>
            <a:ext cx="8229600" cy="777240"/>
          </a:xfrm>
          <a:prstGeom prst="roundRect">
            <a:avLst>
              <a:gd name="adj" fmla="val 9412"/>
            </a:avLst>
          </a:prstGeom>
          <a:solidFill>
            <a:srgbClr val="151B18"/>
          </a:solidFill>
          <a:ln w="12700">
            <a:solidFill>
              <a:srgbClr val="26332D"/>
            </a:solidFill>
            <a:prstDash val="solid"/>
          </a:ln>
        </p:spPr>
      </p:sp>
      <p:sp>
        <p:nvSpPr>
          <p:cNvPr id="22" name="a04_fade_banner"/>
          <p:cNvSpPr txBox="1"/>
          <p:nvPr/>
        </p:nvSpPr>
        <p:spPr>
          <a:xfrm>
            <a:off x="685800" y="3886200"/>
            <a:ext cx="2926080" cy="7772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Same deal, only the contract changed:</a:t>
            </a:r>
            <a:endParaRPr lang="en-US" sz="1400" dirty="0"/>
          </a:p>
        </p:txBody>
      </p:sp>
      <p:sp>
        <p:nvSpPr>
          <p:cNvPr id="23" name="a05_zoom_before"/>
          <p:cNvSpPr/>
          <p:nvPr/>
        </p:nvSpPr>
        <p:spPr>
          <a:xfrm>
            <a:off x="3749040" y="4069080"/>
            <a:ext cx="1554480" cy="411480"/>
          </a:xfrm>
          <a:prstGeom prst="roundRect">
            <a:avLst>
              <a:gd name="adj" fmla="val 50000"/>
            </a:avLst>
          </a:prstGeom>
          <a:solidFill>
            <a:srgbClr val="34D399"/>
          </a:solidFill>
          <a:ln w="6350">
            <a:solidFill>
              <a:srgbClr val="34D399"/>
            </a:solidFill>
            <a:prstDash val="solid"/>
          </a:ln>
        </p:spPr>
      </p:sp>
      <p:sp>
        <p:nvSpPr>
          <p:cNvPr id="24" name="a05_zoom_before"/>
          <p:cNvSpPr txBox="1"/>
          <p:nvPr/>
        </p:nvSpPr>
        <p:spPr>
          <a:xfrm>
            <a:off x="3749040" y="4069080"/>
            <a:ext cx="1554480" cy="411480"/>
          </a:xfrm>
          <a:prstGeom prst="rect">
            <a:avLst/>
          </a:prstGeom>
          <a:noFill/>
          <a:ln/>
        </p:spPr>
        <p:txBody>
          <a:bodyPr wrap="square" lIns="0" tIns="0" rIns="0" bIns="0" rtlCol="0" anchor="ctr"/>
          <a:lstStyle/>
          <a:p>
            <a:pPr marL="0" indent="0" algn="ctr">
              <a:buNone/>
            </a:pPr>
            <a:r>
              <a:rPr lang="en-US" sz="1300" b="1" dirty="0">
                <a:solidFill>
                  <a:srgbClr val="0B0F0D"/>
                </a:solidFill>
                <a:latin typeface="Arial" pitchFamily="34" charset="0"/>
                <a:ea typeface="Arial" pitchFamily="34" charset="-122"/>
                <a:cs typeface="Arial" pitchFamily="34" charset="-120"/>
              </a:rPr>
              <a:t>ACCEPT</a:t>
            </a:r>
            <a:endParaRPr lang="en-US" sz="1300" dirty="0"/>
          </a:p>
        </p:txBody>
      </p:sp>
      <p:sp>
        <p:nvSpPr>
          <p:cNvPr id="25" name="a06_wipeL_arrow"/>
          <p:cNvSpPr txBox="1"/>
          <p:nvPr/>
        </p:nvSpPr>
        <p:spPr>
          <a:xfrm>
            <a:off x="5349240" y="3886200"/>
            <a:ext cx="457200" cy="777240"/>
          </a:xfrm>
          <a:prstGeom prst="rect">
            <a:avLst/>
          </a:prstGeom>
          <a:noFill/>
          <a:ln/>
        </p:spPr>
        <p:txBody>
          <a:bodyPr wrap="square" lIns="0" tIns="0" rIns="0" bIns="0" rtlCol="0" anchor="ctr"/>
          <a:lstStyle/>
          <a:p>
            <a:pPr marL="0" indent="0" algn="ctr">
              <a:buNone/>
            </a:pPr>
            <a:r>
              <a:rPr lang="en-US" sz="2200" dirty="0">
                <a:solidFill>
                  <a:srgbClr val="A3ADA8"/>
                </a:solidFill>
                <a:latin typeface="Calibri" pitchFamily="34" charset="0"/>
                <a:ea typeface="Calibri" pitchFamily="34" charset="-122"/>
                <a:cs typeface="Calibri" pitchFamily="34" charset="-120"/>
              </a:rPr>
              <a:t>→</a:t>
            </a:r>
            <a:endParaRPr lang="en-US" sz="2200" dirty="0"/>
          </a:p>
        </p:txBody>
      </p:sp>
      <p:sp>
        <p:nvSpPr>
          <p:cNvPr id="26" name="a07_zoom_after"/>
          <p:cNvSpPr/>
          <p:nvPr/>
        </p:nvSpPr>
        <p:spPr>
          <a:xfrm>
            <a:off x="5852160" y="4069080"/>
            <a:ext cx="1737360" cy="411480"/>
          </a:xfrm>
          <a:prstGeom prst="roundRect">
            <a:avLst>
              <a:gd name="adj" fmla="val 50000"/>
            </a:avLst>
          </a:prstGeom>
          <a:solidFill>
            <a:srgbClr val="FBBF24"/>
          </a:solidFill>
          <a:ln w="6350">
            <a:solidFill>
              <a:srgbClr val="FBBF24"/>
            </a:solidFill>
            <a:prstDash val="solid"/>
          </a:ln>
        </p:spPr>
      </p:sp>
      <p:sp>
        <p:nvSpPr>
          <p:cNvPr id="27" name="a07_zoom_after"/>
          <p:cNvSpPr txBox="1"/>
          <p:nvPr/>
        </p:nvSpPr>
        <p:spPr>
          <a:xfrm>
            <a:off x="5852160" y="4069080"/>
            <a:ext cx="1737360" cy="411480"/>
          </a:xfrm>
          <a:prstGeom prst="rect">
            <a:avLst/>
          </a:prstGeom>
          <a:noFill/>
          <a:ln/>
        </p:spPr>
        <p:txBody>
          <a:bodyPr wrap="square" lIns="0" tIns="0" rIns="0" bIns="0" rtlCol="0" anchor="ctr"/>
          <a:lstStyle/>
          <a:p>
            <a:pPr marL="0" indent="0" algn="ctr">
              <a:buNone/>
            </a:pPr>
            <a:r>
              <a:rPr lang="en-US" sz="1300" b="1" dirty="0">
                <a:solidFill>
                  <a:srgbClr val="0B0F0D"/>
                </a:solidFill>
                <a:latin typeface="Arial" pitchFamily="34" charset="0"/>
                <a:ea typeface="Arial" pitchFamily="34" charset="-122"/>
                <a:cs typeface="Arial" pitchFamily="34" charset="-120"/>
              </a:rPr>
              <a:t>NEGOTIATE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par>
                          <p:cTn id="11" fill="hold">
                            <p:stCondLst>
                              <p:cond delay="500"/>
                            </p:stCondLst>
                            <p:childTnLst>
                              <p:par>
                                <p:cTn id="12" presetID="2" presetClass="entr" presetSubtype="4"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ppt_x"/>
                                          </p:val>
                                        </p:tav>
                                        <p:tav tm="100000">
                                          <p:val>
                                            <p:strVal val="#ppt_x"/>
                                          </p:val>
                                        </p:tav>
                                      </p:tavLst>
                                    </p:anim>
                                    <p:anim calcmode="lin" valueType="num">
                                      <p:cBhvr additive="base">
                                        <p:cTn id="23" dur="500" fill="hold"/>
                                        <p:tgtEl>
                                          <p:spTgt spid="8"/>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ppt_x</p:attrName>
                                        </p:attrNameLst>
                                      </p:cBhvr>
                                      <p:tavLst>
                                        <p:tav tm="0">
                                          <p:val>
                                            <p:strVal val="#ppt_x"/>
                                          </p:val>
                                        </p:tav>
                                        <p:tav tm="100000">
                                          <p:val>
                                            <p:strVal val="#ppt_x"/>
                                          </p:val>
                                        </p:tav>
                                      </p:tavLst>
                                    </p:anim>
                                    <p:anim calcmode="lin" valueType="num">
                                      <p:cBhvr additive="base">
                                        <p:cTn id="27" dur="500" fill="hold"/>
                                        <p:tgtEl>
                                          <p:spTgt spid="9"/>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ppt_x"/>
                                          </p:val>
                                        </p:tav>
                                        <p:tav tm="100000">
                                          <p:val>
                                            <p:strVal val="#ppt_x"/>
                                          </p:val>
                                        </p:tav>
                                      </p:tavLst>
                                    </p:anim>
                                    <p:anim calcmode="lin" valueType="num">
                                      <p:cBhvr additive="base">
                                        <p:cTn id="31" dur="500" fill="hold"/>
                                        <p:tgtEl>
                                          <p:spTgt spid="10"/>
                                        </p:tgtEl>
                                        <p:attrNameLst>
                                          <p:attrName>ppt_y</p:attrName>
                                        </p:attrNameLst>
                                      </p:cBhvr>
                                      <p:tavLst>
                                        <p:tav tm="0">
                                          <p:val>
                                            <p:strVal val="1+#ppt_h/2"/>
                                          </p:val>
                                        </p:tav>
                                        <p:tav tm="100000">
                                          <p:val>
                                            <p:strVal val="#ppt_y"/>
                                          </p:val>
                                        </p:tav>
                                      </p:tavLst>
                                    </p:anim>
                                  </p:childTnLst>
                                </p:cTn>
                              </p:par>
                            </p:childTnLst>
                          </p:cTn>
                        </p:par>
                        <p:par>
                          <p:cTn id="32" fill="hold">
                            <p:stCondLst>
                              <p:cond delay="1000"/>
                            </p:stCondLst>
                            <p:childTnLst>
                              <p:par>
                                <p:cTn id="33" presetID="2" presetClass="entr" presetSubtype="4" fill="hold" nodeType="after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ppt_x"/>
                                          </p:val>
                                        </p:tav>
                                        <p:tav tm="100000">
                                          <p:val>
                                            <p:strVal val="#ppt_x"/>
                                          </p:val>
                                        </p:tav>
                                      </p:tavLst>
                                    </p:anim>
                                    <p:anim calcmode="lin" valueType="num">
                                      <p:cBhvr additive="base">
                                        <p:cTn id="48" dur="500" fill="hold"/>
                                        <p:tgtEl>
                                          <p:spTgt spid="14"/>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ppt_x"/>
                                          </p:val>
                                        </p:tav>
                                        <p:tav tm="100000">
                                          <p:val>
                                            <p:strVal val="#ppt_x"/>
                                          </p:val>
                                        </p:tav>
                                      </p:tavLst>
                                    </p:anim>
                                    <p:anim calcmode="lin" valueType="num">
                                      <p:cBhvr additive="base">
                                        <p:cTn id="52" dur="500" fill="hold"/>
                                        <p:tgtEl>
                                          <p:spTgt spid="15"/>
                                        </p:tgtEl>
                                        <p:attrNameLst>
                                          <p:attrName>ppt_y</p:attrName>
                                        </p:attrNameLst>
                                      </p:cBhvr>
                                      <p:tavLst>
                                        <p:tav tm="0">
                                          <p:val>
                                            <p:strVal val="1+#ppt_h/2"/>
                                          </p:val>
                                        </p:tav>
                                        <p:tav tm="100000">
                                          <p:val>
                                            <p:strVal val="#ppt_y"/>
                                          </p:val>
                                        </p:tav>
                                      </p:tavLst>
                                    </p:anim>
                                  </p:childTnLst>
                                </p:cTn>
                              </p:par>
                            </p:childTnLst>
                          </p:cTn>
                        </p:par>
                        <p:par>
                          <p:cTn id="53" fill="hold">
                            <p:stCondLst>
                              <p:cond delay="1500"/>
                            </p:stCondLst>
                            <p:childTnLst>
                              <p:par>
                                <p:cTn id="54" presetID="2" presetClass="entr" presetSubtype="4" fill="hold" nodeType="afterEffect">
                                  <p:stCondLst>
                                    <p:cond delay="0"/>
                                  </p:stCondLst>
                                  <p:childTnLst>
                                    <p:set>
                                      <p:cBhvr>
                                        <p:cTn id="55" dur="1" fill="hold">
                                          <p:stCondLst>
                                            <p:cond delay="0"/>
                                          </p:stCondLst>
                                        </p:cTn>
                                        <p:tgtEl>
                                          <p:spTgt spid="16"/>
                                        </p:tgtEl>
                                        <p:attrNameLst>
                                          <p:attrName>style.visibility</p:attrName>
                                        </p:attrNameLst>
                                      </p:cBhvr>
                                      <p:to>
                                        <p:strVal val="visible"/>
                                      </p:to>
                                    </p:set>
                                    <p:anim calcmode="lin" valueType="num">
                                      <p:cBhvr additive="base">
                                        <p:cTn id="56" dur="500" fill="hold"/>
                                        <p:tgtEl>
                                          <p:spTgt spid="16"/>
                                        </p:tgtEl>
                                        <p:attrNameLst>
                                          <p:attrName>ppt_x</p:attrName>
                                        </p:attrNameLst>
                                      </p:cBhvr>
                                      <p:tavLst>
                                        <p:tav tm="0">
                                          <p:val>
                                            <p:strVal val="#ppt_x"/>
                                          </p:val>
                                        </p:tav>
                                        <p:tav tm="100000">
                                          <p:val>
                                            <p:strVal val="#ppt_x"/>
                                          </p:val>
                                        </p:tav>
                                      </p:tavLst>
                                    </p:anim>
                                    <p:anim calcmode="lin" valueType="num">
                                      <p:cBhvr additive="base">
                                        <p:cTn id="57" dur="500" fill="hold"/>
                                        <p:tgtEl>
                                          <p:spTgt spid="16"/>
                                        </p:tgtEl>
                                        <p:attrNameLst>
                                          <p:attrName>ppt_y</p:attrName>
                                        </p:attrNameLst>
                                      </p:cBhvr>
                                      <p:tavLst>
                                        <p:tav tm="0">
                                          <p:val>
                                            <p:strVal val="1+#ppt_h/2"/>
                                          </p:val>
                                        </p:tav>
                                        <p:tav tm="100000">
                                          <p:val>
                                            <p:strVal val="#ppt_y"/>
                                          </p:val>
                                        </p:tav>
                                      </p:tavLst>
                                    </p:anim>
                                  </p:childTnLst>
                                </p:cTn>
                              </p:par>
                              <p:par>
                                <p:cTn id="58" presetID="2" presetClass="entr" presetSubtype="4" fill="hold" nodeType="withEffect">
                                  <p:stCondLst>
                                    <p:cond delay="0"/>
                                  </p:stCondLst>
                                  <p:childTnLst>
                                    <p:set>
                                      <p:cBhvr>
                                        <p:cTn id="59" dur="1" fill="hold">
                                          <p:stCondLst>
                                            <p:cond delay="0"/>
                                          </p:stCondLst>
                                        </p:cTn>
                                        <p:tgtEl>
                                          <p:spTgt spid="17"/>
                                        </p:tgtEl>
                                        <p:attrNameLst>
                                          <p:attrName>style.visibility</p:attrName>
                                        </p:attrNameLst>
                                      </p:cBhvr>
                                      <p:to>
                                        <p:strVal val="visible"/>
                                      </p:to>
                                    </p:set>
                                    <p:anim calcmode="lin" valueType="num">
                                      <p:cBhvr additive="base">
                                        <p:cTn id="60" dur="500" fill="hold"/>
                                        <p:tgtEl>
                                          <p:spTgt spid="17"/>
                                        </p:tgtEl>
                                        <p:attrNameLst>
                                          <p:attrName>ppt_x</p:attrName>
                                        </p:attrNameLst>
                                      </p:cBhvr>
                                      <p:tavLst>
                                        <p:tav tm="0">
                                          <p:val>
                                            <p:strVal val="#ppt_x"/>
                                          </p:val>
                                        </p:tav>
                                        <p:tav tm="100000">
                                          <p:val>
                                            <p:strVal val="#ppt_x"/>
                                          </p:val>
                                        </p:tav>
                                      </p:tavLst>
                                    </p:anim>
                                    <p:anim calcmode="lin" valueType="num">
                                      <p:cBhvr additive="base">
                                        <p:cTn id="61" dur="500" fill="hold"/>
                                        <p:tgtEl>
                                          <p:spTgt spid="17"/>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0"/>
                                  </p:stCondLst>
                                  <p:childTnLst>
                                    <p:set>
                                      <p:cBhvr>
                                        <p:cTn id="63" dur="1" fill="hold">
                                          <p:stCondLst>
                                            <p:cond delay="0"/>
                                          </p:stCondLst>
                                        </p:cTn>
                                        <p:tgtEl>
                                          <p:spTgt spid="18"/>
                                        </p:tgtEl>
                                        <p:attrNameLst>
                                          <p:attrName>style.visibility</p:attrName>
                                        </p:attrNameLst>
                                      </p:cBhvr>
                                      <p:to>
                                        <p:strVal val="visible"/>
                                      </p:to>
                                    </p:set>
                                    <p:anim calcmode="lin" valueType="num">
                                      <p:cBhvr additive="base">
                                        <p:cTn id="64" dur="500" fill="hold"/>
                                        <p:tgtEl>
                                          <p:spTgt spid="18"/>
                                        </p:tgtEl>
                                        <p:attrNameLst>
                                          <p:attrName>ppt_x</p:attrName>
                                        </p:attrNameLst>
                                      </p:cBhvr>
                                      <p:tavLst>
                                        <p:tav tm="0">
                                          <p:val>
                                            <p:strVal val="#ppt_x"/>
                                          </p:val>
                                        </p:tav>
                                        <p:tav tm="100000">
                                          <p:val>
                                            <p:strVal val="#ppt_x"/>
                                          </p:val>
                                        </p:tav>
                                      </p:tavLst>
                                    </p:anim>
                                    <p:anim calcmode="lin" valueType="num">
                                      <p:cBhvr additive="base">
                                        <p:cTn id="65" dur="500" fill="hold"/>
                                        <p:tgtEl>
                                          <p:spTgt spid="18"/>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0"/>
                                  </p:stCondLst>
                                  <p:childTnLst>
                                    <p:set>
                                      <p:cBhvr>
                                        <p:cTn id="67" dur="1" fill="hold">
                                          <p:stCondLst>
                                            <p:cond delay="0"/>
                                          </p:stCondLst>
                                        </p:cTn>
                                        <p:tgtEl>
                                          <p:spTgt spid="19"/>
                                        </p:tgtEl>
                                        <p:attrNameLst>
                                          <p:attrName>style.visibility</p:attrName>
                                        </p:attrNameLst>
                                      </p:cBhvr>
                                      <p:to>
                                        <p:strVal val="visible"/>
                                      </p:to>
                                    </p:set>
                                    <p:anim calcmode="lin" valueType="num">
                                      <p:cBhvr additive="base">
                                        <p:cTn id="68" dur="500" fill="hold"/>
                                        <p:tgtEl>
                                          <p:spTgt spid="19"/>
                                        </p:tgtEl>
                                        <p:attrNameLst>
                                          <p:attrName>ppt_x</p:attrName>
                                        </p:attrNameLst>
                                      </p:cBhvr>
                                      <p:tavLst>
                                        <p:tav tm="0">
                                          <p:val>
                                            <p:strVal val="#ppt_x"/>
                                          </p:val>
                                        </p:tav>
                                        <p:tav tm="100000">
                                          <p:val>
                                            <p:strVal val="#ppt_x"/>
                                          </p:val>
                                        </p:tav>
                                      </p:tavLst>
                                    </p:anim>
                                    <p:anim calcmode="lin" valueType="num">
                                      <p:cBhvr additive="base">
                                        <p:cTn id="69" dur="500" fill="hold"/>
                                        <p:tgtEl>
                                          <p:spTgt spid="19"/>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 calcmode="lin" valueType="num">
                                      <p:cBhvr additive="base">
                                        <p:cTn id="72" dur="500" fill="hold"/>
                                        <p:tgtEl>
                                          <p:spTgt spid="20"/>
                                        </p:tgtEl>
                                        <p:attrNameLst>
                                          <p:attrName>ppt_x</p:attrName>
                                        </p:attrNameLst>
                                      </p:cBhvr>
                                      <p:tavLst>
                                        <p:tav tm="0">
                                          <p:val>
                                            <p:strVal val="#ppt_x"/>
                                          </p:val>
                                        </p:tav>
                                        <p:tav tm="100000">
                                          <p:val>
                                            <p:strVal val="#ppt_x"/>
                                          </p:val>
                                        </p:tav>
                                      </p:tavLst>
                                    </p:anim>
                                    <p:anim calcmode="lin" valueType="num">
                                      <p:cBhvr additive="base">
                                        <p:cTn id="73" dur="500" fill="hold"/>
                                        <p:tgtEl>
                                          <p:spTgt spid="20"/>
                                        </p:tgtEl>
                                        <p:attrNameLst>
                                          <p:attrName>ppt_y</p:attrName>
                                        </p:attrNameLst>
                                      </p:cBhvr>
                                      <p:tavLst>
                                        <p:tav tm="0">
                                          <p:val>
                                            <p:strVal val="1+#ppt_h/2"/>
                                          </p:val>
                                        </p:tav>
                                        <p:tav tm="100000">
                                          <p:val>
                                            <p:strVal val="#ppt_y"/>
                                          </p:val>
                                        </p:tav>
                                      </p:tavLst>
                                    </p:anim>
                                  </p:childTnLst>
                                </p:cTn>
                              </p:par>
                            </p:childTnLst>
                          </p:cTn>
                        </p:par>
                        <p:par>
                          <p:cTn id="74" fill="hold">
                            <p:stCondLst>
                              <p:cond delay="2000"/>
                            </p:stCondLst>
                            <p:childTnLst>
                              <p:par>
                                <p:cTn id="75" presetID="10" presetClass="entr" presetSubtype="0" fill="hold" nodeType="after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fade">
                                      <p:cBhvr>
                                        <p:cTn id="77" dur="500"/>
                                        <p:tgtEl>
                                          <p:spTgt spid="21"/>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2"/>
                                        </p:tgtEl>
                                        <p:attrNameLst>
                                          <p:attrName>style.visibility</p:attrName>
                                        </p:attrNameLst>
                                      </p:cBhvr>
                                      <p:to>
                                        <p:strVal val="visible"/>
                                      </p:to>
                                    </p:set>
                                    <p:animEffect transition="in" filter="fade">
                                      <p:cBhvr>
                                        <p:cTn id="80" dur="500"/>
                                        <p:tgtEl>
                                          <p:spTgt spid="22"/>
                                        </p:tgtEl>
                                      </p:cBhvr>
                                    </p:animEffect>
                                  </p:childTnLst>
                                </p:cTn>
                              </p:par>
                            </p:childTnLst>
                          </p:cTn>
                        </p:par>
                        <p:par>
                          <p:cTn id="81" fill="hold">
                            <p:stCondLst>
                              <p:cond delay="2500"/>
                            </p:stCondLst>
                            <p:childTnLst>
                              <p:par>
                                <p:cTn id="82" presetID="23" presetClass="entr" presetSubtype="16" fill="hold" nodeType="afterEffect">
                                  <p:stCondLst>
                                    <p:cond delay="0"/>
                                  </p:stCondLst>
                                  <p:childTnLst>
                                    <p:set>
                                      <p:cBhvr>
                                        <p:cTn id="83" dur="1" fill="hold">
                                          <p:stCondLst>
                                            <p:cond delay="0"/>
                                          </p:stCondLst>
                                        </p:cTn>
                                        <p:tgtEl>
                                          <p:spTgt spid="23"/>
                                        </p:tgtEl>
                                        <p:attrNameLst>
                                          <p:attrName>style.visibility</p:attrName>
                                        </p:attrNameLst>
                                      </p:cBhvr>
                                      <p:to>
                                        <p:strVal val="visible"/>
                                      </p:to>
                                    </p:set>
                                    <p:anim calcmode="lin" valueType="num">
                                      <p:cBhvr>
                                        <p:cTn id="84" dur="400" fill="hold"/>
                                        <p:tgtEl>
                                          <p:spTgt spid="23"/>
                                        </p:tgtEl>
                                        <p:attrNameLst>
                                          <p:attrName>ppt_w</p:attrName>
                                        </p:attrNameLst>
                                      </p:cBhvr>
                                      <p:tavLst>
                                        <p:tav tm="0">
                                          <p:val>
                                            <p:fltVal val="0"/>
                                          </p:val>
                                        </p:tav>
                                        <p:tav tm="100000">
                                          <p:val>
                                            <p:strVal val="#ppt_w"/>
                                          </p:val>
                                        </p:tav>
                                      </p:tavLst>
                                    </p:anim>
                                    <p:anim calcmode="lin" valueType="num">
                                      <p:cBhvr>
                                        <p:cTn id="85" dur="400" fill="hold"/>
                                        <p:tgtEl>
                                          <p:spTgt spid="23"/>
                                        </p:tgtEl>
                                        <p:attrNameLst>
                                          <p:attrName>ppt_h</p:attrName>
                                        </p:attrNameLst>
                                      </p:cBhvr>
                                      <p:tavLst>
                                        <p:tav tm="0">
                                          <p:val>
                                            <p:fltVal val="0"/>
                                          </p:val>
                                        </p:tav>
                                        <p:tav tm="100000">
                                          <p:val>
                                            <p:strVal val="#ppt_h"/>
                                          </p:val>
                                        </p:tav>
                                      </p:tavLst>
                                    </p:anim>
                                  </p:childTnLst>
                                </p:cTn>
                              </p:par>
                              <p:par>
                                <p:cTn id="86" presetID="23" presetClass="entr" presetSubtype="16" fill="hold" grpId="0" nodeType="withEffect">
                                  <p:stCondLst>
                                    <p:cond delay="0"/>
                                  </p:stCondLst>
                                  <p:childTnLst>
                                    <p:set>
                                      <p:cBhvr>
                                        <p:cTn id="87" dur="1" fill="hold">
                                          <p:stCondLst>
                                            <p:cond delay="0"/>
                                          </p:stCondLst>
                                        </p:cTn>
                                        <p:tgtEl>
                                          <p:spTgt spid="24"/>
                                        </p:tgtEl>
                                        <p:attrNameLst>
                                          <p:attrName>style.visibility</p:attrName>
                                        </p:attrNameLst>
                                      </p:cBhvr>
                                      <p:to>
                                        <p:strVal val="visible"/>
                                      </p:to>
                                    </p:set>
                                    <p:anim calcmode="lin" valueType="num">
                                      <p:cBhvr>
                                        <p:cTn id="88" dur="400" fill="hold"/>
                                        <p:tgtEl>
                                          <p:spTgt spid="24"/>
                                        </p:tgtEl>
                                        <p:attrNameLst>
                                          <p:attrName>ppt_w</p:attrName>
                                        </p:attrNameLst>
                                      </p:cBhvr>
                                      <p:tavLst>
                                        <p:tav tm="0">
                                          <p:val>
                                            <p:fltVal val="0"/>
                                          </p:val>
                                        </p:tav>
                                        <p:tav tm="100000">
                                          <p:val>
                                            <p:strVal val="#ppt_w"/>
                                          </p:val>
                                        </p:tav>
                                      </p:tavLst>
                                    </p:anim>
                                    <p:anim calcmode="lin" valueType="num">
                                      <p:cBhvr>
                                        <p:cTn id="89" dur="400" fill="hold"/>
                                        <p:tgtEl>
                                          <p:spTgt spid="24"/>
                                        </p:tgtEl>
                                        <p:attrNameLst>
                                          <p:attrName>ppt_h</p:attrName>
                                        </p:attrNameLst>
                                      </p:cBhvr>
                                      <p:tavLst>
                                        <p:tav tm="0">
                                          <p:val>
                                            <p:fltVal val="0"/>
                                          </p:val>
                                        </p:tav>
                                        <p:tav tm="100000">
                                          <p:val>
                                            <p:strVal val="#ppt_h"/>
                                          </p:val>
                                        </p:tav>
                                      </p:tavLst>
                                    </p:anim>
                                  </p:childTnLst>
                                </p:cTn>
                              </p:par>
                            </p:childTnLst>
                          </p:cTn>
                        </p:par>
                        <p:par>
                          <p:cTn id="90" fill="hold">
                            <p:stCondLst>
                              <p:cond delay="2900"/>
                            </p:stCondLst>
                            <p:childTnLst>
                              <p:par>
                                <p:cTn id="91" presetID="22" presetClass="entr" presetSubtype="8" fill="hold" grpId="0" nodeType="afterEffect">
                                  <p:stCondLst>
                                    <p:cond delay="0"/>
                                  </p:stCondLst>
                                  <p:childTnLst>
                                    <p:set>
                                      <p:cBhvr>
                                        <p:cTn id="92" dur="1" fill="hold">
                                          <p:stCondLst>
                                            <p:cond delay="0"/>
                                          </p:stCondLst>
                                        </p:cTn>
                                        <p:tgtEl>
                                          <p:spTgt spid="25"/>
                                        </p:tgtEl>
                                        <p:attrNameLst>
                                          <p:attrName>style.visibility</p:attrName>
                                        </p:attrNameLst>
                                      </p:cBhvr>
                                      <p:to>
                                        <p:strVal val="visible"/>
                                      </p:to>
                                    </p:set>
                                    <p:animEffect transition="in" filter="wipe(left)">
                                      <p:cBhvr>
                                        <p:cTn id="93" dur="400"/>
                                        <p:tgtEl>
                                          <p:spTgt spid="25"/>
                                        </p:tgtEl>
                                      </p:cBhvr>
                                    </p:animEffect>
                                  </p:childTnLst>
                                </p:cTn>
                              </p:par>
                            </p:childTnLst>
                          </p:cTn>
                        </p:par>
                        <p:par>
                          <p:cTn id="94" fill="hold">
                            <p:stCondLst>
                              <p:cond delay="3300"/>
                            </p:stCondLst>
                            <p:childTnLst>
                              <p:par>
                                <p:cTn id="95" presetID="23" presetClass="entr" presetSubtype="16" fill="hold" nodeType="afterEffect">
                                  <p:stCondLst>
                                    <p:cond delay="0"/>
                                  </p:stCondLst>
                                  <p:childTnLst>
                                    <p:set>
                                      <p:cBhvr>
                                        <p:cTn id="96" dur="1" fill="hold">
                                          <p:stCondLst>
                                            <p:cond delay="0"/>
                                          </p:stCondLst>
                                        </p:cTn>
                                        <p:tgtEl>
                                          <p:spTgt spid="26"/>
                                        </p:tgtEl>
                                        <p:attrNameLst>
                                          <p:attrName>style.visibility</p:attrName>
                                        </p:attrNameLst>
                                      </p:cBhvr>
                                      <p:to>
                                        <p:strVal val="visible"/>
                                      </p:to>
                                    </p:set>
                                    <p:anim calcmode="lin" valueType="num">
                                      <p:cBhvr>
                                        <p:cTn id="97" dur="400" fill="hold"/>
                                        <p:tgtEl>
                                          <p:spTgt spid="26"/>
                                        </p:tgtEl>
                                        <p:attrNameLst>
                                          <p:attrName>ppt_w</p:attrName>
                                        </p:attrNameLst>
                                      </p:cBhvr>
                                      <p:tavLst>
                                        <p:tav tm="0">
                                          <p:val>
                                            <p:fltVal val="0"/>
                                          </p:val>
                                        </p:tav>
                                        <p:tav tm="100000">
                                          <p:val>
                                            <p:strVal val="#ppt_w"/>
                                          </p:val>
                                        </p:tav>
                                      </p:tavLst>
                                    </p:anim>
                                    <p:anim calcmode="lin" valueType="num">
                                      <p:cBhvr>
                                        <p:cTn id="98" dur="400" fill="hold"/>
                                        <p:tgtEl>
                                          <p:spTgt spid="26"/>
                                        </p:tgtEl>
                                        <p:attrNameLst>
                                          <p:attrName>ppt_h</p:attrName>
                                        </p:attrNameLst>
                                      </p:cBhvr>
                                      <p:tavLst>
                                        <p:tav tm="0">
                                          <p:val>
                                            <p:fltVal val="0"/>
                                          </p:val>
                                        </p:tav>
                                        <p:tav tm="100000">
                                          <p:val>
                                            <p:strVal val="#ppt_h"/>
                                          </p:val>
                                        </p:tav>
                                      </p:tavLst>
                                    </p:anim>
                                  </p:childTnLst>
                                </p:cTn>
                              </p:par>
                              <p:par>
                                <p:cTn id="99" presetID="23" presetClass="entr" presetSubtype="16" fill="hold" grpId="0" nodeType="withEffect">
                                  <p:stCondLst>
                                    <p:cond delay="0"/>
                                  </p:stCondLst>
                                  <p:childTnLst>
                                    <p:set>
                                      <p:cBhvr>
                                        <p:cTn id="100" dur="1" fill="hold">
                                          <p:stCondLst>
                                            <p:cond delay="0"/>
                                          </p:stCondLst>
                                        </p:cTn>
                                        <p:tgtEl>
                                          <p:spTgt spid="27"/>
                                        </p:tgtEl>
                                        <p:attrNameLst>
                                          <p:attrName>style.visibility</p:attrName>
                                        </p:attrNameLst>
                                      </p:cBhvr>
                                      <p:to>
                                        <p:strVal val="visible"/>
                                      </p:to>
                                    </p:set>
                                    <p:anim calcmode="lin" valueType="num">
                                      <p:cBhvr>
                                        <p:cTn id="101" dur="400" fill="hold"/>
                                        <p:tgtEl>
                                          <p:spTgt spid="27"/>
                                        </p:tgtEl>
                                        <p:attrNameLst>
                                          <p:attrName>ppt_w</p:attrName>
                                        </p:attrNameLst>
                                      </p:cBhvr>
                                      <p:tavLst>
                                        <p:tav tm="0">
                                          <p:val>
                                            <p:fltVal val="0"/>
                                          </p:val>
                                        </p:tav>
                                        <p:tav tm="100000">
                                          <p:val>
                                            <p:strVal val="#ppt_w"/>
                                          </p:val>
                                        </p:tav>
                                      </p:tavLst>
                                    </p:anim>
                                    <p:anim calcmode="lin" valueType="num">
                                      <p:cBhvr>
                                        <p:cTn id="102" dur="400" fill="hold"/>
                                        <p:tgtEl>
                                          <p:spTgt spid="2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P spid="9" grpId="0" animBg="1"/>
      <p:bldP spid="10" grpId="0" animBg="1"/>
      <p:bldP spid="13" grpId="0" animBg="1"/>
      <p:bldP spid="14" grpId="0" animBg="1"/>
      <p:bldP spid="15" grpId="0" animBg="1"/>
      <p:bldP spid="18" grpId="0" animBg="1"/>
      <p:bldP spid="19" grpId="0" animBg="1"/>
      <p:bldP spid="20" grpId="0" animBg="1"/>
      <p:bldP spid="22" grpId="0" animBg="1"/>
      <p:bldP spid="24" grpId="0" animBg="1"/>
      <p:bldP spid="25" grpId="0" animBg="1"/>
      <p:bldP spid="2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0D"/>
        </a:solidFill>
        <a:effectLst/>
      </p:bgPr>
    </p:bg>
    <p:spTree>
      <p:nvGrpSpPr>
        <p:cNvPr id="1" name=""/>
        <p:cNvGrpSpPr/>
        <p:nvPr/>
      </p:nvGrpSpPr>
      <p:grpSpPr>
        <a:xfrm>
          <a:off x="0" y="0"/>
          <a:ext cx="0" cy="0"/>
          <a:chOff x="0" y="0"/>
          <a:chExt cx="0" cy="0"/>
        </a:xfrm>
      </p:grpSpPr>
      <p:sp>
        <p:nvSpPr>
          <p:cNvPr id="2" name="Glow"/>
          <p:cNvSpPr/>
          <p:nvPr/>
        </p:nvSpPr>
        <p:spPr>
          <a:xfrm>
            <a:off x="6583680" y="-1463040"/>
            <a:ext cx="3840480" cy="3840480"/>
          </a:xfrm>
          <a:prstGeom prst="ellipse">
            <a:avLst/>
          </a:prstGeom>
          <a:solidFill>
            <a:srgbClr val="34D399">
              <a:alpha val="6000"/>
            </a:srgbClr>
          </a:solidFill>
          <a:ln w="12700">
            <a:solidFill>
              <a:srgbClr val="34D399">
                <a:alpha val="0"/>
              </a:srgbClr>
            </a:solidFill>
            <a:prstDash val="solid"/>
          </a:ln>
        </p:spPr>
      </p:sp>
      <p:sp>
        <p:nvSpPr>
          <p:cNvPr id="3" name="a00_fade_kicker"/>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300" dirty="0">
                <a:solidFill>
                  <a:srgbClr val="34D399"/>
                </a:solidFill>
                <a:latin typeface="Calibri" pitchFamily="34" charset="0"/>
                <a:ea typeface="Calibri" pitchFamily="34" charset="-122"/>
                <a:cs typeface="Calibri" pitchFamily="34" charset="-120"/>
              </a:rPr>
              <a:t>VALIDATION</a:t>
            </a:r>
            <a:endParaRPr lang="en-US" sz="1100" dirty="0"/>
          </a:p>
        </p:txBody>
      </p:sp>
      <p:sp>
        <p:nvSpPr>
          <p:cNvPr id="4" name="a00_fade_title"/>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RESULTS</a:t>
            </a:r>
            <a:endParaRPr lang="en-US" sz="2800" dirty="0"/>
          </a:p>
        </p:txBody>
      </p:sp>
      <p:graphicFrame>
        <p:nvGraphicFramePr>
          <p:cNvPr id="6" name="a01_fade_chart"/>
          <p:cNvGraphicFramePr/>
          <p:nvPr/>
        </p:nvGraphicFramePr>
        <p:xfrm>
          <a:off x="457200" y="1188720"/>
          <a:ext cx="393192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7" name="a02_fade_cmpTitle"/>
          <p:cNvSpPr txBox="1"/>
          <p:nvPr/>
        </p:nvSpPr>
        <p:spPr>
          <a:xfrm>
            <a:off x="4754880" y="1188720"/>
            <a:ext cx="3931920" cy="274320"/>
          </a:xfrm>
          <a:prstGeom prst="rect">
            <a:avLst/>
          </a:prstGeom>
          <a:noFill/>
          <a:ln/>
        </p:spPr>
        <p:txBody>
          <a:bodyPr wrap="square" lIns="0" tIns="0" rIns="0" bIns="0" rtlCol="0" anchor="ctr"/>
          <a:lstStyle/>
          <a:p>
            <a:pPr marL="0" indent="0">
              <a:buNone/>
            </a:pPr>
            <a:r>
              <a:rPr lang="en-US" sz="1300" b="1" dirty="0">
                <a:solidFill>
                  <a:srgbClr val="34D399"/>
                </a:solidFill>
                <a:latin typeface="Calibri" pitchFamily="34" charset="0"/>
                <a:ea typeface="Calibri" pitchFamily="34" charset="-122"/>
                <a:cs typeface="Calibri" pitchFamily="34" charset="-120"/>
              </a:rPr>
              <a:t>Groq vs Gemini, same deal</a:t>
            </a:r>
            <a:endParaRPr lang="en-US" sz="1300" dirty="0"/>
          </a:p>
        </p:txBody>
      </p:sp>
      <p:sp>
        <p:nvSpPr>
          <p:cNvPr id="8" name="a03_flyR_cmp0"/>
          <p:cNvSpPr/>
          <p:nvPr/>
        </p:nvSpPr>
        <p:spPr>
          <a:xfrm>
            <a:off x="4754880" y="1554480"/>
            <a:ext cx="3931920" cy="548640"/>
          </a:xfrm>
          <a:prstGeom prst="roundRect">
            <a:avLst>
              <a:gd name="adj" fmla="val 13333"/>
            </a:avLst>
          </a:prstGeom>
          <a:solidFill>
            <a:srgbClr val="151B18"/>
          </a:solidFill>
          <a:ln w="12700">
            <a:solidFill>
              <a:srgbClr val="26332D"/>
            </a:solidFill>
            <a:prstDash val="solid"/>
          </a:ln>
        </p:spPr>
      </p:sp>
      <p:sp>
        <p:nvSpPr>
          <p:cNvPr id="9" name="a03_flyR_cmp0"/>
          <p:cNvSpPr txBox="1"/>
          <p:nvPr/>
        </p:nvSpPr>
        <p:spPr>
          <a:xfrm>
            <a:off x="4892040" y="1554480"/>
            <a:ext cx="73152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Bulky</a:t>
            </a:r>
            <a:endParaRPr lang="en-US" sz="1300" dirty="0"/>
          </a:p>
        </p:txBody>
      </p:sp>
      <p:sp>
        <p:nvSpPr>
          <p:cNvPr id="10" name="a03_flyR_cmp0"/>
          <p:cNvSpPr/>
          <p:nvPr/>
        </p:nvSpPr>
        <p:spPr>
          <a:xfrm>
            <a:off x="5623560" y="1673352"/>
            <a:ext cx="1280160" cy="310896"/>
          </a:xfrm>
          <a:prstGeom prst="roundRect">
            <a:avLst>
              <a:gd name="adj" fmla="val 50000"/>
            </a:avLst>
          </a:prstGeom>
          <a:solidFill>
            <a:srgbClr val="34D399"/>
          </a:solidFill>
          <a:ln w="6350">
            <a:solidFill>
              <a:srgbClr val="34D399"/>
            </a:solidFill>
            <a:prstDash val="solid"/>
          </a:ln>
        </p:spPr>
      </p:sp>
      <p:sp>
        <p:nvSpPr>
          <p:cNvPr id="11" name="a03_flyR_cmp0"/>
          <p:cNvSpPr txBox="1"/>
          <p:nvPr/>
        </p:nvSpPr>
        <p:spPr>
          <a:xfrm>
            <a:off x="5623560" y="1673352"/>
            <a:ext cx="1280160" cy="310896"/>
          </a:xfrm>
          <a:prstGeom prst="rect">
            <a:avLst/>
          </a:prstGeom>
          <a:noFill/>
          <a:ln/>
        </p:spPr>
        <p:txBody>
          <a:bodyPr wrap="square" lIns="0" tIns="0" rIns="0" bIns="0" rtlCol="0" anchor="ctr"/>
          <a:lstStyle/>
          <a:p>
            <a:pPr marL="0" indent="0" algn="ctr">
              <a:buNone/>
            </a:pPr>
            <a:r>
              <a:rPr lang="en-US" sz="1000" b="1" dirty="0">
                <a:solidFill>
                  <a:srgbClr val="0B0F0D"/>
                </a:solidFill>
                <a:latin typeface="Arial" pitchFamily="34" charset="0"/>
                <a:ea typeface="Arial" pitchFamily="34" charset="-122"/>
                <a:cs typeface="Arial" pitchFamily="34" charset="-120"/>
              </a:rPr>
              <a:t>Accept 79.9</a:t>
            </a:r>
            <a:endParaRPr lang="en-US" sz="1000" dirty="0"/>
          </a:p>
        </p:txBody>
      </p:sp>
      <p:sp>
        <p:nvSpPr>
          <p:cNvPr id="12" name="a03_flyR_cmp0"/>
          <p:cNvSpPr txBox="1"/>
          <p:nvPr/>
        </p:nvSpPr>
        <p:spPr>
          <a:xfrm>
            <a:off x="6903720" y="1554480"/>
            <a:ext cx="365760" cy="548640"/>
          </a:xfrm>
          <a:prstGeom prst="rect">
            <a:avLst/>
          </a:prstGeom>
          <a:noFill/>
          <a:ln/>
        </p:spPr>
        <p:txBody>
          <a:bodyPr wrap="square" lIns="0" tIns="0" rIns="0" bIns="0" rtlCol="0" anchor="ctr"/>
          <a:lstStyle/>
          <a:p>
            <a:pPr marL="0" indent="0" algn="ctr">
              <a:buNone/>
            </a:pPr>
            <a:r>
              <a:rPr lang="en-US" sz="1400" dirty="0">
                <a:solidFill>
                  <a:srgbClr val="A3ADA8"/>
                </a:solidFill>
                <a:latin typeface="Calibri" pitchFamily="34" charset="0"/>
                <a:ea typeface="Calibri" pitchFamily="34" charset="-122"/>
                <a:cs typeface="Calibri" pitchFamily="34" charset="-120"/>
              </a:rPr>
              <a:t>→</a:t>
            </a:r>
            <a:endParaRPr lang="en-US" sz="1400" dirty="0"/>
          </a:p>
        </p:txBody>
      </p:sp>
      <p:sp>
        <p:nvSpPr>
          <p:cNvPr id="13" name="a03_flyR_cmp0"/>
          <p:cNvSpPr/>
          <p:nvPr/>
        </p:nvSpPr>
        <p:spPr>
          <a:xfrm>
            <a:off x="7269480" y="1673352"/>
            <a:ext cx="1280160" cy="310896"/>
          </a:xfrm>
          <a:prstGeom prst="roundRect">
            <a:avLst>
              <a:gd name="adj" fmla="val 50000"/>
            </a:avLst>
          </a:prstGeom>
          <a:solidFill>
            <a:srgbClr val="FBBF24"/>
          </a:solidFill>
          <a:ln w="6350">
            <a:solidFill>
              <a:srgbClr val="FBBF24"/>
            </a:solidFill>
            <a:prstDash val="solid"/>
          </a:ln>
        </p:spPr>
      </p:sp>
      <p:sp>
        <p:nvSpPr>
          <p:cNvPr id="14" name="a03_flyR_cmp0"/>
          <p:cNvSpPr txBox="1"/>
          <p:nvPr/>
        </p:nvSpPr>
        <p:spPr>
          <a:xfrm>
            <a:off x="7269480" y="1673352"/>
            <a:ext cx="1280160" cy="310896"/>
          </a:xfrm>
          <a:prstGeom prst="rect">
            <a:avLst/>
          </a:prstGeom>
          <a:noFill/>
          <a:ln/>
        </p:spPr>
        <p:txBody>
          <a:bodyPr wrap="square" lIns="0" tIns="0" rIns="0" bIns="0" rtlCol="0" anchor="ctr"/>
          <a:lstStyle/>
          <a:p>
            <a:pPr marL="0" indent="0" algn="ctr">
              <a:buNone/>
            </a:pPr>
            <a:r>
              <a:rPr lang="en-US" sz="1000" b="1" dirty="0">
                <a:solidFill>
                  <a:srgbClr val="0B0F0D"/>
                </a:solidFill>
                <a:latin typeface="Arial" pitchFamily="34" charset="0"/>
                <a:ea typeface="Arial" pitchFamily="34" charset="-122"/>
                <a:cs typeface="Arial" pitchFamily="34" charset="-120"/>
              </a:rPr>
              <a:t>Negotiate 69.2</a:t>
            </a:r>
            <a:endParaRPr lang="en-US" sz="1000" dirty="0"/>
          </a:p>
        </p:txBody>
      </p:sp>
      <p:sp>
        <p:nvSpPr>
          <p:cNvPr id="15" name="a04_flyR_cmp1"/>
          <p:cNvSpPr/>
          <p:nvPr/>
        </p:nvSpPr>
        <p:spPr>
          <a:xfrm>
            <a:off x="4754880" y="2212848"/>
            <a:ext cx="3931920" cy="548640"/>
          </a:xfrm>
          <a:prstGeom prst="roundRect">
            <a:avLst>
              <a:gd name="adj" fmla="val 13333"/>
            </a:avLst>
          </a:prstGeom>
          <a:solidFill>
            <a:srgbClr val="151B18"/>
          </a:solidFill>
          <a:ln w="12700">
            <a:solidFill>
              <a:srgbClr val="26332D"/>
            </a:solidFill>
            <a:prstDash val="solid"/>
          </a:ln>
        </p:spPr>
      </p:sp>
      <p:sp>
        <p:nvSpPr>
          <p:cNvPr id="16" name="a04_flyR_cmp1"/>
          <p:cNvSpPr txBox="1"/>
          <p:nvPr/>
        </p:nvSpPr>
        <p:spPr>
          <a:xfrm>
            <a:off x="4892040" y="2212848"/>
            <a:ext cx="73152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Chirag</a:t>
            </a:r>
            <a:endParaRPr lang="en-US" sz="1300" dirty="0"/>
          </a:p>
        </p:txBody>
      </p:sp>
      <p:sp>
        <p:nvSpPr>
          <p:cNvPr id="17" name="a04_flyR_cmp1"/>
          <p:cNvSpPr/>
          <p:nvPr/>
        </p:nvSpPr>
        <p:spPr>
          <a:xfrm>
            <a:off x="5623560" y="2331720"/>
            <a:ext cx="1280160" cy="310896"/>
          </a:xfrm>
          <a:prstGeom prst="roundRect">
            <a:avLst>
              <a:gd name="adj" fmla="val 50000"/>
            </a:avLst>
          </a:prstGeom>
          <a:solidFill>
            <a:srgbClr val="FBBF24"/>
          </a:solidFill>
          <a:ln w="6350">
            <a:solidFill>
              <a:srgbClr val="FBBF24"/>
            </a:solidFill>
            <a:prstDash val="solid"/>
          </a:ln>
        </p:spPr>
      </p:sp>
      <p:sp>
        <p:nvSpPr>
          <p:cNvPr id="18" name="a04_flyR_cmp1"/>
          <p:cNvSpPr txBox="1"/>
          <p:nvPr/>
        </p:nvSpPr>
        <p:spPr>
          <a:xfrm>
            <a:off x="5623560" y="2331720"/>
            <a:ext cx="1280160" cy="310896"/>
          </a:xfrm>
          <a:prstGeom prst="rect">
            <a:avLst/>
          </a:prstGeom>
          <a:noFill/>
          <a:ln/>
        </p:spPr>
        <p:txBody>
          <a:bodyPr wrap="square" lIns="0" tIns="0" rIns="0" bIns="0" rtlCol="0" anchor="ctr"/>
          <a:lstStyle/>
          <a:p>
            <a:pPr marL="0" indent="0" algn="ctr">
              <a:buNone/>
            </a:pPr>
            <a:r>
              <a:rPr lang="en-US" sz="1000" b="1" dirty="0">
                <a:solidFill>
                  <a:srgbClr val="0B0F0D"/>
                </a:solidFill>
                <a:latin typeface="Arial" pitchFamily="34" charset="0"/>
                <a:ea typeface="Arial" pitchFamily="34" charset="-122"/>
                <a:cs typeface="Arial" pitchFamily="34" charset="-120"/>
              </a:rPr>
              <a:t>Negotiate 69.3</a:t>
            </a:r>
            <a:endParaRPr lang="en-US" sz="1000" dirty="0"/>
          </a:p>
        </p:txBody>
      </p:sp>
      <p:sp>
        <p:nvSpPr>
          <p:cNvPr id="19" name="a04_flyR_cmp1"/>
          <p:cNvSpPr txBox="1"/>
          <p:nvPr/>
        </p:nvSpPr>
        <p:spPr>
          <a:xfrm>
            <a:off x="6903720" y="2212848"/>
            <a:ext cx="365760" cy="548640"/>
          </a:xfrm>
          <a:prstGeom prst="rect">
            <a:avLst/>
          </a:prstGeom>
          <a:noFill/>
          <a:ln/>
        </p:spPr>
        <p:txBody>
          <a:bodyPr wrap="square" lIns="0" tIns="0" rIns="0" bIns="0" rtlCol="0" anchor="ctr"/>
          <a:lstStyle/>
          <a:p>
            <a:pPr marL="0" indent="0" algn="ctr">
              <a:buNone/>
            </a:pPr>
            <a:r>
              <a:rPr lang="en-US" sz="1400" dirty="0">
                <a:solidFill>
                  <a:srgbClr val="A3ADA8"/>
                </a:solidFill>
                <a:latin typeface="Calibri" pitchFamily="34" charset="0"/>
                <a:ea typeface="Calibri" pitchFamily="34" charset="-122"/>
                <a:cs typeface="Calibri" pitchFamily="34" charset="-120"/>
              </a:rPr>
              <a:t>→</a:t>
            </a:r>
            <a:endParaRPr lang="en-US" sz="1400" dirty="0"/>
          </a:p>
        </p:txBody>
      </p:sp>
      <p:sp>
        <p:nvSpPr>
          <p:cNvPr id="20" name="a04_flyR_cmp1"/>
          <p:cNvSpPr/>
          <p:nvPr/>
        </p:nvSpPr>
        <p:spPr>
          <a:xfrm>
            <a:off x="7269480" y="2331720"/>
            <a:ext cx="1280160" cy="310896"/>
          </a:xfrm>
          <a:prstGeom prst="roundRect">
            <a:avLst>
              <a:gd name="adj" fmla="val 50000"/>
            </a:avLst>
          </a:prstGeom>
          <a:solidFill>
            <a:srgbClr val="F87171"/>
          </a:solidFill>
          <a:ln w="6350">
            <a:solidFill>
              <a:srgbClr val="F87171"/>
            </a:solidFill>
            <a:prstDash val="solid"/>
          </a:ln>
        </p:spPr>
      </p:sp>
      <p:sp>
        <p:nvSpPr>
          <p:cNvPr id="21" name="a04_flyR_cmp1"/>
          <p:cNvSpPr txBox="1"/>
          <p:nvPr/>
        </p:nvSpPr>
        <p:spPr>
          <a:xfrm>
            <a:off x="7269480" y="2331720"/>
            <a:ext cx="1280160" cy="310896"/>
          </a:xfrm>
          <a:prstGeom prst="rect">
            <a:avLst/>
          </a:prstGeom>
          <a:noFill/>
          <a:ln/>
        </p:spPr>
        <p:txBody>
          <a:bodyPr wrap="square" lIns="0" tIns="0" rIns="0" bIns="0" rtlCol="0" anchor="ctr"/>
          <a:lstStyle/>
          <a:p>
            <a:pPr marL="0" indent="0" algn="ctr">
              <a:buNone/>
            </a:pPr>
            <a:r>
              <a:rPr lang="en-US" sz="1000" b="1" dirty="0">
                <a:solidFill>
                  <a:srgbClr val="0B0F0D"/>
                </a:solidFill>
                <a:latin typeface="Arial" pitchFamily="34" charset="0"/>
                <a:ea typeface="Arial" pitchFamily="34" charset="-122"/>
                <a:cs typeface="Arial" pitchFamily="34" charset="-120"/>
              </a:rPr>
              <a:t>Reject 40.2</a:t>
            </a:r>
            <a:endParaRPr lang="en-US" sz="1000" dirty="0"/>
          </a:p>
        </p:txBody>
      </p:sp>
      <p:sp>
        <p:nvSpPr>
          <p:cNvPr id="22" name="a04_fade_cmpLegend"/>
          <p:cNvSpPr txBox="1"/>
          <p:nvPr/>
        </p:nvSpPr>
        <p:spPr>
          <a:xfrm>
            <a:off x="5623560" y="2852928"/>
            <a:ext cx="2926080" cy="228600"/>
          </a:xfrm>
          <a:prstGeom prst="rect">
            <a:avLst/>
          </a:prstGeom>
          <a:noFill/>
          <a:ln/>
        </p:spPr>
        <p:txBody>
          <a:bodyPr wrap="square" lIns="0" tIns="0" rIns="0" bIns="0" rtlCol="0" anchor="ctr"/>
          <a:lstStyle/>
          <a:p>
            <a:pPr marL="0" indent="0" algn="ctr">
              <a:buNone/>
            </a:pPr>
            <a:r>
              <a:rPr lang="en-US" sz="1000" dirty="0">
                <a:solidFill>
                  <a:srgbClr val="A3ADA8"/>
                </a:solidFill>
                <a:latin typeface="Calibri" pitchFamily="34" charset="0"/>
                <a:ea typeface="Calibri" pitchFamily="34" charset="-122"/>
                <a:cs typeface="Calibri" pitchFamily="34" charset="-120"/>
              </a:rPr>
              <a:t>Gemini  →  Groq (pinned)</a:t>
            </a:r>
            <a:endParaRPr lang="en-US" sz="1000" dirty="0"/>
          </a:p>
        </p:txBody>
      </p:sp>
      <p:sp>
        <p:nvSpPr>
          <p:cNvPr id="23" name="a05_zoom_tests"/>
          <p:cNvSpPr/>
          <p:nvPr/>
        </p:nvSpPr>
        <p:spPr>
          <a:xfrm>
            <a:off x="4754880" y="3200400"/>
            <a:ext cx="3931920" cy="548640"/>
          </a:xfrm>
          <a:prstGeom prst="roundRect">
            <a:avLst>
              <a:gd name="adj" fmla="val 13333"/>
            </a:avLst>
          </a:prstGeom>
          <a:solidFill>
            <a:srgbClr val="151B18"/>
          </a:solidFill>
          <a:ln w="12700">
            <a:solidFill>
              <a:srgbClr val="26332D"/>
            </a:solidFill>
            <a:prstDash val="solid"/>
          </a:ln>
        </p:spPr>
      </p:sp>
      <p:sp>
        <p:nvSpPr>
          <p:cNvPr id="24" name="a05_zoom_tests"/>
          <p:cNvSpPr txBox="1"/>
          <p:nvPr/>
        </p:nvSpPr>
        <p:spPr>
          <a:xfrm>
            <a:off x="4892040" y="3200400"/>
            <a:ext cx="3749040" cy="548640"/>
          </a:xfrm>
          <a:prstGeom prst="rect">
            <a:avLst/>
          </a:prstGeom>
          <a:noFill/>
          <a:ln/>
        </p:spPr>
        <p:txBody>
          <a:bodyPr wrap="square" lIns="0" tIns="0" rIns="0" bIns="0" rtlCol="0" anchor="ctr"/>
          <a:lstStyle/>
          <a:p>
            <a:pPr marL="0" indent="0">
              <a:buNone/>
            </a:pPr>
            <a:r>
              <a:rPr lang="en-US" sz="2000" b="1" dirty="0">
                <a:solidFill>
                  <a:srgbClr val="34D399"/>
                </a:solidFill>
                <a:latin typeface="Arial" pitchFamily="34" charset="0"/>
                <a:ea typeface="Arial" pitchFamily="34" charset="-122"/>
                <a:cs typeface="Arial" pitchFamily="34" charset="-120"/>
              </a:rPr>
              <a:t>179 </a:t>
            </a:r>
            <a:r>
              <a:rPr lang="en-US" sz="1200" dirty="0">
                <a:solidFill>
                  <a:srgbClr val="A3ADA8"/>
                </a:solidFill>
                <a:latin typeface="Calibri" pitchFamily="34" charset="0"/>
                <a:ea typeface="Calibri" pitchFamily="34" charset="-122"/>
                <a:cs typeface="Calibri" pitchFamily="34" charset="-120"/>
              </a:rPr>
              <a:t>automated tests, no DB or network</a:t>
            </a:r>
            <a:endParaRPr lang="en-US" sz="2000" dirty="0"/>
          </a:p>
        </p:txBody>
      </p:sp>
      <p:sp>
        <p:nvSpPr>
          <p:cNvPr id="25" name="a06_fade_next"/>
          <p:cNvSpPr txBox="1"/>
          <p:nvPr/>
        </p:nvSpPr>
        <p:spPr>
          <a:xfrm>
            <a:off x="457200" y="3977640"/>
            <a:ext cx="5029200" cy="365760"/>
          </a:xfrm>
          <a:prstGeom prst="rect">
            <a:avLst/>
          </a:prstGeom>
          <a:noFill/>
          <a:ln/>
        </p:spPr>
        <p:txBody>
          <a:bodyPr wrap="square" lIns="0" tIns="0" rIns="0" bIns="0" rtlCol="0" anchor="ctr"/>
          <a:lstStyle/>
          <a:p>
            <a:pPr marL="0" indent="0">
              <a:buNone/>
            </a:pPr>
            <a:r>
              <a:rPr lang="en-US" sz="1200" b="1" dirty="0">
                <a:solidFill>
                  <a:srgbClr val="34D399"/>
                </a:solidFill>
                <a:latin typeface="Calibri" pitchFamily="34" charset="0"/>
                <a:ea typeface="Calibri" pitchFamily="34" charset="-122"/>
                <a:cs typeface="Calibri" pitchFamily="34" charset="-120"/>
              </a:rPr>
              <a:t>Next: </a:t>
            </a:r>
            <a:r>
              <a:rPr lang="en-US" sz="1200" dirty="0">
                <a:solidFill>
                  <a:srgbClr val="A3ADA8"/>
                </a:solidFill>
                <a:latin typeface="Calibri" pitchFamily="34" charset="0"/>
                <a:ea typeface="Calibri" pitchFamily="34" charset="-122"/>
                <a:cs typeface="Calibri" pitchFamily="34" charset="-120"/>
              </a:rPr>
              <a:t>real contract upload · more past deals · live creator metrics</a:t>
            </a:r>
            <a:endParaRPr lang="en-US" sz="1200" dirty="0"/>
          </a:p>
        </p:txBody>
      </p:sp>
      <p:sp>
        <p:nvSpPr>
          <p:cNvPr id="26" name="a07_up_thanks"/>
          <p:cNvSpPr txBox="1"/>
          <p:nvPr/>
        </p:nvSpPr>
        <p:spPr>
          <a:xfrm>
            <a:off x="457200" y="4343400"/>
            <a:ext cx="822960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Thank you · Questions?</a:t>
            </a:r>
            <a:endParaRPr lang="en-US" sz="2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par>
                          <p:cTn id="19" fill="hold">
                            <p:stCondLst>
                              <p:cond delay="1500"/>
                            </p:stCondLst>
                            <p:childTnLst>
                              <p:par>
                                <p:cTn id="20" presetID="2" presetClass="entr" presetSubtype="2" fill="hold"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1+#ppt_w/2"/>
                                          </p:val>
                                        </p:tav>
                                        <p:tav tm="100000">
                                          <p:val>
                                            <p:strVal val="#ppt_x"/>
                                          </p:val>
                                        </p:tav>
                                      </p:tavLst>
                                    </p:anim>
                                    <p:anim calcmode="lin" valueType="num">
                                      <p:cBhvr additive="base">
                                        <p:cTn id="23" dur="500" fill="hold"/>
                                        <p:tgtEl>
                                          <p:spTgt spid="8"/>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ppt_x</p:attrName>
                                        </p:attrNameLst>
                                      </p:cBhvr>
                                      <p:tavLst>
                                        <p:tav tm="0">
                                          <p:val>
                                            <p:strVal val="1+#ppt_w/2"/>
                                          </p:val>
                                        </p:tav>
                                        <p:tav tm="100000">
                                          <p:val>
                                            <p:strVal val="#ppt_x"/>
                                          </p:val>
                                        </p:tav>
                                      </p:tavLst>
                                    </p:anim>
                                    <p:anim calcmode="lin" valueType="num">
                                      <p:cBhvr additive="base">
                                        <p:cTn id="27" dur="500" fill="hold"/>
                                        <p:tgtEl>
                                          <p:spTgt spid="9"/>
                                        </p:tgtEl>
                                        <p:attrNameLst>
                                          <p:attrName>ppt_y</p:attrName>
                                        </p:attrNameLst>
                                      </p:cBhvr>
                                      <p:tavLst>
                                        <p:tav tm="0">
                                          <p:val>
                                            <p:strVal val="#ppt_y"/>
                                          </p:val>
                                        </p:tav>
                                        <p:tav tm="100000">
                                          <p:val>
                                            <p:strVal val="#ppt_y"/>
                                          </p:val>
                                        </p:tav>
                                      </p:tavLst>
                                    </p:anim>
                                  </p:childTnLst>
                                </p:cTn>
                              </p:par>
                              <p:par>
                                <p:cTn id="28" presetID="2" presetClass="entr" presetSubtype="2"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1+#ppt_w/2"/>
                                          </p:val>
                                        </p:tav>
                                        <p:tav tm="100000">
                                          <p:val>
                                            <p:strVal val="#ppt_x"/>
                                          </p:val>
                                        </p:tav>
                                      </p:tavLst>
                                    </p:anim>
                                    <p:anim calcmode="lin" valueType="num">
                                      <p:cBhvr additive="base">
                                        <p:cTn id="31" dur="500" fill="hold"/>
                                        <p:tgtEl>
                                          <p:spTgt spid="10"/>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additive="base">
                                        <p:cTn id="34" dur="500" fill="hold"/>
                                        <p:tgtEl>
                                          <p:spTgt spid="11"/>
                                        </p:tgtEl>
                                        <p:attrNameLst>
                                          <p:attrName>ppt_x</p:attrName>
                                        </p:attrNameLst>
                                      </p:cBhvr>
                                      <p:tavLst>
                                        <p:tav tm="0">
                                          <p:val>
                                            <p:strVal val="1+#ppt_w/2"/>
                                          </p:val>
                                        </p:tav>
                                        <p:tav tm="100000">
                                          <p:val>
                                            <p:strVal val="#ppt_x"/>
                                          </p:val>
                                        </p:tav>
                                      </p:tavLst>
                                    </p:anim>
                                    <p:anim calcmode="lin" valueType="num">
                                      <p:cBhvr additive="base">
                                        <p:cTn id="35" dur="500" fill="hold"/>
                                        <p:tgtEl>
                                          <p:spTgt spid="11"/>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500" fill="hold"/>
                                        <p:tgtEl>
                                          <p:spTgt spid="12"/>
                                        </p:tgtEl>
                                        <p:attrNameLst>
                                          <p:attrName>ppt_x</p:attrName>
                                        </p:attrNameLst>
                                      </p:cBhvr>
                                      <p:tavLst>
                                        <p:tav tm="0">
                                          <p:val>
                                            <p:strVal val="1+#ppt_w/2"/>
                                          </p:val>
                                        </p:tav>
                                        <p:tav tm="100000">
                                          <p:val>
                                            <p:strVal val="#ppt_x"/>
                                          </p:val>
                                        </p:tav>
                                      </p:tavLst>
                                    </p:anim>
                                    <p:anim calcmode="lin" valueType="num">
                                      <p:cBhvr additive="base">
                                        <p:cTn id="39" dur="500" fill="hold"/>
                                        <p:tgtEl>
                                          <p:spTgt spid="12"/>
                                        </p:tgtEl>
                                        <p:attrNameLst>
                                          <p:attrName>ppt_y</p:attrName>
                                        </p:attrNameLst>
                                      </p:cBhvr>
                                      <p:tavLst>
                                        <p:tav tm="0">
                                          <p:val>
                                            <p:strVal val="#ppt_y"/>
                                          </p:val>
                                        </p:tav>
                                        <p:tav tm="100000">
                                          <p:val>
                                            <p:strVal val="#ppt_y"/>
                                          </p:val>
                                        </p:tav>
                                      </p:tavLst>
                                    </p:anim>
                                  </p:childTnLst>
                                </p:cTn>
                              </p:par>
                              <p:par>
                                <p:cTn id="40" presetID="2" presetClass="entr" presetSubtype="2" fill="hold" nodeType="with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500" fill="hold"/>
                                        <p:tgtEl>
                                          <p:spTgt spid="13"/>
                                        </p:tgtEl>
                                        <p:attrNameLst>
                                          <p:attrName>ppt_x</p:attrName>
                                        </p:attrNameLst>
                                      </p:cBhvr>
                                      <p:tavLst>
                                        <p:tav tm="0">
                                          <p:val>
                                            <p:strVal val="1+#ppt_w/2"/>
                                          </p:val>
                                        </p:tav>
                                        <p:tav tm="100000">
                                          <p:val>
                                            <p:strVal val="#ppt_x"/>
                                          </p:val>
                                        </p:tav>
                                      </p:tavLst>
                                    </p:anim>
                                    <p:anim calcmode="lin" valueType="num">
                                      <p:cBhvr additive="base">
                                        <p:cTn id="43" dur="500" fill="hold"/>
                                        <p:tgtEl>
                                          <p:spTgt spid="13"/>
                                        </p:tgtEl>
                                        <p:attrNameLst>
                                          <p:attrName>ppt_y</p:attrName>
                                        </p:attrNameLst>
                                      </p:cBhvr>
                                      <p:tavLst>
                                        <p:tav tm="0">
                                          <p:val>
                                            <p:strVal val="#ppt_y"/>
                                          </p:val>
                                        </p:tav>
                                        <p:tav tm="100000">
                                          <p:val>
                                            <p:strVal val="#ppt_y"/>
                                          </p:val>
                                        </p:tav>
                                      </p:tavLst>
                                    </p:anim>
                                  </p:childTnLst>
                                </p:cTn>
                              </p:par>
                              <p:par>
                                <p:cTn id="44" presetID="2" presetClass="entr" presetSubtype="2"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6" dur="500" fill="hold"/>
                                        <p:tgtEl>
                                          <p:spTgt spid="14"/>
                                        </p:tgtEl>
                                        <p:attrNameLst>
                                          <p:attrName>ppt_x</p:attrName>
                                        </p:attrNameLst>
                                      </p:cBhvr>
                                      <p:tavLst>
                                        <p:tav tm="0">
                                          <p:val>
                                            <p:strVal val="1+#ppt_w/2"/>
                                          </p:val>
                                        </p:tav>
                                        <p:tav tm="100000">
                                          <p:val>
                                            <p:strVal val="#ppt_x"/>
                                          </p:val>
                                        </p:tav>
                                      </p:tavLst>
                                    </p:anim>
                                    <p:anim calcmode="lin" valueType="num">
                                      <p:cBhvr additive="base">
                                        <p:cTn id="47" dur="500" fill="hold"/>
                                        <p:tgtEl>
                                          <p:spTgt spid="14"/>
                                        </p:tgtEl>
                                        <p:attrNameLst>
                                          <p:attrName>ppt_y</p:attrName>
                                        </p:attrNameLst>
                                      </p:cBhvr>
                                      <p:tavLst>
                                        <p:tav tm="0">
                                          <p:val>
                                            <p:strVal val="#ppt_y"/>
                                          </p:val>
                                        </p:tav>
                                        <p:tav tm="100000">
                                          <p:val>
                                            <p:strVal val="#ppt_y"/>
                                          </p:val>
                                        </p:tav>
                                      </p:tavLst>
                                    </p:anim>
                                  </p:childTnLst>
                                </p:cTn>
                              </p:par>
                            </p:childTnLst>
                          </p:cTn>
                        </p:par>
                        <p:par>
                          <p:cTn id="48" fill="hold">
                            <p:stCondLst>
                              <p:cond delay="2000"/>
                            </p:stCondLst>
                            <p:childTnLst>
                              <p:par>
                                <p:cTn id="49" presetID="2" presetClass="entr" presetSubtype="2" fill="hold" nodeType="after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1+#ppt_w/2"/>
                                          </p:val>
                                        </p:tav>
                                        <p:tav tm="100000">
                                          <p:val>
                                            <p:strVal val="#ppt_x"/>
                                          </p:val>
                                        </p:tav>
                                      </p:tavLst>
                                    </p:anim>
                                    <p:anim calcmode="lin" valueType="num">
                                      <p:cBhvr additive="base">
                                        <p:cTn id="52" dur="500" fill="hold"/>
                                        <p:tgtEl>
                                          <p:spTgt spid="15"/>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1+#ppt_w/2"/>
                                          </p:val>
                                        </p:tav>
                                        <p:tav tm="100000">
                                          <p:val>
                                            <p:strVal val="#ppt_x"/>
                                          </p:val>
                                        </p:tav>
                                      </p:tavLst>
                                    </p:anim>
                                    <p:anim calcmode="lin" valueType="num">
                                      <p:cBhvr additive="base">
                                        <p:cTn id="56" dur="500" fill="hold"/>
                                        <p:tgtEl>
                                          <p:spTgt spid="16"/>
                                        </p:tgtEl>
                                        <p:attrNameLst>
                                          <p:attrName>ppt_y</p:attrName>
                                        </p:attrNameLst>
                                      </p:cBhvr>
                                      <p:tavLst>
                                        <p:tav tm="0">
                                          <p:val>
                                            <p:strVal val="#ppt_y"/>
                                          </p:val>
                                        </p:tav>
                                        <p:tav tm="100000">
                                          <p:val>
                                            <p:strVal val="#ppt_y"/>
                                          </p:val>
                                        </p:tav>
                                      </p:tavLst>
                                    </p:anim>
                                  </p:childTnLst>
                                </p:cTn>
                              </p:par>
                              <p:par>
                                <p:cTn id="57" presetID="2" presetClass="entr" presetSubtype="2" fill="hold" nodeType="with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500" fill="hold"/>
                                        <p:tgtEl>
                                          <p:spTgt spid="17"/>
                                        </p:tgtEl>
                                        <p:attrNameLst>
                                          <p:attrName>ppt_x</p:attrName>
                                        </p:attrNameLst>
                                      </p:cBhvr>
                                      <p:tavLst>
                                        <p:tav tm="0">
                                          <p:val>
                                            <p:strVal val="1+#ppt_w/2"/>
                                          </p:val>
                                        </p:tav>
                                        <p:tav tm="100000">
                                          <p:val>
                                            <p:strVal val="#ppt_x"/>
                                          </p:val>
                                        </p:tav>
                                      </p:tavLst>
                                    </p:anim>
                                    <p:anim calcmode="lin" valueType="num">
                                      <p:cBhvr additive="base">
                                        <p:cTn id="60" dur="500" fill="hold"/>
                                        <p:tgtEl>
                                          <p:spTgt spid="17"/>
                                        </p:tgtEl>
                                        <p:attrNameLst>
                                          <p:attrName>ppt_y</p:attrName>
                                        </p:attrNameLst>
                                      </p:cBhvr>
                                      <p:tavLst>
                                        <p:tav tm="0">
                                          <p:val>
                                            <p:strVal val="#ppt_y"/>
                                          </p:val>
                                        </p:tav>
                                        <p:tav tm="100000">
                                          <p:val>
                                            <p:strVal val="#ppt_y"/>
                                          </p:val>
                                        </p:tav>
                                      </p:tavLst>
                                    </p:anim>
                                  </p:childTnLst>
                                </p:cTn>
                              </p:par>
                              <p:par>
                                <p:cTn id="61" presetID="2" presetClass="entr" presetSubtype="2"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anim calcmode="lin" valueType="num">
                                      <p:cBhvr additive="base">
                                        <p:cTn id="63" dur="500" fill="hold"/>
                                        <p:tgtEl>
                                          <p:spTgt spid="18"/>
                                        </p:tgtEl>
                                        <p:attrNameLst>
                                          <p:attrName>ppt_x</p:attrName>
                                        </p:attrNameLst>
                                      </p:cBhvr>
                                      <p:tavLst>
                                        <p:tav tm="0">
                                          <p:val>
                                            <p:strVal val="1+#ppt_w/2"/>
                                          </p:val>
                                        </p:tav>
                                        <p:tav tm="100000">
                                          <p:val>
                                            <p:strVal val="#ppt_x"/>
                                          </p:val>
                                        </p:tav>
                                      </p:tavLst>
                                    </p:anim>
                                    <p:anim calcmode="lin" valueType="num">
                                      <p:cBhvr additive="base">
                                        <p:cTn id="64" dur="500" fill="hold"/>
                                        <p:tgtEl>
                                          <p:spTgt spid="18"/>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additive="base">
                                        <p:cTn id="67" dur="500" fill="hold"/>
                                        <p:tgtEl>
                                          <p:spTgt spid="19"/>
                                        </p:tgtEl>
                                        <p:attrNameLst>
                                          <p:attrName>ppt_x</p:attrName>
                                        </p:attrNameLst>
                                      </p:cBhvr>
                                      <p:tavLst>
                                        <p:tav tm="0">
                                          <p:val>
                                            <p:strVal val="1+#ppt_w/2"/>
                                          </p:val>
                                        </p:tav>
                                        <p:tav tm="100000">
                                          <p:val>
                                            <p:strVal val="#ppt_x"/>
                                          </p:val>
                                        </p:tav>
                                      </p:tavLst>
                                    </p:anim>
                                    <p:anim calcmode="lin" valueType="num">
                                      <p:cBhvr additive="base">
                                        <p:cTn id="68" dur="500" fill="hold"/>
                                        <p:tgtEl>
                                          <p:spTgt spid="19"/>
                                        </p:tgtEl>
                                        <p:attrNameLst>
                                          <p:attrName>ppt_y</p:attrName>
                                        </p:attrNameLst>
                                      </p:cBhvr>
                                      <p:tavLst>
                                        <p:tav tm="0">
                                          <p:val>
                                            <p:strVal val="#ppt_y"/>
                                          </p:val>
                                        </p:tav>
                                        <p:tav tm="100000">
                                          <p:val>
                                            <p:strVal val="#ppt_y"/>
                                          </p:val>
                                        </p:tav>
                                      </p:tavLst>
                                    </p:anim>
                                  </p:childTnLst>
                                </p:cTn>
                              </p:par>
                              <p:par>
                                <p:cTn id="69" presetID="2" presetClass="entr" presetSubtype="2" fill="hold" nodeType="withEffect">
                                  <p:stCondLst>
                                    <p:cond delay="0"/>
                                  </p:stCondLst>
                                  <p:childTnLst>
                                    <p:set>
                                      <p:cBhvr>
                                        <p:cTn id="70" dur="1" fill="hold">
                                          <p:stCondLst>
                                            <p:cond delay="0"/>
                                          </p:stCondLst>
                                        </p:cTn>
                                        <p:tgtEl>
                                          <p:spTgt spid="20"/>
                                        </p:tgtEl>
                                        <p:attrNameLst>
                                          <p:attrName>style.visibility</p:attrName>
                                        </p:attrNameLst>
                                      </p:cBhvr>
                                      <p:to>
                                        <p:strVal val="visible"/>
                                      </p:to>
                                    </p:set>
                                    <p:anim calcmode="lin" valueType="num">
                                      <p:cBhvr additive="base">
                                        <p:cTn id="71" dur="500" fill="hold"/>
                                        <p:tgtEl>
                                          <p:spTgt spid="20"/>
                                        </p:tgtEl>
                                        <p:attrNameLst>
                                          <p:attrName>ppt_x</p:attrName>
                                        </p:attrNameLst>
                                      </p:cBhvr>
                                      <p:tavLst>
                                        <p:tav tm="0">
                                          <p:val>
                                            <p:strVal val="1+#ppt_w/2"/>
                                          </p:val>
                                        </p:tav>
                                        <p:tav tm="100000">
                                          <p:val>
                                            <p:strVal val="#ppt_x"/>
                                          </p:val>
                                        </p:tav>
                                      </p:tavLst>
                                    </p:anim>
                                    <p:anim calcmode="lin" valueType="num">
                                      <p:cBhvr additive="base">
                                        <p:cTn id="72" dur="500" fill="hold"/>
                                        <p:tgtEl>
                                          <p:spTgt spid="20"/>
                                        </p:tgtEl>
                                        <p:attrNameLst>
                                          <p:attrName>ppt_y</p:attrName>
                                        </p:attrNameLst>
                                      </p:cBhvr>
                                      <p:tavLst>
                                        <p:tav tm="0">
                                          <p:val>
                                            <p:strVal val="#ppt_y"/>
                                          </p:val>
                                        </p:tav>
                                        <p:tav tm="100000">
                                          <p:val>
                                            <p:strVal val="#ppt_y"/>
                                          </p:val>
                                        </p:tav>
                                      </p:tavLst>
                                    </p:anim>
                                  </p:childTnLst>
                                </p:cTn>
                              </p:par>
                              <p:par>
                                <p:cTn id="73" presetID="2" presetClass="entr" presetSubtype="2" fill="hold" grpId="0" nodeType="withEffect">
                                  <p:stCondLst>
                                    <p:cond delay="0"/>
                                  </p:stCondLst>
                                  <p:childTnLst>
                                    <p:set>
                                      <p:cBhvr>
                                        <p:cTn id="74" dur="1" fill="hold">
                                          <p:stCondLst>
                                            <p:cond delay="0"/>
                                          </p:stCondLst>
                                        </p:cTn>
                                        <p:tgtEl>
                                          <p:spTgt spid="21"/>
                                        </p:tgtEl>
                                        <p:attrNameLst>
                                          <p:attrName>style.visibility</p:attrName>
                                        </p:attrNameLst>
                                      </p:cBhvr>
                                      <p:to>
                                        <p:strVal val="visible"/>
                                      </p:to>
                                    </p:set>
                                    <p:anim calcmode="lin" valueType="num">
                                      <p:cBhvr additive="base">
                                        <p:cTn id="75" dur="500" fill="hold"/>
                                        <p:tgtEl>
                                          <p:spTgt spid="21"/>
                                        </p:tgtEl>
                                        <p:attrNameLst>
                                          <p:attrName>ppt_x</p:attrName>
                                        </p:attrNameLst>
                                      </p:cBhvr>
                                      <p:tavLst>
                                        <p:tav tm="0">
                                          <p:val>
                                            <p:strVal val="1+#ppt_w/2"/>
                                          </p:val>
                                        </p:tav>
                                        <p:tav tm="100000">
                                          <p:val>
                                            <p:strVal val="#ppt_x"/>
                                          </p:val>
                                        </p:tav>
                                      </p:tavLst>
                                    </p:anim>
                                    <p:anim calcmode="lin" valueType="num">
                                      <p:cBhvr additive="base">
                                        <p:cTn id="76" dur="500" fill="hold"/>
                                        <p:tgtEl>
                                          <p:spTgt spid="21"/>
                                        </p:tgtEl>
                                        <p:attrNameLst>
                                          <p:attrName>ppt_y</p:attrName>
                                        </p:attrNameLst>
                                      </p:cBhvr>
                                      <p:tavLst>
                                        <p:tav tm="0">
                                          <p:val>
                                            <p:strVal val="#ppt_y"/>
                                          </p:val>
                                        </p:tav>
                                        <p:tav tm="100000">
                                          <p:val>
                                            <p:strVal val="#ppt_y"/>
                                          </p:val>
                                        </p:tav>
                                      </p:tavLst>
                                    </p:anim>
                                  </p:childTnLst>
                                </p:cTn>
                              </p:par>
                              <p:par>
                                <p:cTn id="77" presetID="10" presetClass="entr" presetSubtype="0" fill="hold" grpId="0" nodeType="with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fade">
                                      <p:cBhvr>
                                        <p:cTn id="79" dur="500"/>
                                        <p:tgtEl>
                                          <p:spTgt spid="22"/>
                                        </p:tgtEl>
                                      </p:cBhvr>
                                    </p:animEffect>
                                  </p:childTnLst>
                                </p:cTn>
                              </p:par>
                            </p:childTnLst>
                          </p:cTn>
                        </p:par>
                        <p:par>
                          <p:cTn id="80" fill="hold">
                            <p:stCondLst>
                              <p:cond delay="2500"/>
                            </p:stCondLst>
                            <p:childTnLst>
                              <p:par>
                                <p:cTn id="81" presetID="23" presetClass="entr" presetSubtype="16" fill="hold" nodeType="afterEffect">
                                  <p:stCondLst>
                                    <p:cond delay="0"/>
                                  </p:stCondLst>
                                  <p:childTnLst>
                                    <p:set>
                                      <p:cBhvr>
                                        <p:cTn id="82" dur="1" fill="hold">
                                          <p:stCondLst>
                                            <p:cond delay="0"/>
                                          </p:stCondLst>
                                        </p:cTn>
                                        <p:tgtEl>
                                          <p:spTgt spid="23"/>
                                        </p:tgtEl>
                                        <p:attrNameLst>
                                          <p:attrName>style.visibility</p:attrName>
                                        </p:attrNameLst>
                                      </p:cBhvr>
                                      <p:to>
                                        <p:strVal val="visible"/>
                                      </p:to>
                                    </p:set>
                                    <p:anim calcmode="lin" valueType="num">
                                      <p:cBhvr>
                                        <p:cTn id="83" dur="400" fill="hold"/>
                                        <p:tgtEl>
                                          <p:spTgt spid="23"/>
                                        </p:tgtEl>
                                        <p:attrNameLst>
                                          <p:attrName>ppt_w</p:attrName>
                                        </p:attrNameLst>
                                      </p:cBhvr>
                                      <p:tavLst>
                                        <p:tav tm="0">
                                          <p:val>
                                            <p:fltVal val="0"/>
                                          </p:val>
                                        </p:tav>
                                        <p:tav tm="100000">
                                          <p:val>
                                            <p:strVal val="#ppt_w"/>
                                          </p:val>
                                        </p:tav>
                                      </p:tavLst>
                                    </p:anim>
                                    <p:anim calcmode="lin" valueType="num">
                                      <p:cBhvr>
                                        <p:cTn id="84" dur="400" fill="hold"/>
                                        <p:tgtEl>
                                          <p:spTgt spid="23"/>
                                        </p:tgtEl>
                                        <p:attrNameLst>
                                          <p:attrName>ppt_h</p:attrName>
                                        </p:attrNameLst>
                                      </p:cBhvr>
                                      <p:tavLst>
                                        <p:tav tm="0">
                                          <p:val>
                                            <p:fltVal val="0"/>
                                          </p:val>
                                        </p:tav>
                                        <p:tav tm="100000">
                                          <p:val>
                                            <p:strVal val="#ppt_h"/>
                                          </p:val>
                                        </p:tav>
                                      </p:tavLst>
                                    </p:anim>
                                  </p:childTnLst>
                                </p:cTn>
                              </p:par>
                              <p:par>
                                <p:cTn id="85" presetID="23" presetClass="entr" presetSubtype="16" fill="hold" grpId="0" nodeType="withEffect">
                                  <p:stCondLst>
                                    <p:cond delay="0"/>
                                  </p:stCondLst>
                                  <p:childTnLst>
                                    <p:set>
                                      <p:cBhvr>
                                        <p:cTn id="86" dur="1" fill="hold">
                                          <p:stCondLst>
                                            <p:cond delay="0"/>
                                          </p:stCondLst>
                                        </p:cTn>
                                        <p:tgtEl>
                                          <p:spTgt spid="24"/>
                                        </p:tgtEl>
                                        <p:attrNameLst>
                                          <p:attrName>style.visibility</p:attrName>
                                        </p:attrNameLst>
                                      </p:cBhvr>
                                      <p:to>
                                        <p:strVal val="visible"/>
                                      </p:to>
                                    </p:set>
                                    <p:anim calcmode="lin" valueType="num">
                                      <p:cBhvr>
                                        <p:cTn id="87" dur="400" fill="hold"/>
                                        <p:tgtEl>
                                          <p:spTgt spid="24"/>
                                        </p:tgtEl>
                                        <p:attrNameLst>
                                          <p:attrName>ppt_w</p:attrName>
                                        </p:attrNameLst>
                                      </p:cBhvr>
                                      <p:tavLst>
                                        <p:tav tm="0">
                                          <p:val>
                                            <p:fltVal val="0"/>
                                          </p:val>
                                        </p:tav>
                                        <p:tav tm="100000">
                                          <p:val>
                                            <p:strVal val="#ppt_w"/>
                                          </p:val>
                                        </p:tav>
                                      </p:tavLst>
                                    </p:anim>
                                    <p:anim calcmode="lin" valueType="num">
                                      <p:cBhvr>
                                        <p:cTn id="88" dur="400" fill="hold"/>
                                        <p:tgtEl>
                                          <p:spTgt spid="24"/>
                                        </p:tgtEl>
                                        <p:attrNameLst>
                                          <p:attrName>ppt_h</p:attrName>
                                        </p:attrNameLst>
                                      </p:cBhvr>
                                      <p:tavLst>
                                        <p:tav tm="0">
                                          <p:val>
                                            <p:fltVal val="0"/>
                                          </p:val>
                                        </p:tav>
                                        <p:tav tm="100000">
                                          <p:val>
                                            <p:strVal val="#ppt_h"/>
                                          </p:val>
                                        </p:tav>
                                      </p:tavLst>
                                    </p:anim>
                                  </p:childTnLst>
                                </p:cTn>
                              </p:par>
                            </p:childTnLst>
                          </p:cTn>
                        </p:par>
                        <p:par>
                          <p:cTn id="89" fill="hold">
                            <p:stCondLst>
                              <p:cond delay="2900"/>
                            </p:stCondLst>
                            <p:childTnLst>
                              <p:par>
                                <p:cTn id="90" presetID="10" presetClass="entr" presetSubtype="0" fill="hold" grpId="0" nodeType="after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500"/>
                                        <p:tgtEl>
                                          <p:spTgt spid="25"/>
                                        </p:tgtEl>
                                      </p:cBhvr>
                                    </p:animEffect>
                                  </p:childTnLst>
                                </p:cTn>
                              </p:par>
                            </p:childTnLst>
                          </p:cTn>
                        </p:par>
                        <p:par>
                          <p:cTn id="93" fill="hold">
                            <p:stCondLst>
                              <p:cond delay="3400"/>
                            </p:stCondLst>
                            <p:childTnLst>
                              <p:par>
                                <p:cTn id="94" presetID="2" presetClass="entr" presetSubtype="4" fill="hold" grpId="0" nodeType="afterEffect">
                                  <p:stCondLst>
                                    <p:cond delay="0"/>
                                  </p:stCondLst>
                                  <p:childTnLst>
                                    <p:set>
                                      <p:cBhvr>
                                        <p:cTn id="95" dur="1" fill="hold">
                                          <p:stCondLst>
                                            <p:cond delay="0"/>
                                          </p:stCondLst>
                                        </p:cTn>
                                        <p:tgtEl>
                                          <p:spTgt spid="26"/>
                                        </p:tgtEl>
                                        <p:attrNameLst>
                                          <p:attrName>style.visibility</p:attrName>
                                        </p:attrNameLst>
                                      </p:cBhvr>
                                      <p:to>
                                        <p:strVal val="visible"/>
                                      </p:to>
                                    </p:set>
                                    <p:anim calcmode="lin" valueType="num">
                                      <p:cBhvr additive="base">
                                        <p:cTn id="96" dur="500" fill="hold"/>
                                        <p:tgtEl>
                                          <p:spTgt spid="26"/>
                                        </p:tgtEl>
                                        <p:attrNameLst>
                                          <p:attrName>ppt_x</p:attrName>
                                        </p:attrNameLst>
                                      </p:cBhvr>
                                      <p:tavLst>
                                        <p:tav tm="0">
                                          <p:val>
                                            <p:strVal val="#ppt_x"/>
                                          </p:val>
                                        </p:tav>
                                        <p:tav tm="100000">
                                          <p:val>
                                            <p:strVal val="#ppt_x"/>
                                          </p:val>
                                        </p:tav>
                                      </p:tavLst>
                                    </p:anim>
                                    <p:anim calcmode="lin" valueType="num">
                                      <p:cBhvr additive="base">
                                        <p:cTn id="97"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Graphic spid="6" grpId="0">
        <p:bldAsOne/>
      </p:bldGraphic>
      <p:bldP spid="7" grpId="0" animBg="1"/>
      <p:bldP spid="9" grpId="0" animBg="1"/>
      <p:bldP spid="11" grpId="0" animBg="1"/>
      <p:bldP spid="12" grpId="0" animBg="1"/>
      <p:bldP spid="14" grpId="0" animBg="1"/>
      <p:bldP spid="16" grpId="0" animBg="1"/>
      <p:bldP spid="18" grpId="0" animBg="1"/>
      <p:bldP spid="19" grpId="0" animBg="1"/>
      <p:bldP spid="21" grpId="0" animBg="1"/>
      <p:bldP spid="22" grpId="0" animBg="1"/>
      <p:bldP spid="24" grpId="0" animBg="1"/>
      <p:bldP spid="25" grpId="0" animBg="1"/>
      <p:bldP spid="2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757</Words>
  <Application>Microsoft Office PowerPoint</Application>
  <PresentationFormat>On-screen Show (16:9)</PresentationFormat>
  <Paragraphs>125</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VentureCouncil</dc:title>
  <dc:subject>PptxGenJS Presentation</dc:subject>
  <dc:creator>Niharika Singh, Shubham Singh, Rohit Swami, Akash Warde</dc:creator>
  <cp:lastModifiedBy>SINGH SHUBHAM</cp:lastModifiedBy>
  <cp:revision>2</cp:revision>
  <dcterms:created xsi:type="dcterms:W3CDTF">2026-10-03T06:00:19Z</dcterms:created>
  <dcterms:modified xsi:type="dcterms:W3CDTF">2026-10-03T06:00:22Z</dcterms:modified>
</cp:coreProperties>
</file>